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Calibri (MS) Bold" charset="1" panose="020F0702030404030204"/>
      <p:regular r:id="rId32"/>
    </p:embeddedFont>
    <p:embeddedFont>
      <p:font typeface="Calibri (MS) Italics" charset="1" panose="020F05020202040A0204"/>
      <p:regular r:id="rId33"/>
    </p:embeddedFont>
    <p:embeddedFont>
      <p:font typeface="Calibri (MS)" charset="1" panose="020F0502020204030204"/>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notesMasters/notesMaster1.xml" Type="http://schemas.openxmlformats.org/officeDocument/2006/relationships/notesMaster"/><Relationship Id="rId3" Target="viewProps.xml" Type="http://schemas.openxmlformats.org/officeDocument/2006/relationships/viewProps"/><Relationship Id="rId30" Target="theme/theme2.xml" Type="http://schemas.openxmlformats.org/officeDocument/2006/relationships/theme"/><Relationship Id="rId31" Target="notesSlides/notesSlide1.xml" Type="http://schemas.openxmlformats.org/officeDocument/2006/relationships/note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notesSlides/notesSlide6.xml" Type="http://schemas.openxmlformats.org/officeDocument/2006/relationships/notesSlide"/><Relationship Id="rId4" Target="theme/theme1.xml" Type="http://schemas.openxmlformats.org/officeDocument/2006/relationships/theme"/><Relationship Id="rId40" Target="notesSlides/notesSlide7.xml" Type="http://schemas.openxmlformats.org/officeDocument/2006/relationships/notesSlide"/><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notesSlides/notesSlide16.xml" Type="http://schemas.openxmlformats.org/officeDocument/2006/relationships/notesSlide"/><Relationship Id="rId5" Target="tableStyles.xml" Type="http://schemas.openxmlformats.org/officeDocument/2006/relationships/tableStyles"/><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53" Target="notesSlides/notesSlide20.xml" Type="http://schemas.openxmlformats.org/officeDocument/2006/relationships/notesSlide"/><Relationship Id="rId54" Target="notesSlides/notesSlide21.xml" Type="http://schemas.openxmlformats.org/officeDocument/2006/relationships/notesSlide"/><Relationship Id="rId55" Target="notesSlides/notesSlide22.xml" Type="http://schemas.openxmlformats.org/officeDocument/2006/relationships/notesSlide"/><Relationship Id="rId56" Target="notesSlides/notesSlide23.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jpeg" Type="http://schemas.openxmlformats.org/officeDocument/2006/relationships/image"/><Relationship Id="rId6" Target="../media/image4.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jpe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jpeg" Type="http://schemas.openxmlformats.org/officeDocument/2006/relationships/image"/><Relationship Id="rId4" Target="../media/image2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2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jpeg" Type="http://schemas.openxmlformats.org/officeDocument/2006/relationships/image"/><Relationship Id="rId4" Target="../media/image2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jpeg" Type="http://schemas.openxmlformats.org/officeDocument/2006/relationships/image"/><Relationship Id="rId4" Target="../media/image3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E2761"/>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418847" cy="10312403"/>
            <a:chOff x="0" y="0"/>
            <a:chExt cx="558462" cy="13749871"/>
          </a:xfrm>
        </p:grpSpPr>
        <p:sp>
          <p:nvSpPr>
            <p:cNvPr name="Freeform 3" id="3"/>
            <p:cNvSpPr/>
            <p:nvPr/>
          </p:nvSpPr>
          <p:spPr>
            <a:xfrm flipH="false" flipV="false" rot="0">
              <a:off x="28893" y="16891"/>
              <a:ext cx="500524" cy="13715999"/>
            </a:xfrm>
            <a:custGeom>
              <a:avLst/>
              <a:gdLst/>
              <a:ahLst/>
              <a:cxnLst/>
              <a:rect r="r" b="b" t="t" l="l"/>
              <a:pathLst>
                <a:path h="13715999" w="500524">
                  <a:moveTo>
                    <a:pt x="0" y="0"/>
                  </a:moveTo>
                  <a:lnTo>
                    <a:pt x="500524" y="0"/>
                  </a:lnTo>
                  <a:lnTo>
                    <a:pt x="500524" y="13715999"/>
                  </a:lnTo>
                  <a:lnTo>
                    <a:pt x="0" y="13715999"/>
                  </a:lnTo>
                  <a:close/>
                </a:path>
              </a:pathLst>
            </a:custGeom>
            <a:solidFill>
              <a:srgbClr val="F59E0B"/>
            </a:solidFill>
          </p:spPr>
        </p:sp>
        <p:sp>
          <p:nvSpPr>
            <p:cNvPr name="Freeform 4" id="4"/>
            <p:cNvSpPr/>
            <p:nvPr/>
          </p:nvSpPr>
          <p:spPr>
            <a:xfrm flipH="false" flipV="false" rot="0">
              <a:off x="0" y="0"/>
              <a:ext cx="558310" cy="13749782"/>
            </a:xfrm>
            <a:custGeom>
              <a:avLst/>
              <a:gdLst/>
              <a:ahLst/>
              <a:cxnLst/>
              <a:rect r="r" b="b" t="t" l="l"/>
              <a:pathLst>
                <a:path h="13749782" w="558310">
                  <a:moveTo>
                    <a:pt x="28893" y="0"/>
                  </a:moveTo>
                  <a:lnTo>
                    <a:pt x="529417" y="0"/>
                  </a:lnTo>
                  <a:cubicBezTo>
                    <a:pt x="545493" y="0"/>
                    <a:pt x="558310" y="7620"/>
                    <a:pt x="558310" y="16891"/>
                  </a:cubicBezTo>
                  <a:lnTo>
                    <a:pt x="558310" y="13732890"/>
                  </a:lnTo>
                  <a:cubicBezTo>
                    <a:pt x="558310" y="13742290"/>
                    <a:pt x="545276" y="13749782"/>
                    <a:pt x="529417" y="13749782"/>
                  </a:cubicBezTo>
                  <a:lnTo>
                    <a:pt x="28893" y="13749782"/>
                  </a:lnTo>
                  <a:cubicBezTo>
                    <a:pt x="12817" y="13749782"/>
                    <a:pt x="0" y="13742163"/>
                    <a:pt x="0" y="13732890"/>
                  </a:cubicBezTo>
                  <a:lnTo>
                    <a:pt x="0" y="16891"/>
                  </a:lnTo>
                  <a:cubicBezTo>
                    <a:pt x="0" y="7620"/>
                    <a:pt x="13034" y="0"/>
                    <a:pt x="28893" y="0"/>
                  </a:cubicBezTo>
                  <a:moveTo>
                    <a:pt x="28893" y="33909"/>
                  </a:moveTo>
                  <a:lnTo>
                    <a:pt x="28893" y="16891"/>
                  </a:lnTo>
                  <a:lnTo>
                    <a:pt x="58003" y="16891"/>
                  </a:lnTo>
                  <a:lnTo>
                    <a:pt x="58003" y="13732890"/>
                  </a:lnTo>
                  <a:lnTo>
                    <a:pt x="28893" y="13732890"/>
                  </a:lnTo>
                  <a:lnTo>
                    <a:pt x="28893" y="13716000"/>
                  </a:lnTo>
                  <a:lnTo>
                    <a:pt x="529417" y="13716000"/>
                  </a:lnTo>
                  <a:lnTo>
                    <a:pt x="529417" y="13732890"/>
                  </a:lnTo>
                  <a:lnTo>
                    <a:pt x="500524" y="13732890"/>
                  </a:lnTo>
                  <a:lnTo>
                    <a:pt x="500524" y="16891"/>
                  </a:lnTo>
                  <a:lnTo>
                    <a:pt x="529417" y="16891"/>
                  </a:lnTo>
                  <a:lnTo>
                    <a:pt x="529417" y="33909"/>
                  </a:lnTo>
                  <a:lnTo>
                    <a:pt x="28893" y="33909"/>
                  </a:lnTo>
                  <a:close/>
                </a:path>
              </a:pathLst>
            </a:custGeom>
            <a:solidFill>
              <a:srgbClr val="F59E0B"/>
            </a:solidFill>
          </p:spPr>
        </p:sp>
      </p:grpSp>
      <p:grpSp>
        <p:nvGrpSpPr>
          <p:cNvPr name="Group 5" id="5"/>
          <p:cNvGrpSpPr/>
          <p:nvPr/>
        </p:nvGrpSpPr>
        <p:grpSpPr>
          <a:xfrm rot="0">
            <a:off x="731520" y="2103120"/>
            <a:ext cx="10083803" cy="4572000"/>
            <a:chOff x="0" y="0"/>
            <a:chExt cx="13445071" cy="6096000"/>
          </a:xfrm>
        </p:grpSpPr>
        <p:sp>
          <p:nvSpPr>
            <p:cNvPr name="Freeform 6" id="6"/>
            <p:cNvSpPr/>
            <p:nvPr/>
          </p:nvSpPr>
          <p:spPr>
            <a:xfrm flipH="false" flipV="false" rot="0">
              <a:off x="0" y="0"/>
              <a:ext cx="13445071" cy="6096000"/>
            </a:xfrm>
            <a:custGeom>
              <a:avLst/>
              <a:gdLst/>
              <a:ahLst/>
              <a:cxnLst/>
              <a:rect r="r" b="b" t="t" l="l"/>
              <a:pathLst>
                <a:path h="6096000" w="13445071">
                  <a:moveTo>
                    <a:pt x="0" y="0"/>
                  </a:moveTo>
                  <a:lnTo>
                    <a:pt x="13445071" y="0"/>
                  </a:lnTo>
                  <a:lnTo>
                    <a:pt x="13445071" y="6096000"/>
                  </a:lnTo>
                  <a:lnTo>
                    <a:pt x="0" y="6096000"/>
                  </a:lnTo>
                  <a:close/>
                </a:path>
              </a:pathLst>
            </a:custGeom>
            <a:blipFill>
              <a:blip r:embed="rId3">
                <a:alphaModFix amt="0"/>
              </a:blip>
              <a:stretch>
                <a:fillRect l="0" t="-16249" r="-54156" b="-16249"/>
              </a:stretch>
            </a:blipFill>
          </p:spPr>
        </p:sp>
        <p:sp>
          <p:nvSpPr>
            <p:cNvPr name="TextBox 7" id="7"/>
            <p:cNvSpPr txBox="true"/>
            <p:nvPr/>
          </p:nvSpPr>
          <p:spPr>
            <a:xfrm>
              <a:off x="0" y="-295275"/>
              <a:ext cx="13445071" cy="6391275"/>
            </a:xfrm>
            <a:prstGeom prst="rect">
              <a:avLst/>
            </a:prstGeom>
          </p:spPr>
          <p:txBody>
            <a:bodyPr anchor="ctr" rtlCol="false" tIns="0" lIns="0" bIns="0" rIns="0"/>
            <a:lstStyle/>
            <a:p>
              <a:pPr algn="l">
                <a:lnSpc>
                  <a:spcPts val="11040"/>
                </a:lnSpc>
              </a:pPr>
              <a:r>
                <a:rPr lang="en-US" sz="8000" b="true">
                  <a:solidFill>
                    <a:srgbClr val="FFFFFF"/>
                  </a:solidFill>
                  <a:latin typeface="Calibri (MS) Bold"/>
                  <a:ea typeface="Calibri (MS) Bold"/>
                  <a:cs typeface="Calibri (MS) Bold"/>
                  <a:sym typeface="Calibri (MS) Bold"/>
                </a:rPr>
                <a:t>Time Series Analysis</a:t>
              </a:r>
            </a:p>
            <a:p>
              <a:pPr algn="l">
                <a:lnSpc>
                  <a:spcPts val="11040"/>
                </a:lnSpc>
              </a:pPr>
              <a:r>
                <a:rPr lang="en-US" sz="8000" b="true">
                  <a:solidFill>
                    <a:srgbClr val="FFFFFF"/>
                  </a:solidFill>
                  <a:latin typeface="Calibri (MS) Bold"/>
                  <a:ea typeface="Calibri (MS) Bold"/>
                  <a:cs typeface="Calibri (MS) Bold"/>
                  <a:sym typeface="Calibri (MS) Bold"/>
                </a:rPr>
                <a:t>of Microsoft (MSFT)</a:t>
              </a:r>
            </a:p>
            <a:p>
              <a:pPr algn="l">
                <a:lnSpc>
                  <a:spcPts val="11040"/>
                </a:lnSpc>
              </a:pPr>
              <a:r>
                <a:rPr lang="en-US" sz="8000" b="true">
                  <a:solidFill>
                    <a:srgbClr val="FFFFFF"/>
                  </a:solidFill>
                  <a:latin typeface="Calibri (MS) Bold"/>
                  <a:ea typeface="Calibri (MS) Bold"/>
                  <a:cs typeface="Calibri (MS) Bold"/>
                  <a:sym typeface="Calibri (MS) Bold"/>
                </a:rPr>
                <a:t>Stock Prices</a:t>
              </a:r>
            </a:p>
          </p:txBody>
        </p:sp>
      </p:grpSp>
      <p:grpSp>
        <p:nvGrpSpPr>
          <p:cNvPr name="Group 8" id="8"/>
          <p:cNvGrpSpPr/>
          <p:nvPr/>
        </p:nvGrpSpPr>
        <p:grpSpPr>
          <a:xfrm rot="0">
            <a:off x="737873" y="6968149"/>
            <a:ext cx="10599413" cy="731520"/>
            <a:chOff x="0" y="0"/>
            <a:chExt cx="14132550" cy="975360"/>
          </a:xfrm>
        </p:grpSpPr>
        <p:sp>
          <p:nvSpPr>
            <p:cNvPr name="Freeform 9" id="9"/>
            <p:cNvSpPr/>
            <p:nvPr/>
          </p:nvSpPr>
          <p:spPr>
            <a:xfrm flipH="false" flipV="false" rot="0">
              <a:off x="0" y="0"/>
              <a:ext cx="14132550" cy="975360"/>
            </a:xfrm>
            <a:custGeom>
              <a:avLst/>
              <a:gdLst/>
              <a:ahLst/>
              <a:cxnLst/>
              <a:rect r="r" b="b" t="t" l="l"/>
              <a:pathLst>
                <a:path h="975360" w="14132550">
                  <a:moveTo>
                    <a:pt x="0" y="0"/>
                  </a:moveTo>
                  <a:lnTo>
                    <a:pt x="14132550" y="0"/>
                  </a:lnTo>
                  <a:lnTo>
                    <a:pt x="14132550" y="975360"/>
                  </a:lnTo>
                  <a:lnTo>
                    <a:pt x="0" y="975360"/>
                  </a:lnTo>
                  <a:close/>
                </a:path>
              </a:pathLst>
            </a:custGeom>
            <a:blipFill>
              <a:blip r:embed="rId3">
                <a:alphaModFix amt="0"/>
              </a:blip>
              <a:stretch>
                <a:fillRect l="0" t="-388413" r="-55284" b="-388413"/>
              </a:stretch>
            </a:blipFill>
          </p:spPr>
        </p:sp>
        <p:sp>
          <p:nvSpPr>
            <p:cNvPr name="TextBox 10" id="10"/>
            <p:cNvSpPr txBox="true"/>
            <p:nvPr/>
          </p:nvSpPr>
          <p:spPr>
            <a:xfrm>
              <a:off x="0" y="-57150"/>
              <a:ext cx="14132550" cy="1032510"/>
            </a:xfrm>
            <a:prstGeom prst="rect">
              <a:avLst/>
            </a:prstGeom>
          </p:spPr>
          <p:txBody>
            <a:bodyPr anchor="ctr" rtlCol="false" tIns="0" lIns="0" bIns="0" rIns="0"/>
            <a:lstStyle/>
            <a:p>
              <a:pPr algn="l">
                <a:lnSpc>
                  <a:spcPts val="3599"/>
                </a:lnSpc>
              </a:pPr>
              <a:r>
                <a:rPr lang="en-US" sz="2999" i="true">
                  <a:solidFill>
                    <a:srgbClr val="EFF6FF"/>
                  </a:solidFill>
                  <a:latin typeface="Calibri (MS) Italics"/>
                  <a:ea typeface="Calibri (MS) Italics"/>
                  <a:cs typeface="Calibri (MS) Italics"/>
                  <a:sym typeface="Calibri (MS) Italics"/>
                </a:rPr>
                <a:t>Univariate ARIMA  ·  Multivariate VECM  ·  ARCH / GARCH Volatility</a:t>
              </a:r>
            </a:p>
          </p:txBody>
        </p:sp>
      </p:grpSp>
      <p:grpSp>
        <p:nvGrpSpPr>
          <p:cNvPr name="Group 11" id="11"/>
          <p:cNvGrpSpPr/>
          <p:nvPr/>
        </p:nvGrpSpPr>
        <p:grpSpPr>
          <a:xfrm rot="0">
            <a:off x="718823" y="6626673"/>
            <a:ext cx="10618463" cy="40070"/>
            <a:chOff x="0" y="0"/>
            <a:chExt cx="13462000" cy="50800"/>
          </a:xfrm>
        </p:grpSpPr>
        <p:sp>
          <p:nvSpPr>
            <p:cNvPr name="Freeform 12" id="12"/>
            <p:cNvSpPr/>
            <p:nvPr/>
          </p:nvSpPr>
          <p:spPr>
            <a:xfrm flipH="false" flipV="false" rot="0">
              <a:off x="25400" y="0"/>
              <a:ext cx="13411200" cy="50800"/>
            </a:xfrm>
            <a:custGeom>
              <a:avLst/>
              <a:gdLst/>
              <a:ahLst/>
              <a:cxnLst/>
              <a:rect r="r" b="b" t="t" l="l"/>
              <a:pathLst>
                <a:path h="50800" w="13411200">
                  <a:moveTo>
                    <a:pt x="0" y="0"/>
                  </a:moveTo>
                  <a:lnTo>
                    <a:pt x="13411200" y="0"/>
                  </a:lnTo>
                  <a:lnTo>
                    <a:pt x="13411200" y="50800"/>
                  </a:lnTo>
                  <a:lnTo>
                    <a:pt x="0" y="50800"/>
                  </a:lnTo>
                  <a:close/>
                </a:path>
              </a:pathLst>
            </a:custGeom>
            <a:solidFill>
              <a:srgbClr val="F59E0B"/>
            </a:solidFill>
          </p:spPr>
        </p:sp>
      </p:grpSp>
      <p:grpSp>
        <p:nvGrpSpPr>
          <p:cNvPr name="Group 13" id="13"/>
          <p:cNvGrpSpPr/>
          <p:nvPr/>
        </p:nvGrpSpPr>
        <p:grpSpPr>
          <a:xfrm rot="0">
            <a:off x="13154663" y="168150"/>
            <a:ext cx="4597403" cy="3145772"/>
            <a:chOff x="0" y="0"/>
            <a:chExt cx="6129871" cy="4194362"/>
          </a:xfrm>
        </p:grpSpPr>
        <p:sp>
          <p:nvSpPr>
            <p:cNvPr name="Freeform 14" id="14"/>
            <p:cNvSpPr/>
            <p:nvPr/>
          </p:nvSpPr>
          <p:spPr>
            <a:xfrm flipH="false" flipV="false" rot="0">
              <a:off x="16891" y="33632"/>
              <a:ext cx="6096000" cy="4126920"/>
            </a:xfrm>
            <a:custGeom>
              <a:avLst/>
              <a:gdLst/>
              <a:ahLst/>
              <a:cxnLst/>
              <a:rect r="r" b="b" t="t" l="l"/>
              <a:pathLst>
                <a:path h="4126920" w="6096000">
                  <a:moveTo>
                    <a:pt x="0" y="0"/>
                  </a:moveTo>
                  <a:lnTo>
                    <a:pt x="6096000" y="0"/>
                  </a:lnTo>
                  <a:lnTo>
                    <a:pt x="6096000" y="4126921"/>
                  </a:lnTo>
                  <a:lnTo>
                    <a:pt x="0" y="4126921"/>
                  </a:lnTo>
                  <a:close/>
                </a:path>
              </a:pathLst>
            </a:custGeom>
            <a:solidFill>
              <a:srgbClr val="243080"/>
            </a:solidFill>
          </p:spPr>
        </p:sp>
        <p:sp>
          <p:nvSpPr>
            <p:cNvPr name="Freeform 15" id="15"/>
            <p:cNvSpPr/>
            <p:nvPr/>
          </p:nvSpPr>
          <p:spPr>
            <a:xfrm flipH="false" flipV="false" rot="0">
              <a:off x="0" y="0"/>
              <a:ext cx="6129782" cy="4194185"/>
            </a:xfrm>
            <a:custGeom>
              <a:avLst/>
              <a:gdLst/>
              <a:ahLst/>
              <a:cxnLst/>
              <a:rect r="r" b="b" t="t" l="l"/>
              <a:pathLst>
                <a:path h="4194185" w="6129782">
                  <a:moveTo>
                    <a:pt x="16891" y="0"/>
                  </a:moveTo>
                  <a:lnTo>
                    <a:pt x="6112891" y="0"/>
                  </a:lnTo>
                  <a:cubicBezTo>
                    <a:pt x="6122289" y="0"/>
                    <a:pt x="6129782" y="15173"/>
                    <a:pt x="6129782" y="33632"/>
                  </a:cubicBezTo>
                  <a:lnTo>
                    <a:pt x="6129782" y="4160553"/>
                  </a:lnTo>
                  <a:cubicBezTo>
                    <a:pt x="6129782" y="4179265"/>
                    <a:pt x="6122162" y="4194185"/>
                    <a:pt x="6112891" y="4194185"/>
                  </a:cubicBezTo>
                  <a:lnTo>
                    <a:pt x="16891" y="4194185"/>
                  </a:lnTo>
                  <a:cubicBezTo>
                    <a:pt x="7493" y="4194185"/>
                    <a:pt x="0" y="4179012"/>
                    <a:pt x="0" y="4160553"/>
                  </a:cubicBezTo>
                  <a:lnTo>
                    <a:pt x="0" y="33632"/>
                  </a:lnTo>
                  <a:cubicBezTo>
                    <a:pt x="0" y="15173"/>
                    <a:pt x="7620" y="0"/>
                    <a:pt x="16891" y="0"/>
                  </a:cubicBezTo>
                  <a:moveTo>
                    <a:pt x="16891" y="67518"/>
                  </a:moveTo>
                  <a:lnTo>
                    <a:pt x="16891" y="33632"/>
                  </a:lnTo>
                  <a:lnTo>
                    <a:pt x="33909" y="33632"/>
                  </a:lnTo>
                  <a:lnTo>
                    <a:pt x="33909" y="4160553"/>
                  </a:lnTo>
                  <a:lnTo>
                    <a:pt x="16891" y="4160553"/>
                  </a:lnTo>
                  <a:lnTo>
                    <a:pt x="16891" y="4126920"/>
                  </a:lnTo>
                  <a:lnTo>
                    <a:pt x="6112891" y="4126920"/>
                  </a:lnTo>
                  <a:lnTo>
                    <a:pt x="6112891" y="4160553"/>
                  </a:lnTo>
                  <a:lnTo>
                    <a:pt x="6096000" y="4160553"/>
                  </a:lnTo>
                  <a:lnTo>
                    <a:pt x="6096000" y="33632"/>
                  </a:lnTo>
                  <a:lnTo>
                    <a:pt x="6112891" y="33632"/>
                  </a:lnTo>
                  <a:lnTo>
                    <a:pt x="6112891" y="67518"/>
                  </a:lnTo>
                  <a:lnTo>
                    <a:pt x="16891" y="67518"/>
                  </a:lnTo>
                  <a:close/>
                </a:path>
              </a:pathLst>
            </a:custGeom>
            <a:solidFill>
              <a:srgbClr val="3A4FA0"/>
            </a:solidFill>
          </p:spPr>
        </p:sp>
      </p:grpSp>
      <p:grpSp>
        <p:nvGrpSpPr>
          <p:cNvPr name="Group 16" id="16"/>
          <p:cNvGrpSpPr/>
          <p:nvPr/>
        </p:nvGrpSpPr>
        <p:grpSpPr>
          <a:xfrm rot="0">
            <a:off x="13306902" y="353012"/>
            <a:ext cx="4292925" cy="2776048"/>
            <a:chOff x="0" y="0"/>
            <a:chExt cx="5723900" cy="3701397"/>
          </a:xfrm>
        </p:grpSpPr>
        <p:sp>
          <p:nvSpPr>
            <p:cNvPr name="Freeform 17" id="17"/>
            <p:cNvSpPr/>
            <p:nvPr/>
          </p:nvSpPr>
          <p:spPr>
            <a:xfrm flipH="false" flipV="false" rot="0">
              <a:off x="15772" y="29680"/>
              <a:ext cx="5692272" cy="3641882"/>
            </a:xfrm>
            <a:custGeom>
              <a:avLst/>
              <a:gdLst/>
              <a:ahLst/>
              <a:cxnLst/>
              <a:rect r="r" b="b" t="t" l="l"/>
              <a:pathLst>
                <a:path h="3641882" w="5692272">
                  <a:moveTo>
                    <a:pt x="0" y="0"/>
                  </a:moveTo>
                  <a:lnTo>
                    <a:pt x="5692272" y="0"/>
                  </a:lnTo>
                  <a:lnTo>
                    <a:pt x="5692272" y="3641882"/>
                  </a:lnTo>
                  <a:lnTo>
                    <a:pt x="0" y="3641882"/>
                  </a:lnTo>
                  <a:close/>
                </a:path>
              </a:pathLst>
            </a:custGeom>
            <a:blipFill>
              <a:blip r:embed="rId4"/>
              <a:stretch>
                <a:fillRect l="0" t="-2005" r="0" b="-2005"/>
              </a:stretch>
            </a:blipFill>
          </p:spPr>
        </p:sp>
        <p:sp>
          <p:nvSpPr>
            <p:cNvPr name="Freeform 18" id="18"/>
            <p:cNvSpPr/>
            <p:nvPr/>
          </p:nvSpPr>
          <p:spPr>
            <a:xfrm flipH="false" flipV="false" rot="0">
              <a:off x="0" y="0"/>
              <a:ext cx="5723817" cy="3701241"/>
            </a:xfrm>
            <a:custGeom>
              <a:avLst/>
              <a:gdLst/>
              <a:ahLst/>
              <a:cxnLst/>
              <a:rect r="r" b="b" t="t" l="l"/>
              <a:pathLst>
                <a:path h="3701241" w="5723817">
                  <a:moveTo>
                    <a:pt x="15772" y="0"/>
                  </a:moveTo>
                  <a:lnTo>
                    <a:pt x="5708044" y="0"/>
                  </a:lnTo>
                  <a:cubicBezTo>
                    <a:pt x="5716820" y="0"/>
                    <a:pt x="5723817" y="13389"/>
                    <a:pt x="5723817" y="29680"/>
                  </a:cubicBezTo>
                  <a:lnTo>
                    <a:pt x="5723817" y="3671562"/>
                  </a:lnTo>
                  <a:cubicBezTo>
                    <a:pt x="5723817" y="3688075"/>
                    <a:pt x="5716701" y="3701241"/>
                    <a:pt x="5708044" y="3701241"/>
                  </a:cubicBezTo>
                  <a:lnTo>
                    <a:pt x="15772" y="3701241"/>
                  </a:lnTo>
                  <a:cubicBezTo>
                    <a:pt x="6997" y="3701241"/>
                    <a:pt x="0" y="3687852"/>
                    <a:pt x="0" y="3671562"/>
                  </a:cubicBezTo>
                  <a:lnTo>
                    <a:pt x="0" y="29680"/>
                  </a:lnTo>
                  <a:cubicBezTo>
                    <a:pt x="0" y="13389"/>
                    <a:pt x="7115" y="0"/>
                    <a:pt x="15772" y="0"/>
                  </a:cubicBezTo>
                  <a:moveTo>
                    <a:pt x="15772" y="59582"/>
                  </a:moveTo>
                  <a:lnTo>
                    <a:pt x="15772" y="29680"/>
                  </a:lnTo>
                  <a:lnTo>
                    <a:pt x="31663" y="29680"/>
                  </a:lnTo>
                  <a:lnTo>
                    <a:pt x="31663" y="3671562"/>
                  </a:lnTo>
                  <a:lnTo>
                    <a:pt x="15772" y="3671562"/>
                  </a:lnTo>
                  <a:lnTo>
                    <a:pt x="15772" y="3641882"/>
                  </a:lnTo>
                  <a:lnTo>
                    <a:pt x="5708044" y="3641882"/>
                  </a:lnTo>
                  <a:lnTo>
                    <a:pt x="5708044" y="3671562"/>
                  </a:lnTo>
                  <a:lnTo>
                    <a:pt x="5692272" y="3671562"/>
                  </a:lnTo>
                  <a:lnTo>
                    <a:pt x="5692272" y="29680"/>
                  </a:lnTo>
                  <a:lnTo>
                    <a:pt x="5708044" y="29680"/>
                  </a:lnTo>
                  <a:lnTo>
                    <a:pt x="5708044" y="59582"/>
                  </a:lnTo>
                  <a:lnTo>
                    <a:pt x="15772" y="59582"/>
                  </a:lnTo>
                  <a:close/>
                </a:path>
              </a:pathLst>
            </a:custGeom>
            <a:solidFill>
              <a:srgbClr val="3A4FA0"/>
            </a:solidFill>
          </p:spPr>
        </p:sp>
      </p:grpSp>
      <p:grpSp>
        <p:nvGrpSpPr>
          <p:cNvPr name="Group 19" id="19"/>
          <p:cNvGrpSpPr/>
          <p:nvPr/>
        </p:nvGrpSpPr>
        <p:grpSpPr>
          <a:xfrm rot="0">
            <a:off x="13154663" y="3551805"/>
            <a:ext cx="4597403" cy="3165471"/>
            <a:chOff x="0" y="0"/>
            <a:chExt cx="6129871" cy="4220627"/>
          </a:xfrm>
        </p:grpSpPr>
        <p:sp>
          <p:nvSpPr>
            <p:cNvPr name="Freeform 20" id="20"/>
            <p:cNvSpPr/>
            <p:nvPr/>
          </p:nvSpPr>
          <p:spPr>
            <a:xfrm flipH="false" flipV="false" rot="0">
              <a:off x="16891" y="33843"/>
              <a:ext cx="6096000" cy="4152763"/>
            </a:xfrm>
            <a:custGeom>
              <a:avLst/>
              <a:gdLst/>
              <a:ahLst/>
              <a:cxnLst/>
              <a:rect r="r" b="b" t="t" l="l"/>
              <a:pathLst>
                <a:path h="4152763" w="6096000">
                  <a:moveTo>
                    <a:pt x="0" y="0"/>
                  </a:moveTo>
                  <a:lnTo>
                    <a:pt x="6096000" y="0"/>
                  </a:lnTo>
                  <a:lnTo>
                    <a:pt x="6096000" y="4152763"/>
                  </a:lnTo>
                  <a:lnTo>
                    <a:pt x="0" y="4152763"/>
                  </a:lnTo>
                  <a:close/>
                </a:path>
              </a:pathLst>
            </a:custGeom>
            <a:solidFill>
              <a:srgbClr val="243080"/>
            </a:solidFill>
          </p:spPr>
        </p:sp>
        <p:sp>
          <p:nvSpPr>
            <p:cNvPr name="Freeform 21" id="21"/>
            <p:cNvSpPr/>
            <p:nvPr/>
          </p:nvSpPr>
          <p:spPr>
            <a:xfrm flipH="false" flipV="false" rot="0">
              <a:off x="0" y="0"/>
              <a:ext cx="6129782" cy="4220449"/>
            </a:xfrm>
            <a:custGeom>
              <a:avLst/>
              <a:gdLst/>
              <a:ahLst/>
              <a:cxnLst/>
              <a:rect r="r" b="b" t="t" l="l"/>
              <a:pathLst>
                <a:path h="4220449" w="6129782">
                  <a:moveTo>
                    <a:pt x="16891" y="0"/>
                  </a:moveTo>
                  <a:lnTo>
                    <a:pt x="6112891" y="0"/>
                  </a:lnTo>
                  <a:cubicBezTo>
                    <a:pt x="6122289" y="0"/>
                    <a:pt x="6129782" y="15268"/>
                    <a:pt x="6129782" y="33843"/>
                  </a:cubicBezTo>
                  <a:lnTo>
                    <a:pt x="6129782" y="4186606"/>
                  </a:lnTo>
                  <a:cubicBezTo>
                    <a:pt x="6129782" y="4205436"/>
                    <a:pt x="6122162" y="4220449"/>
                    <a:pt x="6112891" y="4220449"/>
                  </a:cubicBezTo>
                  <a:lnTo>
                    <a:pt x="16891" y="4220449"/>
                  </a:lnTo>
                  <a:cubicBezTo>
                    <a:pt x="7493" y="4220449"/>
                    <a:pt x="0" y="4205182"/>
                    <a:pt x="0" y="4186606"/>
                  </a:cubicBezTo>
                  <a:lnTo>
                    <a:pt x="0" y="33843"/>
                  </a:lnTo>
                  <a:cubicBezTo>
                    <a:pt x="0" y="15268"/>
                    <a:pt x="7620" y="0"/>
                    <a:pt x="16891" y="0"/>
                  </a:cubicBezTo>
                  <a:moveTo>
                    <a:pt x="16891" y="67940"/>
                  </a:moveTo>
                  <a:lnTo>
                    <a:pt x="16891" y="33843"/>
                  </a:lnTo>
                  <a:lnTo>
                    <a:pt x="33909" y="33843"/>
                  </a:lnTo>
                  <a:lnTo>
                    <a:pt x="33909" y="4186606"/>
                  </a:lnTo>
                  <a:lnTo>
                    <a:pt x="16891" y="4186606"/>
                  </a:lnTo>
                  <a:lnTo>
                    <a:pt x="16891" y="4152763"/>
                  </a:lnTo>
                  <a:lnTo>
                    <a:pt x="6112891" y="4152763"/>
                  </a:lnTo>
                  <a:lnTo>
                    <a:pt x="6112891" y="4186606"/>
                  </a:lnTo>
                  <a:lnTo>
                    <a:pt x="6096000" y="4186606"/>
                  </a:lnTo>
                  <a:lnTo>
                    <a:pt x="6096000" y="33843"/>
                  </a:lnTo>
                  <a:lnTo>
                    <a:pt x="6112891" y="33843"/>
                  </a:lnTo>
                  <a:lnTo>
                    <a:pt x="6112891" y="67940"/>
                  </a:lnTo>
                  <a:lnTo>
                    <a:pt x="16891" y="67940"/>
                  </a:lnTo>
                  <a:close/>
                </a:path>
              </a:pathLst>
            </a:custGeom>
            <a:solidFill>
              <a:srgbClr val="3A4FA0"/>
            </a:solidFill>
          </p:spPr>
        </p:sp>
      </p:grpSp>
      <p:grpSp>
        <p:nvGrpSpPr>
          <p:cNvPr name="Group 22" id="22"/>
          <p:cNvGrpSpPr/>
          <p:nvPr/>
        </p:nvGrpSpPr>
        <p:grpSpPr>
          <a:xfrm rot="0">
            <a:off x="13306902" y="3737825"/>
            <a:ext cx="4292925" cy="2793432"/>
            <a:chOff x="0" y="0"/>
            <a:chExt cx="5723900" cy="3724576"/>
          </a:xfrm>
        </p:grpSpPr>
        <p:sp>
          <p:nvSpPr>
            <p:cNvPr name="Freeform 23" id="23"/>
            <p:cNvSpPr/>
            <p:nvPr/>
          </p:nvSpPr>
          <p:spPr>
            <a:xfrm flipH="false" flipV="false" rot="0">
              <a:off x="15772" y="29865"/>
              <a:ext cx="5692272" cy="3664687"/>
            </a:xfrm>
            <a:custGeom>
              <a:avLst/>
              <a:gdLst/>
              <a:ahLst/>
              <a:cxnLst/>
              <a:rect r="r" b="b" t="t" l="l"/>
              <a:pathLst>
                <a:path h="3664687" w="5692272">
                  <a:moveTo>
                    <a:pt x="0" y="0"/>
                  </a:moveTo>
                  <a:lnTo>
                    <a:pt x="5692272" y="0"/>
                  </a:lnTo>
                  <a:lnTo>
                    <a:pt x="5692272" y="3664688"/>
                  </a:lnTo>
                  <a:lnTo>
                    <a:pt x="0" y="3664688"/>
                  </a:lnTo>
                  <a:close/>
                </a:path>
              </a:pathLst>
            </a:custGeom>
            <a:blipFill>
              <a:blip r:embed="rId5"/>
              <a:stretch>
                <a:fillRect l="-7296" t="0" r="-7296" b="0"/>
              </a:stretch>
            </a:blipFill>
          </p:spPr>
        </p:sp>
        <p:sp>
          <p:nvSpPr>
            <p:cNvPr name="Freeform 24" id="24"/>
            <p:cNvSpPr/>
            <p:nvPr/>
          </p:nvSpPr>
          <p:spPr>
            <a:xfrm flipH="false" flipV="false" rot="0">
              <a:off x="0" y="0"/>
              <a:ext cx="5723817" cy="3724418"/>
            </a:xfrm>
            <a:custGeom>
              <a:avLst/>
              <a:gdLst/>
              <a:ahLst/>
              <a:cxnLst/>
              <a:rect r="r" b="b" t="t" l="l"/>
              <a:pathLst>
                <a:path h="3724418" w="5723817">
                  <a:moveTo>
                    <a:pt x="15772" y="0"/>
                  </a:moveTo>
                  <a:lnTo>
                    <a:pt x="5708044" y="0"/>
                  </a:lnTo>
                  <a:cubicBezTo>
                    <a:pt x="5716820" y="0"/>
                    <a:pt x="5723817" y="13473"/>
                    <a:pt x="5723817" y="29865"/>
                  </a:cubicBezTo>
                  <a:lnTo>
                    <a:pt x="5723817" y="3694553"/>
                  </a:lnTo>
                  <a:cubicBezTo>
                    <a:pt x="5723817" y="3711170"/>
                    <a:pt x="5716701" y="3724418"/>
                    <a:pt x="5708044" y="3724418"/>
                  </a:cubicBezTo>
                  <a:lnTo>
                    <a:pt x="15772" y="3724418"/>
                  </a:lnTo>
                  <a:cubicBezTo>
                    <a:pt x="6997" y="3724418"/>
                    <a:pt x="0" y="3710945"/>
                    <a:pt x="0" y="3694553"/>
                  </a:cubicBezTo>
                  <a:lnTo>
                    <a:pt x="0" y="29865"/>
                  </a:lnTo>
                  <a:cubicBezTo>
                    <a:pt x="0" y="13473"/>
                    <a:pt x="7115" y="0"/>
                    <a:pt x="15772" y="0"/>
                  </a:cubicBezTo>
                  <a:moveTo>
                    <a:pt x="15772" y="59955"/>
                  </a:moveTo>
                  <a:lnTo>
                    <a:pt x="15772" y="29865"/>
                  </a:lnTo>
                  <a:lnTo>
                    <a:pt x="31663" y="29865"/>
                  </a:lnTo>
                  <a:lnTo>
                    <a:pt x="31663" y="3694553"/>
                  </a:lnTo>
                  <a:lnTo>
                    <a:pt x="15772" y="3694553"/>
                  </a:lnTo>
                  <a:lnTo>
                    <a:pt x="15772" y="3664688"/>
                  </a:lnTo>
                  <a:lnTo>
                    <a:pt x="5708044" y="3664688"/>
                  </a:lnTo>
                  <a:lnTo>
                    <a:pt x="5708044" y="3694553"/>
                  </a:lnTo>
                  <a:lnTo>
                    <a:pt x="5692272" y="3694553"/>
                  </a:lnTo>
                  <a:lnTo>
                    <a:pt x="5692272" y="29865"/>
                  </a:lnTo>
                  <a:lnTo>
                    <a:pt x="5708044" y="29865"/>
                  </a:lnTo>
                  <a:lnTo>
                    <a:pt x="5708044" y="59955"/>
                  </a:lnTo>
                  <a:lnTo>
                    <a:pt x="15772" y="59955"/>
                  </a:lnTo>
                  <a:close/>
                </a:path>
              </a:pathLst>
            </a:custGeom>
            <a:solidFill>
              <a:srgbClr val="3A4FA0"/>
            </a:solidFill>
          </p:spPr>
        </p:sp>
      </p:grpSp>
      <p:grpSp>
        <p:nvGrpSpPr>
          <p:cNvPr name="Group 25" id="25"/>
          <p:cNvGrpSpPr/>
          <p:nvPr/>
        </p:nvGrpSpPr>
        <p:grpSpPr>
          <a:xfrm rot="0">
            <a:off x="13154663" y="6955160"/>
            <a:ext cx="4597403" cy="3165471"/>
            <a:chOff x="0" y="0"/>
            <a:chExt cx="6129871" cy="4220627"/>
          </a:xfrm>
        </p:grpSpPr>
        <p:sp>
          <p:nvSpPr>
            <p:cNvPr name="Freeform 26" id="26"/>
            <p:cNvSpPr/>
            <p:nvPr/>
          </p:nvSpPr>
          <p:spPr>
            <a:xfrm flipH="false" flipV="false" rot="0">
              <a:off x="16891" y="33843"/>
              <a:ext cx="6096000" cy="4152763"/>
            </a:xfrm>
            <a:custGeom>
              <a:avLst/>
              <a:gdLst/>
              <a:ahLst/>
              <a:cxnLst/>
              <a:rect r="r" b="b" t="t" l="l"/>
              <a:pathLst>
                <a:path h="4152763" w="6096000">
                  <a:moveTo>
                    <a:pt x="0" y="0"/>
                  </a:moveTo>
                  <a:lnTo>
                    <a:pt x="6096000" y="0"/>
                  </a:lnTo>
                  <a:lnTo>
                    <a:pt x="6096000" y="4152763"/>
                  </a:lnTo>
                  <a:lnTo>
                    <a:pt x="0" y="4152763"/>
                  </a:lnTo>
                  <a:close/>
                </a:path>
              </a:pathLst>
            </a:custGeom>
            <a:solidFill>
              <a:srgbClr val="243080"/>
            </a:solidFill>
          </p:spPr>
        </p:sp>
        <p:sp>
          <p:nvSpPr>
            <p:cNvPr name="Freeform 27" id="27"/>
            <p:cNvSpPr/>
            <p:nvPr/>
          </p:nvSpPr>
          <p:spPr>
            <a:xfrm flipH="false" flipV="false" rot="0">
              <a:off x="0" y="0"/>
              <a:ext cx="6129782" cy="4220449"/>
            </a:xfrm>
            <a:custGeom>
              <a:avLst/>
              <a:gdLst/>
              <a:ahLst/>
              <a:cxnLst/>
              <a:rect r="r" b="b" t="t" l="l"/>
              <a:pathLst>
                <a:path h="4220449" w="6129782">
                  <a:moveTo>
                    <a:pt x="16891" y="0"/>
                  </a:moveTo>
                  <a:lnTo>
                    <a:pt x="6112891" y="0"/>
                  </a:lnTo>
                  <a:cubicBezTo>
                    <a:pt x="6122289" y="0"/>
                    <a:pt x="6129782" y="15268"/>
                    <a:pt x="6129782" y="33843"/>
                  </a:cubicBezTo>
                  <a:lnTo>
                    <a:pt x="6129782" y="4186606"/>
                  </a:lnTo>
                  <a:cubicBezTo>
                    <a:pt x="6129782" y="4205436"/>
                    <a:pt x="6122162" y="4220449"/>
                    <a:pt x="6112891" y="4220449"/>
                  </a:cubicBezTo>
                  <a:lnTo>
                    <a:pt x="16891" y="4220449"/>
                  </a:lnTo>
                  <a:cubicBezTo>
                    <a:pt x="7493" y="4220449"/>
                    <a:pt x="0" y="4205182"/>
                    <a:pt x="0" y="4186606"/>
                  </a:cubicBezTo>
                  <a:lnTo>
                    <a:pt x="0" y="33843"/>
                  </a:lnTo>
                  <a:cubicBezTo>
                    <a:pt x="0" y="15268"/>
                    <a:pt x="7620" y="0"/>
                    <a:pt x="16891" y="0"/>
                  </a:cubicBezTo>
                  <a:moveTo>
                    <a:pt x="16891" y="67940"/>
                  </a:moveTo>
                  <a:lnTo>
                    <a:pt x="16891" y="33843"/>
                  </a:lnTo>
                  <a:lnTo>
                    <a:pt x="33909" y="33843"/>
                  </a:lnTo>
                  <a:lnTo>
                    <a:pt x="33909" y="4186606"/>
                  </a:lnTo>
                  <a:lnTo>
                    <a:pt x="16891" y="4186606"/>
                  </a:lnTo>
                  <a:lnTo>
                    <a:pt x="16891" y="4152763"/>
                  </a:lnTo>
                  <a:lnTo>
                    <a:pt x="6112891" y="4152763"/>
                  </a:lnTo>
                  <a:lnTo>
                    <a:pt x="6112891" y="4186606"/>
                  </a:lnTo>
                  <a:lnTo>
                    <a:pt x="6096000" y="4186606"/>
                  </a:lnTo>
                  <a:lnTo>
                    <a:pt x="6096000" y="33843"/>
                  </a:lnTo>
                  <a:lnTo>
                    <a:pt x="6112891" y="33843"/>
                  </a:lnTo>
                  <a:lnTo>
                    <a:pt x="6112891" y="67940"/>
                  </a:lnTo>
                  <a:lnTo>
                    <a:pt x="16891" y="67940"/>
                  </a:lnTo>
                  <a:close/>
                </a:path>
              </a:pathLst>
            </a:custGeom>
            <a:solidFill>
              <a:srgbClr val="3A4FA0"/>
            </a:solidFill>
          </p:spPr>
        </p:sp>
      </p:grpSp>
      <p:grpSp>
        <p:nvGrpSpPr>
          <p:cNvPr name="Group 28" id="28"/>
          <p:cNvGrpSpPr/>
          <p:nvPr/>
        </p:nvGrpSpPr>
        <p:grpSpPr>
          <a:xfrm rot="0">
            <a:off x="13306902" y="7141179"/>
            <a:ext cx="4292925" cy="2793432"/>
            <a:chOff x="0" y="0"/>
            <a:chExt cx="5723900" cy="3724576"/>
          </a:xfrm>
        </p:grpSpPr>
        <p:sp>
          <p:nvSpPr>
            <p:cNvPr name="Freeform 29" id="29"/>
            <p:cNvSpPr/>
            <p:nvPr/>
          </p:nvSpPr>
          <p:spPr>
            <a:xfrm flipH="false" flipV="false" rot="0">
              <a:off x="15772" y="29865"/>
              <a:ext cx="5692272" cy="3664687"/>
            </a:xfrm>
            <a:custGeom>
              <a:avLst/>
              <a:gdLst/>
              <a:ahLst/>
              <a:cxnLst/>
              <a:rect r="r" b="b" t="t" l="l"/>
              <a:pathLst>
                <a:path h="3664687" w="5692272">
                  <a:moveTo>
                    <a:pt x="0" y="0"/>
                  </a:moveTo>
                  <a:lnTo>
                    <a:pt x="5692272" y="0"/>
                  </a:lnTo>
                  <a:lnTo>
                    <a:pt x="5692272" y="3664688"/>
                  </a:lnTo>
                  <a:lnTo>
                    <a:pt x="0" y="3664688"/>
                  </a:lnTo>
                  <a:close/>
                </a:path>
              </a:pathLst>
            </a:custGeom>
            <a:blipFill>
              <a:blip r:embed="rId6"/>
              <a:stretch>
                <a:fillRect l="-11688" t="0" r="-11688" b="0"/>
              </a:stretch>
            </a:blipFill>
          </p:spPr>
        </p:sp>
        <p:sp>
          <p:nvSpPr>
            <p:cNvPr name="Freeform 30" id="30"/>
            <p:cNvSpPr/>
            <p:nvPr/>
          </p:nvSpPr>
          <p:spPr>
            <a:xfrm flipH="false" flipV="false" rot="0">
              <a:off x="0" y="0"/>
              <a:ext cx="5723817" cy="3724418"/>
            </a:xfrm>
            <a:custGeom>
              <a:avLst/>
              <a:gdLst/>
              <a:ahLst/>
              <a:cxnLst/>
              <a:rect r="r" b="b" t="t" l="l"/>
              <a:pathLst>
                <a:path h="3724418" w="5723817">
                  <a:moveTo>
                    <a:pt x="15772" y="0"/>
                  </a:moveTo>
                  <a:lnTo>
                    <a:pt x="5708044" y="0"/>
                  </a:lnTo>
                  <a:cubicBezTo>
                    <a:pt x="5716820" y="0"/>
                    <a:pt x="5723817" y="13473"/>
                    <a:pt x="5723817" y="29865"/>
                  </a:cubicBezTo>
                  <a:lnTo>
                    <a:pt x="5723817" y="3694553"/>
                  </a:lnTo>
                  <a:cubicBezTo>
                    <a:pt x="5723817" y="3711170"/>
                    <a:pt x="5716701" y="3724418"/>
                    <a:pt x="5708044" y="3724418"/>
                  </a:cubicBezTo>
                  <a:lnTo>
                    <a:pt x="15772" y="3724418"/>
                  </a:lnTo>
                  <a:cubicBezTo>
                    <a:pt x="6997" y="3724418"/>
                    <a:pt x="0" y="3710945"/>
                    <a:pt x="0" y="3694553"/>
                  </a:cubicBezTo>
                  <a:lnTo>
                    <a:pt x="0" y="29865"/>
                  </a:lnTo>
                  <a:cubicBezTo>
                    <a:pt x="0" y="13473"/>
                    <a:pt x="7115" y="0"/>
                    <a:pt x="15772" y="0"/>
                  </a:cubicBezTo>
                  <a:moveTo>
                    <a:pt x="15772" y="59955"/>
                  </a:moveTo>
                  <a:lnTo>
                    <a:pt x="15772" y="29865"/>
                  </a:lnTo>
                  <a:lnTo>
                    <a:pt x="31663" y="29865"/>
                  </a:lnTo>
                  <a:lnTo>
                    <a:pt x="31663" y="3694553"/>
                  </a:lnTo>
                  <a:lnTo>
                    <a:pt x="15772" y="3694553"/>
                  </a:lnTo>
                  <a:lnTo>
                    <a:pt x="15772" y="3664688"/>
                  </a:lnTo>
                  <a:lnTo>
                    <a:pt x="5708044" y="3664688"/>
                  </a:lnTo>
                  <a:lnTo>
                    <a:pt x="5708044" y="3694553"/>
                  </a:lnTo>
                  <a:lnTo>
                    <a:pt x="5692272" y="3694553"/>
                  </a:lnTo>
                  <a:lnTo>
                    <a:pt x="5692272" y="29865"/>
                  </a:lnTo>
                  <a:lnTo>
                    <a:pt x="5708044" y="29865"/>
                  </a:lnTo>
                  <a:lnTo>
                    <a:pt x="5708044" y="59955"/>
                  </a:lnTo>
                  <a:lnTo>
                    <a:pt x="15772" y="59955"/>
                  </a:lnTo>
                  <a:close/>
                </a:path>
              </a:pathLst>
            </a:custGeom>
            <a:solidFill>
              <a:srgbClr val="3A4FA0"/>
            </a:solidFill>
          </p:spPr>
        </p:sp>
      </p:grpSp>
      <p:grpSp>
        <p:nvGrpSpPr>
          <p:cNvPr name="Group 31" id="31"/>
          <p:cNvGrpSpPr/>
          <p:nvPr/>
        </p:nvGrpSpPr>
        <p:grpSpPr>
          <a:xfrm rot="0">
            <a:off x="737873" y="7699669"/>
            <a:ext cx="10599413" cy="1609148"/>
            <a:chOff x="0" y="0"/>
            <a:chExt cx="14132550" cy="2145531"/>
          </a:xfrm>
        </p:grpSpPr>
        <p:sp>
          <p:nvSpPr>
            <p:cNvPr name="Freeform 32" id="32"/>
            <p:cNvSpPr/>
            <p:nvPr/>
          </p:nvSpPr>
          <p:spPr>
            <a:xfrm flipH="false" flipV="false" rot="0">
              <a:off x="0" y="0"/>
              <a:ext cx="14132550" cy="2145531"/>
            </a:xfrm>
            <a:custGeom>
              <a:avLst/>
              <a:gdLst/>
              <a:ahLst/>
              <a:cxnLst/>
              <a:rect r="r" b="b" t="t" l="l"/>
              <a:pathLst>
                <a:path h="2145531" w="14132550">
                  <a:moveTo>
                    <a:pt x="0" y="0"/>
                  </a:moveTo>
                  <a:lnTo>
                    <a:pt x="14132550" y="0"/>
                  </a:lnTo>
                  <a:lnTo>
                    <a:pt x="14132550" y="2145531"/>
                  </a:lnTo>
                  <a:lnTo>
                    <a:pt x="0" y="2145531"/>
                  </a:lnTo>
                  <a:close/>
                </a:path>
              </a:pathLst>
            </a:custGeom>
            <a:blipFill>
              <a:blip r:embed="rId3">
                <a:alphaModFix amt="0"/>
              </a:blip>
              <a:stretch>
                <a:fillRect l="0" t="-176573" r="-55284" b="-122033"/>
              </a:stretch>
            </a:blipFill>
          </p:spPr>
        </p:sp>
        <p:sp>
          <p:nvSpPr>
            <p:cNvPr name="TextBox 33" id="33"/>
            <p:cNvSpPr txBox="true"/>
            <p:nvPr/>
          </p:nvSpPr>
          <p:spPr>
            <a:xfrm>
              <a:off x="0" y="-47625"/>
              <a:ext cx="14132550" cy="2193156"/>
            </a:xfrm>
            <a:prstGeom prst="rect">
              <a:avLst/>
            </a:prstGeom>
          </p:spPr>
          <p:txBody>
            <a:bodyPr anchor="ctr" rtlCol="false" tIns="0" lIns="0" bIns="0" rIns="0"/>
            <a:lstStyle/>
            <a:p>
              <a:pPr algn="l">
                <a:lnSpc>
                  <a:spcPts val="2999"/>
                </a:lnSpc>
              </a:pPr>
              <a:r>
                <a:rPr lang="en-US" sz="2499">
                  <a:solidFill>
                    <a:srgbClr val="F59E0B"/>
                  </a:solidFill>
                  <a:latin typeface="Calibri (MS)"/>
                  <a:ea typeface="Calibri (MS)"/>
                  <a:cs typeface="Calibri (MS)"/>
                  <a:sym typeface="Calibri (MS)"/>
                </a:rPr>
                <a:t>Take Home Assignment</a:t>
              </a:r>
            </a:p>
            <a:p>
              <a:pPr algn="l">
                <a:lnSpc>
                  <a:spcPts val="2999"/>
                </a:lnSpc>
              </a:pPr>
            </a:p>
            <a:p>
              <a:pPr algn="l">
                <a:lnSpc>
                  <a:spcPts val="2999"/>
                </a:lnSpc>
              </a:pPr>
              <a:r>
                <a:rPr lang="en-US" sz="2499">
                  <a:solidFill>
                    <a:srgbClr val="F59E0B"/>
                  </a:solidFill>
                  <a:latin typeface="Calibri (MS)"/>
                  <a:ea typeface="Calibri (MS)"/>
                  <a:cs typeface="Calibri (MS)"/>
                  <a:sym typeface="Calibri (MS)"/>
                </a:rPr>
                <a:t>Ravindu Weerasekara - 226133E</a:t>
              </a:r>
            </a:p>
            <a:p>
              <a:pPr algn="l">
                <a:lnSpc>
                  <a:spcPts val="2999"/>
                </a:lnSpc>
              </a:pPr>
              <a:r>
                <a:rPr lang="en-US" sz="2499">
                  <a:solidFill>
                    <a:srgbClr val="F59E0B"/>
                  </a:solidFill>
                  <a:latin typeface="Calibri (MS)"/>
                  <a:ea typeface="Calibri (MS)"/>
                  <a:cs typeface="Calibri (MS)"/>
                  <a:sym typeface="Calibri (MS)"/>
                </a:rPr>
                <a:t>Bavindu Gunasinghe - 226044G</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901703"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914400"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OVERVIEW</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solidFill>
              <a:srgbClr val="A78BFA">
                <a:alpha val="0"/>
              </a:srgbClr>
            </a:solidFill>
            <a:ln cap="sq">
              <a:noFill/>
              <a:prstDash val="solid"/>
              <a:miter/>
            </a:ln>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Presentation Outline</a:t>
              </a:r>
            </a:p>
          </p:txBody>
        </p:sp>
      </p:grpSp>
      <p:grpSp>
        <p:nvGrpSpPr>
          <p:cNvPr name="Group 11" id="11"/>
          <p:cNvGrpSpPr/>
          <p:nvPr/>
        </p:nvGrpSpPr>
        <p:grpSpPr>
          <a:xfrm rot="0">
            <a:off x="901703" y="2730503"/>
            <a:ext cx="1031243" cy="1031243"/>
            <a:chOff x="0" y="0"/>
            <a:chExt cx="1374991" cy="1374991"/>
          </a:xfrm>
        </p:grpSpPr>
        <p:sp>
          <p:nvSpPr>
            <p:cNvPr name="Freeform 12" id="12"/>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13" id="13"/>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14" id="14"/>
          <p:cNvGrpSpPr/>
          <p:nvPr/>
        </p:nvGrpSpPr>
        <p:grpSpPr>
          <a:xfrm rot="0">
            <a:off x="914400" y="2743200"/>
            <a:ext cx="1005840" cy="1005840"/>
            <a:chOff x="0" y="0"/>
            <a:chExt cx="1341120" cy="1341120"/>
          </a:xfrm>
        </p:grpSpPr>
        <p:sp>
          <p:nvSpPr>
            <p:cNvPr name="Freeform 15" id="1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16" id="1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01</a:t>
              </a:r>
            </a:p>
          </p:txBody>
        </p:sp>
      </p:grpSp>
      <p:grpSp>
        <p:nvGrpSpPr>
          <p:cNvPr name="Group 17" id="17"/>
          <p:cNvGrpSpPr/>
          <p:nvPr/>
        </p:nvGrpSpPr>
        <p:grpSpPr>
          <a:xfrm rot="0">
            <a:off x="2090423" y="2730503"/>
            <a:ext cx="15295883" cy="1031243"/>
            <a:chOff x="0" y="0"/>
            <a:chExt cx="20394511" cy="1374991"/>
          </a:xfrm>
        </p:grpSpPr>
        <p:sp>
          <p:nvSpPr>
            <p:cNvPr name="Freeform 18" id="18"/>
            <p:cNvSpPr/>
            <p:nvPr/>
          </p:nvSpPr>
          <p:spPr>
            <a:xfrm flipH="false" flipV="false" rot="0">
              <a:off x="16891" y="16891"/>
              <a:ext cx="20360639" cy="1341120"/>
            </a:xfrm>
            <a:custGeom>
              <a:avLst/>
              <a:gdLst/>
              <a:ahLst/>
              <a:cxnLst/>
              <a:rect r="r" b="b" t="t" l="l"/>
              <a:pathLst>
                <a:path h="1341120" w="20360639">
                  <a:moveTo>
                    <a:pt x="0" y="0"/>
                  </a:moveTo>
                  <a:lnTo>
                    <a:pt x="20360639" y="0"/>
                  </a:lnTo>
                  <a:lnTo>
                    <a:pt x="20360639" y="1341120"/>
                  </a:lnTo>
                  <a:lnTo>
                    <a:pt x="0" y="1341120"/>
                  </a:lnTo>
                  <a:close/>
                </a:path>
              </a:pathLst>
            </a:custGeom>
            <a:solidFill>
              <a:srgbClr val="E8F0FE"/>
            </a:solidFill>
          </p:spPr>
        </p:sp>
        <p:sp>
          <p:nvSpPr>
            <p:cNvPr name="Freeform 19" id="19"/>
            <p:cNvSpPr/>
            <p:nvPr/>
          </p:nvSpPr>
          <p:spPr>
            <a:xfrm flipH="false" flipV="false" rot="0">
              <a:off x="0" y="0"/>
              <a:ext cx="20394422" cy="1374902"/>
            </a:xfrm>
            <a:custGeom>
              <a:avLst/>
              <a:gdLst/>
              <a:ahLst/>
              <a:cxnLst/>
              <a:rect r="r" b="b" t="t" l="l"/>
              <a:pathLst>
                <a:path h="1374902" w="20394422">
                  <a:moveTo>
                    <a:pt x="16891" y="0"/>
                  </a:moveTo>
                  <a:lnTo>
                    <a:pt x="20377530" y="0"/>
                  </a:lnTo>
                  <a:cubicBezTo>
                    <a:pt x="20386929" y="0"/>
                    <a:pt x="20394422" y="7620"/>
                    <a:pt x="20394422" y="16891"/>
                  </a:cubicBezTo>
                  <a:lnTo>
                    <a:pt x="20394422" y="1358011"/>
                  </a:lnTo>
                  <a:cubicBezTo>
                    <a:pt x="20394422" y="1367409"/>
                    <a:pt x="20386802" y="1374902"/>
                    <a:pt x="20377530"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0377530" y="1341120"/>
                  </a:lnTo>
                  <a:lnTo>
                    <a:pt x="20377530" y="1358011"/>
                  </a:lnTo>
                  <a:lnTo>
                    <a:pt x="20360639" y="1358011"/>
                  </a:lnTo>
                  <a:lnTo>
                    <a:pt x="20360639" y="16891"/>
                  </a:lnTo>
                  <a:lnTo>
                    <a:pt x="20377530" y="16891"/>
                  </a:lnTo>
                  <a:lnTo>
                    <a:pt x="20377530" y="33909"/>
                  </a:lnTo>
                  <a:lnTo>
                    <a:pt x="16891" y="33909"/>
                  </a:lnTo>
                  <a:close/>
                </a:path>
              </a:pathLst>
            </a:custGeom>
            <a:solidFill>
              <a:srgbClr val="CADCFC"/>
            </a:solidFill>
          </p:spPr>
        </p:sp>
      </p:grpSp>
      <p:grpSp>
        <p:nvGrpSpPr>
          <p:cNvPr name="Group 20" id="20"/>
          <p:cNvGrpSpPr/>
          <p:nvPr/>
        </p:nvGrpSpPr>
        <p:grpSpPr>
          <a:xfrm rot="0">
            <a:off x="2377440" y="2816352"/>
            <a:ext cx="6400800" cy="493776"/>
            <a:chOff x="0" y="0"/>
            <a:chExt cx="8534400" cy="658368"/>
          </a:xfrm>
        </p:grpSpPr>
        <p:sp>
          <p:nvSpPr>
            <p:cNvPr name="Freeform 21" id="21"/>
            <p:cNvSpPr/>
            <p:nvPr/>
          </p:nvSpPr>
          <p:spPr>
            <a:xfrm flipH="false" flipV="false" rot="0">
              <a:off x="0" y="0"/>
              <a:ext cx="8534400" cy="658368"/>
            </a:xfrm>
            <a:custGeom>
              <a:avLst/>
              <a:gdLst/>
              <a:ahLst/>
              <a:cxnLst/>
              <a:rect r="r" b="b" t="t" l="l"/>
              <a:pathLst>
                <a:path h="658368" w="8534400">
                  <a:moveTo>
                    <a:pt x="0" y="0"/>
                  </a:moveTo>
                  <a:lnTo>
                    <a:pt x="8534400" y="0"/>
                  </a:lnTo>
                  <a:lnTo>
                    <a:pt x="8534400" y="658368"/>
                  </a:lnTo>
                  <a:lnTo>
                    <a:pt x="0" y="658368"/>
                  </a:lnTo>
                  <a:close/>
                </a:path>
              </a:pathLst>
            </a:custGeom>
            <a:blipFill>
              <a:blip r:embed="rId3">
                <a:alphaModFix amt="0"/>
              </a:blip>
              <a:stretch>
                <a:fillRect l="0" t="-202583" r="0" b="-202583"/>
              </a:stretch>
            </a:blipFill>
          </p:spPr>
        </p:sp>
        <p:sp>
          <p:nvSpPr>
            <p:cNvPr name="TextBox 22" id="22"/>
            <p:cNvSpPr txBox="true"/>
            <p:nvPr/>
          </p:nvSpPr>
          <p:spPr>
            <a:xfrm>
              <a:off x="0" y="-38100"/>
              <a:ext cx="8534400" cy="696468"/>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Data &amp; Variables</a:t>
              </a:r>
            </a:p>
          </p:txBody>
        </p:sp>
      </p:grpSp>
      <p:grpSp>
        <p:nvGrpSpPr>
          <p:cNvPr name="Group 23" id="23"/>
          <p:cNvGrpSpPr/>
          <p:nvPr/>
        </p:nvGrpSpPr>
        <p:grpSpPr>
          <a:xfrm rot="0">
            <a:off x="2377440" y="3236976"/>
            <a:ext cx="14630400" cy="457200"/>
            <a:chOff x="0" y="0"/>
            <a:chExt cx="19507200" cy="609600"/>
          </a:xfrm>
        </p:grpSpPr>
        <p:sp>
          <p:nvSpPr>
            <p:cNvPr name="Freeform 24" id="24"/>
            <p:cNvSpPr/>
            <p:nvPr/>
          </p:nvSpPr>
          <p:spPr>
            <a:xfrm flipH="false" flipV="false" rot="0">
              <a:off x="0" y="0"/>
              <a:ext cx="19507200" cy="609600"/>
            </a:xfrm>
            <a:custGeom>
              <a:avLst/>
              <a:gdLst/>
              <a:ahLst/>
              <a:cxnLst/>
              <a:rect r="r" b="b" t="t" l="l"/>
              <a:pathLst>
                <a:path h="609600" w="19507200">
                  <a:moveTo>
                    <a:pt x="0" y="0"/>
                  </a:moveTo>
                  <a:lnTo>
                    <a:pt x="19507200" y="0"/>
                  </a:lnTo>
                  <a:lnTo>
                    <a:pt x="19507200" y="609600"/>
                  </a:lnTo>
                  <a:lnTo>
                    <a:pt x="0" y="609600"/>
                  </a:lnTo>
                  <a:close/>
                </a:path>
              </a:pathLst>
            </a:custGeom>
            <a:solidFill>
              <a:srgbClr val="000000">
                <a:alpha val="0"/>
              </a:srgbClr>
            </a:solidFill>
          </p:spPr>
        </p:sp>
        <p:sp>
          <p:nvSpPr>
            <p:cNvPr name="TextBox 25" id="25"/>
            <p:cNvSpPr txBox="true"/>
            <p:nvPr/>
          </p:nvSpPr>
          <p:spPr>
            <a:xfrm>
              <a:off x="0" y="-38100"/>
              <a:ext cx="19507200" cy="647700"/>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Data</a:t>
              </a:r>
              <a:r>
                <a:rPr lang="en-US" sz="1800">
                  <a:solidFill>
                    <a:srgbClr val="64748B"/>
                  </a:solidFill>
                  <a:latin typeface="Calibri (MS)"/>
                  <a:ea typeface="Calibri (MS)"/>
                  <a:cs typeface="Calibri (MS)"/>
                  <a:sym typeface="Calibri (MS)"/>
                </a:rPr>
                <a:t> — sources, coverage, descriptive statistics</a:t>
              </a:r>
            </a:p>
          </p:txBody>
        </p:sp>
      </p:grpSp>
      <p:grpSp>
        <p:nvGrpSpPr>
          <p:cNvPr name="Group 26" id="26"/>
          <p:cNvGrpSpPr/>
          <p:nvPr/>
        </p:nvGrpSpPr>
        <p:grpSpPr>
          <a:xfrm rot="0">
            <a:off x="901703" y="4156967"/>
            <a:ext cx="1031243" cy="1031243"/>
            <a:chOff x="0" y="0"/>
            <a:chExt cx="1374991" cy="1374991"/>
          </a:xfrm>
        </p:grpSpPr>
        <p:sp>
          <p:nvSpPr>
            <p:cNvPr name="Freeform 27" id="27"/>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28" id="28"/>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29" id="29"/>
          <p:cNvGrpSpPr/>
          <p:nvPr/>
        </p:nvGrpSpPr>
        <p:grpSpPr>
          <a:xfrm rot="0">
            <a:off x="914400" y="4169664"/>
            <a:ext cx="1005840" cy="1005840"/>
            <a:chOff x="0" y="0"/>
            <a:chExt cx="1341120" cy="1341120"/>
          </a:xfrm>
        </p:grpSpPr>
        <p:sp>
          <p:nvSpPr>
            <p:cNvPr name="Freeform 30" id="30"/>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31" id="31"/>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02</a:t>
              </a:r>
            </a:p>
          </p:txBody>
        </p:sp>
      </p:grpSp>
      <p:grpSp>
        <p:nvGrpSpPr>
          <p:cNvPr name="Group 32" id="32"/>
          <p:cNvGrpSpPr/>
          <p:nvPr/>
        </p:nvGrpSpPr>
        <p:grpSpPr>
          <a:xfrm rot="0">
            <a:off x="2090423" y="4156967"/>
            <a:ext cx="15295883" cy="1031243"/>
            <a:chOff x="0" y="0"/>
            <a:chExt cx="20394511" cy="1374991"/>
          </a:xfrm>
        </p:grpSpPr>
        <p:sp>
          <p:nvSpPr>
            <p:cNvPr name="Freeform 33" id="33"/>
            <p:cNvSpPr/>
            <p:nvPr/>
          </p:nvSpPr>
          <p:spPr>
            <a:xfrm flipH="false" flipV="false" rot="0">
              <a:off x="16891" y="16891"/>
              <a:ext cx="20360639" cy="1341120"/>
            </a:xfrm>
            <a:custGeom>
              <a:avLst/>
              <a:gdLst/>
              <a:ahLst/>
              <a:cxnLst/>
              <a:rect r="r" b="b" t="t" l="l"/>
              <a:pathLst>
                <a:path h="1341120" w="20360639">
                  <a:moveTo>
                    <a:pt x="0" y="0"/>
                  </a:moveTo>
                  <a:lnTo>
                    <a:pt x="20360639" y="0"/>
                  </a:lnTo>
                  <a:lnTo>
                    <a:pt x="20360639" y="1341120"/>
                  </a:lnTo>
                  <a:lnTo>
                    <a:pt x="0" y="1341120"/>
                  </a:lnTo>
                  <a:close/>
                </a:path>
              </a:pathLst>
            </a:custGeom>
            <a:solidFill>
              <a:srgbClr val="FFFFFF"/>
            </a:solidFill>
          </p:spPr>
        </p:sp>
        <p:sp>
          <p:nvSpPr>
            <p:cNvPr name="Freeform 34" id="34"/>
            <p:cNvSpPr/>
            <p:nvPr/>
          </p:nvSpPr>
          <p:spPr>
            <a:xfrm flipH="false" flipV="false" rot="0">
              <a:off x="0" y="0"/>
              <a:ext cx="20394422" cy="1374902"/>
            </a:xfrm>
            <a:custGeom>
              <a:avLst/>
              <a:gdLst/>
              <a:ahLst/>
              <a:cxnLst/>
              <a:rect r="r" b="b" t="t" l="l"/>
              <a:pathLst>
                <a:path h="1374902" w="20394422">
                  <a:moveTo>
                    <a:pt x="16891" y="0"/>
                  </a:moveTo>
                  <a:lnTo>
                    <a:pt x="20377530" y="0"/>
                  </a:lnTo>
                  <a:cubicBezTo>
                    <a:pt x="20386929" y="0"/>
                    <a:pt x="20394422" y="7620"/>
                    <a:pt x="20394422" y="16891"/>
                  </a:cubicBezTo>
                  <a:lnTo>
                    <a:pt x="20394422" y="1358011"/>
                  </a:lnTo>
                  <a:cubicBezTo>
                    <a:pt x="20394422" y="1367409"/>
                    <a:pt x="20386802" y="1374902"/>
                    <a:pt x="20377530"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0377530" y="1341120"/>
                  </a:lnTo>
                  <a:lnTo>
                    <a:pt x="20377530" y="1358011"/>
                  </a:lnTo>
                  <a:lnTo>
                    <a:pt x="20360639" y="1358011"/>
                  </a:lnTo>
                  <a:lnTo>
                    <a:pt x="20360639" y="16891"/>
                  </a:lnTo>
                  <a:lnTo>
                    <a:pt x="20377530" y="16891"/>
                  </a:lnTo>
                  <a:lnTo>
                    <a:pt x="20377530" y="33909"/>
                  </a:lnTo>
                  <a:lnTo>
                    <a:pt x="16891" y="33909"/>
                  </a:lnTo>
                  <a:close/>
                </a:path>
              </a:pathLst>
            </a:custGeom>
            <a:solidFill>
              <a:srgbClr val="CADCFC"/>
            </a:solidFill>
          </p:spPr>
        </p:sp>
      </p:grpSp>
      <p:grpSp>
        <p:nvGrpSpPr>
          <p:cNvPr name="Group 35" id="35"/>
          <p:cNvGrpSpPr/>
          <p:nvPr/>
        </p:nvGrpSpPr>
        <p:grpSpPr>
          <a:xfrm rot="0">
            <a:off x="2377440" y="4242816"/>
            <a:ext cx="6400800" cy="493776"/>
            <a:chOff x="0" y="0"/>
            <a:chExt cx="8534400" cy="658368"/>
          </a:xfrm>
        </p:grpSpPr>
        <p:sp>
          <p:nvSpPr>
            <p:cNvPr name="Freeform 36" id="36"/>
            <p:cNvSpPr/>
            <p:nvPr/>
          </p:nvSpPr>
          <p:spPr>
            <a:xfrm flipH="false" flipV="false" rot="0">
              <a:off x="0" y="0"/>
              <a:ext cx="8534400" cy="658368"/>
            </a:xfrm>
            <a:custGeom>
              <a:avLst/>
              <a:gdLst/>
              <a:ahLst/>
              <a:cxnLst/>
              <a:rect r="r" b="b" t="t" l="l"/>
              <a:pathLst>
                <a:path h="658368" w="8534400">
                  <a:moveTo>
                    <a:pt x="0" y="0"/>
                  </a:moveTo>
                  <a:lnTo>
                    <a:pt x="8534400" y="0"/>
                  </a:lnTo>
                  <a:lnTo>
                    <a:pt x="8534400" y="658368"/>
                  </a:lnTo>
                  <a:lnTo>
                    <a:pt x="0" y="658368"/>
                  </a:lnTo>
                  <a:close/>
                </a:path>
              </a:pathLst>
            </a:custGeom>
            <a:blipFill>
              <a:blip r:embed="rId3">
                <a:alphaModFix amt="0"/>
              </a:blip>
              <a:stretch>
                <a:fillRect l="0" t="-202583" r="0" b="-202583"/>
              </a:stretch>
            </a:blipFill>
          </p:spPr>
        </p:sp>
        <p:sp>
          <p:nvSpPr>
            <p:cNvPr name="TextBox 37" id="37"/>
            <p:cNvSpPr txBox="true"/>
            <p:nvPr/>
          </p:nvSpPr>
          <p:spPr>
            <a:xfrm>
              <a:off x="0" y="-38100"/>
              <a:ext cx="8534400" cy="696468"/>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Task 1 · Univariate ARIMA</a:t>
              </a:r>
            </a:p>
          </p:txBody>
        </p:sp>
      </p:grpSp>
      <p:grpSp>
        <p:nvGrpSpPr>
          <p:cNvPr name="Group 38" id="38"/>
          <p:cNvGrpSpPr/>
          <p:nvPr/>
        </p:nvGrpSpPr>
        <p:grpSpPr>
          <a:xfrm rot="0">
            <a:off x="2377440" y="4663440"/>
            <a:ext cx="14630400" cy="457200"/>
            <a:chOff x="0" y="0"/>
            <a:chExt cx="19507200" cy="609600"/>
          </a:xfrm>
        </p:grpSpPr>
        <p:sp>
          <p:nvSpPr>
            <p:cNvPr name="Freeform 39" id="39"/>
            <p:cNvSpPr/>
            <p:nvPr/>
          </p:nvSpPr>
          <p:spPr>
            <a:xfrm flipH="false" flipV="false" rot="0">
              <a:off x="0" y="0"/>
              <a:ext cx="19507200" cy="609600"/>
            </a:xfrm>
            <a:custGeom>
              <a:avLst/>
              <a:gdLst/>
              <a:ahLst/>
              <a:cxnLst/>
              <a:rect r="r" b="b" t="t" l="l"/>
              <a:pathLst>
                <a:path h="609600" w="19507200">
                  <a:moveTo>
                    <a:pt x="0" y="0"/>
                  </a:moveTo>
                  <a:lnTo>
                    <a:pt x="19507200" y="0"/>
                  </a:lnTo>
                  <a:lnTo>
                    <a:pt x="19507200" y="609600"/>
                  </a:lnTo>
                  <a:lnTo>
                    <a:pt x="0" y="609600"/>
                  </a:lnTo>
                  <a:close/>
                </a:path>
              </a:pathLst>
            </a:custGeom>
            <a:blipFill>
              <a:blip r:embed="rId3">
                <a:alphaModFix amt="0"/>
              </a:blip>
              <a:stretch>
                <a:fillRect l="0" t="-573521" r="0" b="-573521"/>
              </a:stretch>
            </a:blipFill>
          </p:spPr>
        </p:sp>
        <p:sp>
          <p:nvSpPr>
            <p:cNvPr name="TextBox 40" id="40"/>
            <p:cNvSpPr txBox="true"/>
            <p:nvPr/>
          </p:nvSpPr>
          <p:spPr>
            <a:xfrm>
              <a:off x="0" y="-38100"/>
              <a:ext cx="19507200" cy="647700"/>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Stationarity → Seasonality → ACF/PACF → SARIMA(1,1,1)(0,0,1)₅ → Forecast</a:t>
              </a:r>
            </a:p>
          </p:txBody>
        </p:sp>
      </p:grpSp>
      <p:grpSp>
        <p:nvGrpSpPr>
          <p:cNvPr name="Group 41" id="41"/>
          <p:cNvGrpSpPr/>
          <p:nvPr/>
        </p:nvGrpSpPr>
        <p:grpSpPr>
          <a:xfrm rot="0">
            <a:off x="901703" y="5583431"/>
            <a:ext cx="1031243" cy="1031243"/>
            <a:chOff x="0" y="0"/>
            <a:chExt cx="1374991" cy="1374991"/>
          </a:xfrm>
        </p:grpSpPr>
        <p:sp>
          <p:nvSpPr>
            <p:cNvPr name="Freeform 42" id="42"/>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43" id="43"/>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44" id="44"/>
          <p:cNvGrpSpPr/>
          <p:nvPr/>
        </p:nvGrpSpPr>
        <p:grpSpPr>
          <a:xfrm rot="0">
            <a:off x="914400" y="5596128"/>
            <a:ext cx="1005840" cy="1005840"/>
            <a:chOff x="0" y="0"/>
            <a:chExt cx="1341120" cy="1341120"/>
          </a:xfrm>
        </p:grpSpPr>
        <p:sp>
          <p:nvSpPr>
            <p:cNvPr name="Freeform 45" id="4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46" id="4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03</a:t>
              </a:r>
            </a:p>
          </p:txBody>
        </p:sp>
      </p:grpSp>
      <p:grpSp>
        <p:nvGrpSpPr>
          <p:cNvPr name="Group 47" id="47"/>
          <p:cNvGrpSpPr/>
          <p:nvPr/>
        </p:nvGrpSpPr>
        <p:grpSpPr>
          <a:xfrm rot="0">
            <a:off x="2090423" y="5583431"/>
            <a:ext cx="15295883" cy="1031243"/>
            <a:chOff x="0" y="0"/>
            <a:chExt cx="20394511" cy="1374991"/>
          </a:xfrm>
        </p:grpSpPr>
        <p:sp>
          <p:nvSpPr>
            <p:cNvPr name="Freeform 48" id="48"/>
            <p:cNvSpPr/>
            <p:nvPr/>
          </p:nvSpPr>
          <p:spPr>
            <a:xfrm flipH="false" flipV="false" rot="0">
              <a:off x="16891" y="16891"/>
              <a:ext cx="20360639" cy="1341120"/>
            </a:xfrm>
            <a:custGeom>
              <a:avLst/>
              <a:gdLst/>
              <a:ahLst/>
              <a:cxnLst/>
              <a:rect r="r" b="b" t="t" l="l"/>
              <a:pathLst>
                <a:path h="1341120" w="20360639">
                  <a:moveTo>
                    <a:pt x="0" y="0"/>
                  </a:moveTo>
                  <a:lnTo>
                    <a:pt x="20360639" y="0"/>
                  </a:lnTo>
                  <a:lnTo>
                    <a:pt x="20360639" y="1341120"/>
                  </a:lnTo>
                  <a:lnTo>
                    <a:pt x="0" y="1341120"/>
                  </a:lnTo>
                  <a:close/>
                </a:path>
              </a:pathLst>
            </a:custGeom>
            <a:solidFill>
              <a:srgbClr val="E8F0FE"/>
            </a:solidFill>
          </p:spPr>
        </p:sp>
        <p:sp>
          <p:nvSpPr>
            <p:cNvPr name="Freeform 49" id="49"/>
            <p:cNvSpPr/>
            <p:nvPr/>
          </p:nvSpPr>
          <p:spPr>
            <a:xfrm flipH="false" flipV="false" rot="0">
              <a:off x="0" y="0"/>
              <a:ext cx="20394422" cy="1374902"/>
            </a:xfrm>
            <a:custGeom>
              <a:avLst/>
              <a:gdLst/>
              <a:ahLst/>
              <a:cxnLst/>
              <a:rect r="r" b="b" t="t" l="l"/>
              <a:pathLst>
                <a:path h="1374902" w="20394422">
                  <a:moveTo>
                    <a:pt x="16891" y="0"/>
                  </a:moveTo>
                  <a:lnTo>
                    <a:pt x="20377530" y="0"/>
                  </a:lnTo>
                  <a:cubicBezTo>
                    <a:pt x="20386929" y="0"/>
                    <a:pt x="20394422" y="7620"/>
                    <a:pt x="20394422" y="16891"/>
                  </a:cubicBezTo>
                  <a:lnTo>
                    <a:pt x="20394422" y="1358011"/>
                  </a:lnTo>
                  <a:cubicBezTo>
                    <a:pt x="20394422" y="1367409"/>
                    <a:pt x="20386802" y="1374902"/>
                    <a:pt x="20377530"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0377530" y="1341120"/>
                  </a:lnTo>
                  <a:lnTo>
                    <a:pt x="20377530" y="1358011"/>
                  </a:lnTo>
                  <a:lnTo>
                    <a:pt x="20360639" y="1358011"/>
                  </a:lnTo>
                  <a:lnTo>
                    <a:pt x="20360639" y="16891"/>
                  </a:lnTo>
                  <a:lnTo>
                    <a:pt x="20377530" y="16891"/>
                  </a:lnTo>
                  <a:lnTo>
                    <a:pt x="20377530" y="33909"/>
                  </a:lnTo>
                  <a:lnTo>
                    <a:pt x="16891" y="33909"/>
                  </a:lnTo>
                  <a:close/>
                </a:path>
              </a:pathLst>
            </a:custGeom>
            <a:solidFill>
              <a:srgbClr val="CADCFC"/>
            </a:solidFill>
          </p:spPr>
        </p:sp>
      </p:grpSp>
      <p:grpSp>
        <p:nvGrpSpPr>
          <p:cNvPr name="Group 50" id="50"/>
          <p:cNvGrpSpPr/>
          <p:nvPr/>
        </p:nvGrpSpPr>
        <p:grpSpPr>
          <a:xfrm rot="0">
            <a:off x="2377440" y="5669280"/>
            <a:ext cx="6400800" cy="493776"/>
            <a:chOff x="0" y="0"/>
            <a:chExt cx="8534400" cy="658368"/>
          </a:xfrm>
        </p:grpSpPr>
        <p:sp>
          <p:nvSpPr>
            <p:cNvPr name="Freeform 51" id="51"/>
            <p:cNvSpPr/>
            <p:nvPr/>
          </p:nvSpPr>
          <p:spPr>
            <a:xfrm flipH="false" flipV="false" rot="0">
              <a:off x="0" y="0"/>
              <a:ext cx="8534400" cy="658368"/>
            </a:xfrm>
            <a:custGeom>
              <a:avLst/>
              <a:gdLst/>
              <a:ahLst/>
              <a:cxnLst/>
              <a:rect r="r" b="b" t="t" l="l"/>
              <a:pathLst>
                <a:path h="658368" w="8534400">
                  <a:moveTo>
                    <a:pt x="0" y="0"/>
                  </a:moveTo>
                  <a:lnTo>
                    <a:pt x="8534400" y="0"/>
                  </a:lnTo>
                  <a:lnTo>
                    <a:pt x="8534400" y="658368"/>
                  </a:lnTo>
                  <a:lnTo>
                    <a:pt x="0" y="658368"/>
                  </a:lnTo>
                  <a:close/>
                </a:path>
              </a:pathLst>
            </a:custGeom>
            <a:blipFill>
              <a:blip r:embed="rId3">
                <a:alphaModFix amt="0"/>
              </a:blip>
              <a:stretch>
                <a:fillRect l="0" t="-202583" r="0" b="-202583"/>
              </a:stretch>
            </a:blipFill>
          </p:spPr>
        </p:sp>
        <p:sp>
          <p:nvSpPr>
            <p:cNvPr name="TextBox 52" id="52"/>
            <p:cNvSpPr txBox="true"/>
            <p:nvPr/>
          </p:nvSpPr>
          <p:spPr>
            <a:xfrm>
              <a:off x="0" y="-38100"/>
              <a:ext cx="8534400" cy="696468"/>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Task 2 · Multivariate VECM</a:t>
              </a:r>
            </a:p>
          </p:txBody>
        </p:sp>
      </p:grpSp>
      <p:grpSp>
        <p:nvGrpSpPr>
          <p:cNvPr name="Group 53" id="53"/>
          <p:cNvGrpSpPr/>
          <p:nvPr/>
        </p:nvGrpSpPr>
        <p:grpSpPr>
          <a:xfrm rot="0">
            <a:off x="2377440" y="6089904"/>
            <a:ext cx="14630400" cy="457200"/>
            <a:chOff x="0" y="0"/>
            <a:chExt cx="19507200" cy="609600"/>
          </a:xfrm>
        </p:grpSpPr>
        <p:sp>
          <p:nvSpPr>
            <p:cNvPr name="Freeform 54" id="54"/>
            <p:cNvSpPr/>
            <p:nvPr/>
          </p:nvSpPr>
          <p:spPr>
            <a:xfrm flipH="false" flipV="false" rot="0">
              <a:off x="0" y="0"/>
              <a:ext cx="19507200" cy="609600"/>
            </a:xfrm>
            <a:custGeom>
              <a:avLst/>
              <a:gdLst/>
              <a:ahLst/>
              <a:cxnLst/>
              <a:rect r="r" b="b" t="t" l="l"/>
              <a:pathLst>
                <a:path h="609600" w="19507200">
                  <a:moveTo>
                    <a:pt x="0" y="0"/>
                  </a:moveTo>
                  <a:lnTo>
                    <a:pt x="19507200" y="0"/>
                  </a:lnTo>
                  <a:lnTo>
                    <a:pt x="19507200" y="609600"/>
                  </a:lnTo>
                  <a:lnTo>
                    <a:pt x="0" y="609600"/>
                  </a:lnTo>
                  <a:close/>
                </a:path>
              </a:pathLst>
            </a:custGeom>
            <a:blipFill>
              <a:blip r:embed="rId3">
                <a:alphaModFix amt="0"/>
              </a:blip>
              <a:stretch>
                <a:fillRect l="0" t="-573521" r="0" b="-573521"/>
              </a:stretch>
            </a:blipFill>
          </p:spPr>
        </p:sp>
        <p:sp>
          <p:nvSpPr>
            <p:cNvPr name="TextBox 55" id="55"/>
            <p:cNvSpPr txBox="true"/>
            <p:nvPr/>
          </p:nvSpPr>
          <p:spPr>
            <a:xfrm>
              <a:off x="0" y="-38100"/>
              <a:ext cx="19507200" cy="647700"/>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Cointegration → VECM(k=8) → IRF → Out-of-sample validation</a:t>
              </a:r>
            </a:p>
          </p:txBody>
        </p:sp>
      </p:grpSp>
      <p:grpSp>
        <p:nvGrpSpPr>
          <p:cNvPr name="Group 56" id="56"/>
          <p:cNvGrpSpPr/>
          <p:nvPr/>
        </p:nvGrpSpPr>
        <p:grpSpPr>
          <a:xfrm rot="0">
            <a:off x="901703" y="7009895"/>
            <a:ext cx="1031243" cy="1031243"/>
            <a:chOff x="0" y="0"/>
            <a:chExt cx="1374991" cy="1374991"/>
          </a:xfrm>
        </p:grpSpPr>
        <p:sp>
          <p:nvSpPr>
            <p:cNvPr name="Freeform 57" id="57"/>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58" id="58"/>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59" id="59"/>
          <p:cNvGrpSpPr/>
          <p:nvPr/>
        </p:nvGrpSpPr>
        <p:grpSpPr>
          <a:xfrm rot="0">
            <a:off x="914400" y="7022592"/>
            <a:ext cx="1005840" cy="1005840"/>
            <a:chOff x="0" y="0"/>
            <a:chExt cx="1341120" cy="1341120"/>
          </a:xfrm>
        </p:grpSpPr>
        <p:sp>
          <p:nvSpPr>
            <p:cNvPr name="Freeform 60" id="60"/>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61" id="61"/>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04</a:t>
              </a:r>
            </a:p>
          </p:txBody>
        </p:sp>
      </p:grpSp>
      <p:grpSp>
        <p:nvGrpSpPr>
          <p:cNvPr name="Group 62" id="62"/>
          <p:cNvGrpSpPr/>
          <p:nvPr/>
        </p:nvGrpSpPr>
        <p:grpSpPr>
          <a:xfrm rot="0">
            <a:off x="2090423" y="7009895"/>
            <a:ext cx="15295883" cy="1031243"/>
            <a:chOff x="0" y="0"/>
            <a:chExt cx="20394511" cy="1374991"/>
          </a:xfrm>
        </p:grpSpPr>
        <p:sp>
          <p:nvSpPr>
            <p:cNvPr name="Freeform 63" id="63"/>
            <p:cNvSpPr/>
            <p:nvPr/>
          </p:nvSpPr>
          <p:spPr>
            <a:xfrm flipH="false" flipV="false" rot="0">
              <a:off x="16891" y="16891"/>
              <a:ext cx="20360639" cy="1341120"/>
            </a:xfrm>
            <a:custGeom>
              <a:avLst/>
              <a:gdLst/>
              <a:ahLst/>
              <a:cxnLst/>
              <a:rect r="r" b="b" t="t" l="l"/>
              <a:pathLst>
                <a:path h="1341120" w="20360639">
                  <a:moveTo>
                    <a:pt x="0" y="0"/>
                  </a:moveTo>
                  <a:lnTo>
                    <a:pt x="20360639" y="0"/>
                  </a:lnTo>
                  <a:lnTo>
                    <a:pt x="20360639" y="1341120"/>
                  </a:lnTo>
                  <a:lnTo>
                    <a:pt x="0" y="1341120"/>
                  </a:lnTo>
                  <a:close/>
                </a:path>
              </a:pathLst>
            </a:custGeom>
            <a:solidFill>
              <a:srgbClr val="FFFFFF"/>
            </a:solidFill>
          </p:spPr>
        </p:sp>
        <p:sp>
          <p:nvSpPr>
            <p:cNvPr name="Freeform 64" id="64"/>
            <p:cNvSpPr/>
            <p:nvPr/>
          </p:nvSpPr>
          <p:spPr>
            <a:xfrm flipH="false" flipV="false" rot="0">
              <a:off x="0" y="0"/>
              <a:ext cx="20394422" cy="1374902"/>
            </a:xfrm>
            <a:custGeom>
              <a:avLst/>
              <a:gdLst/>
              <a:ahLst/>
              <a:cxnLst/>
              <a:rect r="r" b="b" t="t" l="l"/>
              <a:pathLst>
                <a:path h="1374902" w="20394422">
                  <a:moveTo>
                    <a:pt x="16891" y="0"/>
                  </a:moveTo>
                  <a:lnTo>
                    <a:pt x="20377530" y="0"/>
                  </a:lnTo>
                  <a:cubicBezTo>
                    <a:pt x="20386929" y="0"/>
                    <a:pt x="20394422" y="7620"/>
                    <a:pt x="20394422" y="16891"/>
                  </a:cubicBezTo>
                  <a:lnTo>
                    <a:pt x="20394422" y="1358011"/>
                  </a:lnTo>
                  <a:cubicBezTo>
                    <a:pt x="20394422" y="1367409"/>
                    <a:pt x="20386802" y="1374902"/>
                    <a:pt x="20377530"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0377530" y="1341120"/>
                  </a:lnTo>
                  <a:lnTo>
                    <a:pt x="20377530" y="1358011"/>
                  </a:lnTo>
                  <a:lnTo>
                    <a:pt x="20360639" y="1358011"/>
                  </a:lnTo>
                  <a:lnTo>
                    <a:pt x="20360639" y="16891"/>
                  </a:lnTo>
                  <a:lnTo>
                    <a:pt x="20377530" y="16891"/>
                  </a:lnTo>
                  <a:lnTo>
                    <a:pt x="20377530" y="33909"/>
                  </a:lnTo>
                  <a:lnTo>
                    <a:pt x="16891" y="33909"/>
                  </a:lnTo>
                  <a:close/>
                </a:path>
              </a:pathLst>
            </a:custGeom>
            <a:solidFill>
              <a:srgbClr val="CADCFC"/>
            </a:solidFill>
          </p:spPr>
        </p:sp>
      </p:grpSp>
      <p:grpSp>
        <p:nvGrpSpPr>
          <p:cNvPr name="Group 65" id="65"/>
          <p:cNvGrpSpPr/>
          <p:nvPr/>
        </p:nvGrpSpPr>
        <p:grpSpPr>
          <a:xfrm rot="0">
            <a:off x="2377440" y="7095744"/>
            <a:ext cx="6400800" cy="493776"/>
            <a:chOff x="0" y="0"/>
            <a:chExt cx="8534400" cy="658368"/>
          </a:xfrm>
        </p:grpSpPr>
        <p:sp>
          <p:nvSpPr>
            <p:cNvPr name="Freeform 66" id="66"/>
            <p:cNvSpPr/>
            <p:nvPr/>
          </p:nvSpPr>
          <p:spPr>
            <a:xfrm flipH="false" flipV="false" rot="0">
              <a:off x="0" y="0"/>
              <a:ext cx="8534400" cy="658368"/>
            </a:xfrm>
            <a:custGeom>
              <a:avLst/>
              <a:gdLst/>
              <a:ahLst/>
              <a:cxnLst/>
              <a:rect r="r" b="b" t="t" l="l"/>
              <a:pathLst>
                <a:path h="658368" w="8534400">
                  <a:moveTo>
                    <a:pt x="0" y="0"/>
                  </a:moveTo>
                  <a:lnTo>
                    <a:pt x="8534400" y="0"/>
                  </a:lnTo>
                  <a:lnTo>
                    <a:pt x="8534400" y="658368"/>
                  </a:lnTo>
                  <a:lnTo>
                    <a:pt x="0" y="658368"/>
                  </a:lnTo>
                  <a:close/>
                </a:path>
              </a:pathLst>
            </a:custGeom>
            <a:blipFill>
              <a:blip r:embed="rId3">
                <a:alphaModFix amt="0"/>
              </a:blip>
              <a:stretch>
                <a:fillRect l="0" t="-202583" r="0" b="-202583"/>
              </a:stretch>
            </a:blipFill>
          </p:spPr>
        </p:sp>
        <p:sp>
          <p:nvSpPr>
            <p:cNvPr name="TextBox 67" id="67"/>
            <p:cNvSpPr txBox="true"/>
            <p:nvPr/>
          </p:nvSpPr>
          <p:spPr>
            <a:xfrm>
              <a:off x="0" y="-38100"/>
              <a:ext cx="8534400" cy="696468"/>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Task 3 · ARCH / GARCH</a:t>
              </a:r>
            </a:p>
          </p:txBody>
        </p:sp>
      </p:grpSp>
      <p:grpSp>
        <p:nvGrpSpPr>
          <p:cNvPr name="Group 68" id="68"/>
          <p:cNvGrpSpPr/>
          <p:nvPr/>
        </p:nvGrpSpPr>
        <p:grpSpPr>
          <a:xfrm rot="0">
            <a:off x="2377440" y="7516368"/>
            <a:ext cx="14630400" cy="457200"/>
            <a:chOff x="0" y="0"/>
            <a:chExt cx="19507200" cy="609600"/>
          </a:xfrm>
        </p:grpSpPr>
        <p:sp>
          <p:nvSpPr>
            <p:cNvPr name="Freeform 69" id="69"/>
            <p:cNvSpPr/>
            <p:nvPr/>
          </p:nvSpPr>
          <p:spPr>
            <a:xfrm flipH="false" flipV="false" rot="0">
              <a:off x="0" y="0"/>
              <a:ext cx="19507200" cy="609600"/>
            </a:xfrm>
            <a:custGeom>
              <a:avLst/>
              <a:gdLst/>
              <a:ahLst/>
              <a:cxnLst/>
              <a:rect r="r" b="b" t="t" l="l"/>
              <a:pathLst>
                <a:path h="609600" w="19507200">
                  <a:moveTo>
                    <a:pt x="0" y="0"/>
                  </a:moveTo>
                  <a:lnTo>
                    <a:pt x="19507200" y="0"/>
                  </a:lnTo>
                  <a:lnTo>
                    <a:pt x="19507200" y="609600"/>
                  </a:lnTo>
                  <a:lnTo>
                    <a:pt x="0" y="609600"/>
                  </a:lnTo>
                  <a:close/>
                </a:path>
              </a:pathLst>
            </a:custGeom>
            <a:blipFill>
              <a:blip r:embed="rId3">
                <a:alphaModFix amt="0"/>
              </a:blip>
              <a:stretch>
                <a:fillRect l="0" t="-573521" r="0" b="-573521"/>
              </a:stretch>
            </a:blipFill>
          </p:spPr>
        </p:sp>
        <p:sp>
          <p:nvSpPr>
            <p:cNvPr name="TextBox 70" id="70"/>
            <p:cNvSpPr txBox="true"/>
            <p:nvPr/>
          </p:nvSpPr>
          <p:spPr>
            <a:xfrm>
              <a:off x="0" y="-38100"/>
              <a:ext cx="19507200" cy="647700"/>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ARCH-LM test → GARCH(1,1)-t selection → Volatility forecast</a:t>
              </a:r>
            </a:p>
          </p:txBody>
        </p:sp>
      </p:grpSp>
      <p:grpSp>
        <p:nvGrpSpPr>
          <p:cNvPr name="Group 71" id="71"/>
          <p:cNvGrpSpPr/>
          <p:nvPr/>
        </p:nvGrpSpPr>
        <p:grpSpPr>
          <a:xfrm rot="0">
            <a:off x="901703" y="8436359"/>
            <a:ext cx="1031243" cy="1031243"/>
            <a:chOff x="0" y="0"/>
            <a:chExt cx="1374991" cy="1374991"/>
          </a:xfrm>
        </p:grpSpPr>
        <p:sp>
          <p:nvSpPr>
            <p:cNvPr name="Freeform 72" id="72"/>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73" id="73"/>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74" id="74"/>
          <p:cNvGrpSpPr/>
          <p:nvPr/>
        </p:nvGrpSpPr>
        <p:grpSpPr>
          <a:xfrm rot="0">
            <a:off x="914400" y="8449056"/>
            <a:ext cx="1005840" cy="1005840"/>
            <a:chOff x="0" y="0"/>
            <a:chExt cx="1341120" cy="1341120"/>
          </a:xfrm>
        </p:grpSpPr>
        <p:sp>
          <p:nvSpPr>
            <p:cNvPr name="Freeform 75" id="7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76" id="7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05</a:t>
              </a:r>
            </a:p>
          </p:txBody>
        </p:sp>
      </p:grpSp>
      <p:grpSp>
        <p:nvGrpSpPr>
          <p:cNvPr name="Group 77" id="77"/>
          <p:cNvGrpSpPr/>
          <p:nvPr/>
        </p:nvGrpSpPr>
        <p:grpSpPr>
          <a:xfrm rot="0">
            <a:off x="2090423" y="8436359"/>
            <a:ext cx="15295883" cy="1031243"/>
            <a:chOff x="0" y="0"/>
            <a:chExt cx="20394511" cy="1374991"/>
          </a:xfrm>
        </p:grpSpPr>
        <p:sp>
          <p:nvSpPr>
            <p:cNvPr name="Freeform 78" id="78"/>
            <p:cNvSpPr/>
            <p:nvPr/>
          </p:nvSpPr>
          <p:spPr>
            <a:xfrm flipH="false" flipV="false" rot="0">
              <a:off x="16891" y="16891"/>
              <a:ext cx="20360639" cy="1341120"/>
            </a:xfrm>
            <a:custGeom>
              <a:avLst/>
              <a:gdLst/>
              <a:ahLst/>
              <a:cxnLst/>
              <a:rect r="r" b="b" t="t" l="l"/>
              <a:pathLst>
                <a:path h="1341120" w="20360639">
                  <a:moveTo>
                    <a:pt x="0" y="0"/>
                  </a:moveTo>
                  <a:lnTo>
                    <a:pt x="20360639" y="0"/>
                  </a:lnTo>
                  <a:lnTo>
                    <a:pt x="20360639" y="1341120"/>
                  </a:lnTo>
                  <a:lnTo>
                    <a:pt x="0" y="1341120"/>
                  </a:lnTo>
                  <a:close/>
                </a:path>
              </a:pathLst>
            </a:custGeom>
            <a:solidFill>
              <a:srgbClr val="E8F0FE"/>
            </a:solidFill>
          </p:spPr>
        </p:sp>
        <p:sp>
          <p:nvSpPr>
            <p:cNvPr name="Freeform 79" id="79"/>
            <p:cNvSpPr/>
            <p:nvPr/>
          </p:nvSpPr>
          <p:spPr>
            <a:xfrm flipH="false" flipV="false" rot="0">
              <a:off x="0" y="0"/>
              <a:ext cx="20394422" cy="1374902"/>
            </a:xfrm>
            <a:custGeom>
              <a:avLst/>
              <a:gdLst/>
              <a:ahLst/>
              <a:cxnLst/>
              <a:rect r="r" b="b" t="t" l="l"/>
              <a:pathLst>
                <a:path h="1374902" w="20394422">
                  <a:moveTo>
                    <a:pt x="16891" y="0"/>
                  </a:moveTo>
                  <a:lnTo>
                    <a:pt x="20377530" y="0"/>
                  </a:lnTo>
                  <a:cubicBezTo>
                    <a:pt x="20386929" y="0"/>
                    <a:pt x="20394422" y="7620"/>
                    <a:pt x="20394422" y="16891"/>
                  </a:cubicBezTo>
                  <a:lnTo>
                    <a:pt x="20394422" y="1358011"/>
                  </a:lnTo>
                  <a:cubicBezTo>
                    <a:pt x="20394422" y="1367409"/>
                    <a:pt x="20386802" y="1374902"/>
                    <a:pt x="20377530"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20377530" y="1341120"/>
                  </a:lnTo>
                  <a:lnTo>
                    <a:pt x="20377530" y="1358011"/>
                  </a:lnTo>
                  <a:lnTo>
                    <a:pt x="20360639" y="1358011"/>
                  </a:lnTo>
                  <a:lnTo>
                    <a:pt x="20360639" y="16891"/>
                  </a:lnTo>
                  <a:lnTo>
                    <a:pt x="20377530" y="16891"/>
                  </a:lnTo>
                  <a:lnTo>
                    <a:pt x="20377530" y="33909"/>
                  </a:lnTo>
                  <a:lnTo>
                    <a:pt x="16891" y="33909"/>
                  </a:lnTo>
                  <a:close/>
                </a:path>
              </a:pathLst>
            </a:custGeom>
            <a:solidFill>
              <a:srgbClr val="CADCFC"/>
            </a:solidFill>
          </p:spPr>
        </p:sp>
      </p:grpSp>
      <p:grpSp>
        <p:nvGrpSpPr>
          <p:cNvPr name="Group 80" id="80"/>
          <p:cNvGrpSpPr/>
          <p:nvPr/>
        </p:nvGrpSpPr>
        <p:grpSpPr>
          <a:xfrm rot="0">
            <a:off x="2377440" y="8522208"/>
            <a:ext cx="6400800" cy="493776"/>
            <a:chOff x="0" y="0"/>
            <a:chExt cx="8534400" cy="658368"/>
          </a:xfrm>
        </p:grpSpPr>
        <p:sp>
          <p:nvSpPr>
            <p:cNvPr name="Freeform 81" id="81"/>
            <p:cNvSpPr/>
            <p:nvPr/>
          </p:nvSpPr>
          <p:spPr>
            <a:xfrm flipH="false" flipV="false" rot="0">
              <a:off x="0" y="0"/>
              <a:ext cx="8534400" cy="658368"/>
            </a:xfrm>
            <a:custGeom>
              <a:avLst/>
              <a:gdLst/>
              <a:ahLst/>
              <a:cxnLst/>
              <a:rect r="r" b="b" t="t" l="l"/>
              <a:pathLst>
                <a:path h="658368" w="8534400">
                  <a:moveTo>
                    <a:pt x="0" y="0"/>
                  </a:moveTo>
                  <a:lnTo>
                    <a:pt x="8534400" y="0"/>
                  </a:lnTo>
                  <a:lnTo>
                    <a:pt x="8534400" y="658368"/>
                  </a:lnTo>
                  <a:lnTo>
                    <a:pt x="0" y="658368"/>
                  </a:lnTo>
                  <a:close/>
                </a:path>
              </a:pathLst>
            </a:custGeom>
            <a:blipFill>
              <a:blip r:embed="rId3">
                <a:alphaModFix amt="0"/>
              </a:blip>
              <a:stretch>
                <a:fillRect l="0" t="-202583" r="0" b="-202583"/>
              </a:stretch>
            </a:blipFill>
          </p:spPr>
        </p:sp>
        <p:sp>
          <p:nvSpPr>
            <p:cNvPr name="TextBox 82" id="82"/>
            <p:cNvSpPr txBox="true"/>
            <p:nvPr/>
          </p:nvSpPr>
          <p:spPr>
            <a:xfrm>
              <a:off x="0" y="-38100"/>
              <a:ext cx="8534400" cy="696468"/>
            </a:xfrm>
            <a:prstGeom prst="rect">
              <a:avLst/>
            </a:prstGeom>
          </p:spPr>
          <p:txBody>
            <a:bodyPr anchor="ctr" rtlCol="false" tIns="0" lIns="0" bIns="0" rIns="0"/>
            <a:lstStyle/>
            <a:p>
              <a:pPr algn="l">
                <a:lnSpc>
                  <a:spcPts val="2879"/>
                </a:lnSpc>
              </a:pPr>
              <a:r>
                <a:rPr lang="en-US" sz="2400" b="true">
                  <a:solidFill>
                    <a:srgbClr val="1E2761"/>
                  </a:solidFill>
                  <a:latin typeface="Calibri (MS) Bold"/>
                  <a:ea typeface="Calibri (MS) Bold"/>
                  <a:cs typeface="Calibri (MS) Bold"/>
                  <a:sym typeface="Calibri (MS) Bold"/>
                </a:rPr>
                <a:t>Conclusions</a:t>
              </a:r>
            </a:p>
          </p:txBody>
        </p:sp>
      </p:grpSp>
      <p:grpSp>
        <p:nvGrpSpPr>
          <p:cNvPr name="Group 83" id="83"/>
          <p:cNvGrpSpPr/>
          <p:nvPr/>
        </p:nvGrpSpPr>
        <p:grpSpPr>
          <a:xfrm rot="0">
            <a:off x="2377440" y="8942832"/>
            <a:ext cx="14630400" cy="457200"/>
            <a:chOff x="0" y="0"/>
            <a:chExt cx="19507200" cy="609600"/>
          </a:xfrm>
        </p:grpSpPr>
        <p:sp>
          <p:nvSpPr>
            <p:cNvPr name="Freeform 84" id="84"/>
            <p:cNvSpPr/>
            <p:nvPr/>
          </p:nvSpPr>
          <p:spPr>
            <a:xfrm flipH="false" flipV="false" rot="0">
              <a:off x="0" y="0"/>
              <a:ext cx="19507200" cy="609600"/>
            </a:xfrm>
            <a:custGeom>
              <a:avLst/>
              <a:gdLst/>
              <a:ahLst/>
              <a:cxnLst/>
              <a:rect r="r" b="b" t="t" l="l"/>
              <a:pathLst>
                <a:path h="609600" w="19507200">
                  <a:moveTo>
                    <a:pt x="0" y="0"/>
                  </a:moveTo>
                  <a:lnTo>
                    <a:pt x="19507200" y="0"/>
                  </a:lnTo>
                  <a:lnTo>
                    <a:pt x="19507200" y="609600"/>
                  </a:lnTo>
                  <a:lnTo>
                    <a:pt x="0" y="609600"/>
                  </a:lnTo>
                  <a:close/>
                </a:path>
              </a:pathLst>
            </a:custGeom>
            <a:blipFill>
              <a:blip r:embed="rId3">
                <a:alphaModFix amt="0"/>
              </a:blip>
              <a:stretch>
                <a:fillRect l="0" t="-573521" r="0" b="-573521"/>
              </a:stretch>
            </a:blipFill>
          </p:spPr>
        </p:sp>
        <p:sp>
          <p:nvSpPr>
            <p:cNvPr name="TextBox 85" id="85"/>
            <p:cNvSpPr txBox="true"/>
            <p:nvPr/>
          </p:nvSpPr>
          <p:spPr>
            <a:xfrm>
              <a:off x="0" y="-38100"/>
              <a:ext cx="19507200" cy="647700"/>
            </a:xfrm>
            <a:prstGeom prst="rect">
              <a:avLst/>
            </a:prstGeom>
          </p:spPr>
          <p:txBody>
            <a:bodyPr anchor="ctr" rtlCol="false" tIns="0" lIns="0" bIns="0" rIns="0"/>
            <a:lstStyle/>
            <a:p>
              <a:pPr algn="l">
                <a:lnSpc>
                  <a:spcPts val="2160"/>
                </a:lnSpc>
              </a:pPr>
              <a:r>
                <a:rPr lang="en-US" sz="1800">
                  <a:solidFill>
                    <a:srgbClr val="64748B"/>
                  </a:solidFill>
                  <a:latin typeface="Calibri (MS)"/>
                  <a:ea typeface="Calibri (MS)"/>
                  <a:cs typeface="Calibri (MS)"/>
                  <a:sym typeface="Calibri (MS)"/>
                </a:rPr>
                <a:t>Key findings</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183947" y="492509"/>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196644" y="468630"/>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DATA</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Data Description &amp; Variable Justification</a:t>
              </a:r>
            </a:p>
          </p:txBody>
        </p:sp>
      </p:grpSp>
      <p:grpSp>
        <p:nvGrpSpPr>
          <p:cNvPr name="Group 11" id="11"/>
          <p:cNvGrpSpPr/>
          <p:nvPr/>
        </p:nvGrpSpPr>
        <p:grpSpPr>
          <a:xfrm rot="0">
            <a:off x="901703" y="2730503"/>
            <a:ext cx="5328923" cy="848363"/>
            <a:chOff x="0" y="0"/>
            <a:chExt cx="7105231" cy="1131151"/>
          </a:xfrm>
        </p:grpSpPr>
        <p:sp>
          <p:nvSpPr>
            <p:cNvPr name="Freeform 12" id="12"/>
            <p:cNvSpPr/>
            <p:nvPr/>
          </p:nvSpPr>
          <p:spPr>
            <a:xfrm flipH="false" flipV="false" rot="0">
              <a:off x="16891" y="16891"/>
              <a:ext cx="7071360" cy="1097280"/>
            </a:xfrm>
            <a:custGeom>
              <a:avLst/>
              <a:gdLst/>
              <a:ahLst/>
              <a:cxnLst/>
              <a:rect r="r" b="b" t="t" l="l"/>
              <a:pathLst>
                <a:path h="1097280" w="7071360">
                  <a:moveTo>
                    <a:pt x="0" y="0"/>
                  </a:moveTo>
                  <a:lnTo>
                    <a:pt x="7071360" y="0"/>
                  </a:lnTo>
                  <a:lnTo>
                    <a:pt x="7071360" y="1097280"/>
                  </a:lnTo>
                  <a:lnTo>
                    <a:pt x="0" y="1097280"/>
                  </a:lnTo>
                  <a:close/>
                </a:path>
              </a:pathLst>
            </a:custGeom>
            <a:solidFill>
              <a:srgbClr val="1E2761"/>
            </a:solidFill>
          </p:spPr>
        </p:sp>
        <p:sp>
          <p:nvSpPr>
            <p:cNvPr name="Freeform 13" id="13"/>
            <p:cNvSpPr/>
            <p:nvPr/>
          </p:nvSpPr>
          <p:spPr>
            <a:xfrm flipH="false" flipV="false" rot="0">
              <a:off x="0" y="0"/>
              <a:ext cx="7105142" cy="1131064"/>
            </a:xfrm>
            <a:custGeom>
              <a:avLst/>
              <a:gdLst/>
              <a:ahLst/>
              <a:cxnLst/>
              <a:rect r="r" b="b" t="t" l="l"/>
              <a:pathLst>
                <a:path h="1131064" w="7105142">
                  <a:moveTo>
                    <a:pt x="16891" y="0"/>
                  </a:moveTo>
                  <a:lnTo>
                    <a:pt x="7088251" y="0"/>
                  </a:lnTo>
                  <a:cubicBezTo>
                    <a:pt x="7097649" y="0"/>
                    <a:pt x="7105142" y="7620"/>
                    <a:pt x="7105142" y="16891"/>
                  </a:cubicBezTo>
                  <a:lnTo>
                    <a:pt x="7105142" y="1114171"/>
                  </a:lnTo>
                  <a:cubicBezTo>
                    <a:pt x="7105142" y="1123569"/>
                    <a:pt x="7097522" y="1131062"/>
                    <a:pt x="708825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088251" y="1097280"/>
                  </a:lnTo>
                  <a:lnTo>
                    <a:pt x="7088251" y="1114171"/>
                  </a:lnTo>
                  <a:lnTo>
                    <a:pt x="7071360" y="1114171"/>
                  </a:lnTo>
                  <a:lnTo>
                    <a:pt x="7071360" y="16891"/>
                  </a:lnTo>
                  <a:lnTo>
                    <a:pt x="7088251" y="16891"/>
                  </a:lnTo>
                  <a:lnTo>
                    <a:pt x="7088251" y="33909"/>
                  </a:lnTo>
                  <a:lnTo>
                    <a:pt x="16891" y="33909"/>
                  </a:lnTo>
                  <a:close/>
                </a:path>
              </a:pathLst>
            </a:custGeom>
            <a:solidFill>
              <a:srgbClr val="1E2761"/>
            </a:solidFill>
          </p:spPr>
        </p:sp>
      </p:grpSp>
      <p:grpSp>
        <p:nvGrpSpPr>
          <p:cNvPr name="Group 14" id="14"/>
          <p:cNvGrpSpPr/>
          <p:nvPr/>
        </p:nvGrpSpPr>
        <p:grpSpPr>
          <a:xfrm rot="0">
            <a:off x="1097280" y="2743200"/>
            <a:ext cx="5029200" cy="822960"/>
            <a:chOff x="0" y="0"/>
            <a:chExt cx="6705600" cy="1097280"/>
          </a:xfrm>
        </p:grpSpPr>
        <p:sp>
          <p:nvSpPr>
            <p:cNvPr name="Freeform 15" id="15"/>
            <p:cNvSpPr/>
            <p:nvPr/>
          </p:nvSpPr>
          <p:spPr>
            <a:xfrm flipH="false" flipV="false" rot="0">
              <a:off x="0" y="0"/>
              <a:ext cx="6705600" cy="1097280"/>
            </a:xfrm>
            <a:custGeom>
              <a:avLst/>
              <a:gdLst/>
              <a:ahLst/>
              <a:cxnLst/>
              <a:rect r="r" b="b" t="t" l="l"/>
              <a:pathLst>
                <a:path h="1097280" w="6705600">
                  <a:moveTo>
                    <a:pt x="0" y="0"/>
                  </a:moveTo>
                  <a:lnTo>
                    <a:pt x="6705600" y="0"/>
                  </a:lnTo>
                  <a:lnTo>
                    <a:pt x="6705600" y="1097280"/>
                  </a:lnTo>
                  <a:lnTo>
                    <a:pt x="0" y="1097280"/>
                  </a:lnTo>
                  <a:close/>
                </a:path>
              </a:pathLst>
            </a:custGeom>
            <a:blipFill>
              <a:blip r:embed="rId3">
                <a:alphaModFix amt="0"/>
              </a:blip>
              <a:stretch>
                <a:fillRect l="0" t="-69075" r="0" b="-69075"/>
              </a:stretch>
            </a:blipFill>
          </p:spPr>
        </p:sp>
        <p:sp>
          <p:nvSpPr>
            <p:cNvPr name="TextBox 16" id="16"/>
            <p:cNvSpPr txBox="true"/>
            <p:nvPr/>
          </p:nvSpPr>
          <p:spPr>
            <a:xfrm>
              <a:off x="0" y="-47625"/>
              <a:ext cx="6705600" cy="114490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MSFT — Microsoft Corp.</a:t>
              </a:r>
            </a:p>
          </p:txBody>
        </p:sp>
      </p:grpSp>
      <p:grpSp>
        <p:nvGrpSpPr>
          <p:cNvPr name="Group 17" id="17"/>
          <p:cNvGrpSpPr/>
          <p:nvPr/>
        </p:nvGrpSpPr>
        <p:grpSpPr>
          <a:xfrm rot="0">
            <a:off x="901703" y="3553463"/>
            <a:ext cx="5328923" cy="1405633"/>
            <a:chOff x="0" y="0"/>
            <a:chExt cx="7105231" cy="1874177"/>
          </a:xfrm>
        </p:grpSpPr>
        <p:sp>
          <p:nvSpPr>
            <p:cNvPr name="Freeform 18" id="18"/>
            <p:cNvSpPr/>
            <p:nvPr/>
          </p:nvSpPr>
          <p:spPr>
            <a:xfrm flipH="false" flipV="false" rot="0">
              <a:off x="16891" y="8301"/>
              <a:ext cx="7071360" cy="1857530"/>
            </a:xfrm>
            <a:custGeom>
              <a:avLst/>
              <a:gdLst/>
              <a:ahLst/>
              <a:cxnLst/>
              <a:rect r="r" b="b" t="t" l="l"/>
              <a:pathLst>
                <a:path h="1857530" w="7071360">
                  <a:moveTo>
                    <a:pt x="0" y="0"/>
                  </a:moveTo>
                  <a:lnTo>
                    <a:pt x="7071360" y="0"/>
                  </a:lnTo>
                  <a:lnTo>
                    <a:pt x="7071360" y="1857531"/>
                  </a:lnTo>
                  <a:lnTo>
                    <a:pt x="0" y="1857531"/>
                  </a:lnTo>
                  <a:close/>
                </a:path>
              </a:pathLst>
            </a:custGeom>
            <a:solidFill>
              <a:srgbClr val="E8F0FE"/>
            </a:solidFill>
          </p:spPr>
        </p:sp>
        <p:sp>
          <p:nvSpPr>
            <p:cNvPr name="Freeform 19" id="19"/>
            <p:cNvSpPr/>
            <p:nvPr/>
          </p:nvSpPr>
          <p:spPr>
            <a:xfrm flipH="false" flipV="false" rot="0">
              <a:off x="0" y="0"/>
              <a:ext cx="7105142" cy="1874133"/>
            </a:xfrm>
            <a:custGeom>
              <a:avLst/>
              <a:gdLst/>
              <a:ahLst/>
              <a:cxnLst/>
              <a:rect r="r" b="b" t="t" l="l"/>
              <a:pathLst>
                <a:path h="1874133" w="7105142">
                  <a:moveTo>
                    <a:pt x="16891" y="0"/>
                  </a:moveTo>
                  <a:lnTo>
                    <a:pt x="7088251" y="0"/>
                  </a:lnTo>
                  <a:cubicBezTo>
                    <a:pt x="7097649" y="0"/>
                    <a:pt x="7105142" y="3745"/>
                    <a:pt x="7105142" y="8301"/>
                  </a:cubicBezTo>
                  <a:lnTo>
                    <a:pt x="7105142" y="1865832"/>
                  </a:lnTo>
                  <a:cubicBezTo>
                    <a:pt x="7105142" y="1870451"/>
                    <a:pt x="7097522" y="1874133"/>
                    <a:pt x="7088251" y="1874133"/>
                  </a:cubicBezTo>
                  <a:lnTo>
                    <a:pt x="16891" y="1874133"/>
                  </a:lnTo>
                  <a:cubicBezTo>
                    <a:pt x="7493" y="1874133"/>
                    <a:pt x="0" y="1870388"/>
                    <a:pt x="0" y="1865832"/>
                  </a:cubicBezTo>
                  <a:lnTo>
                    <a:pt x="0" y="8301"/>
                  </a:lnTo>
                  <a:cubicBezTo>
                    <a:pt x="0" y="3745"/>
                    <a:pt x="7620" y="0"/>
                    <a:pt x="16891" y="0"/>
                  </a:cubicBezTo>
                  <a:moveTo>
                    <a:pt x="16891" y="16665"/>
                  </a:moveTo>
                  <a:lnTo>
                    <a:pt x="16891" y="8301"/>
                  </a:lnTo>
                  <a:lnTo>
                    <a:pt x="33909" y="8301"/>
                  </a:lnTo>
                  <a:lnTo>
                    <a:pt x="33909" y="1865832"/>
                  </a:lnTo>
                  <a:lnTo>
                    <a:pt x="16891" y="1865832"/>
                  </a:lnTo>
                  <a:lnTo>
                    <a:pt x="16891" y="1857531"/>
                  </a:lnTo>
                  <a:lnTo>
                    <a:pt x="7088251" y="1857531"/>
                  </a:lnTo>
                  <a:lnTo>
                    <a:pt x="7088251" y="1865832"/>
                  </a:lnTo>
                  <a:lnTo>
                    <a:pt x="7071360" y="1865832"/>
                  </a:lnTo>
                  <a:lnTo>
                    <a:pt x="7071360" y="8301"/>
                  </a:lnTo>
                  <a:lnTo>
                    <a:pt x="7088251" y="8301"/>
                  </a:lnTo>
                  <a:lnTo>
                    <a:pt x="7088251" y="16665"/>
                  </a:lnTo>
                  <a:lnTo>
                    <a:pt x="16891" y="16665"/>
                  </a:lnTo>
                  <a:close/>
                </a:path>
              </a:pathLst>
            </a:custGeom>
            <a:solidFill>
              <a:srgbClr val="CADCFC"/>
            </a:solidFill>
          </p:spPr>
        </p:sp>
      </p:grpSp>
      <p:grpSp>
        <p:nvGrpSpPr>
          <p:cNvPr name="Group 20" id="20"/>
          <p:cNvGrpSpPr/>
          <p:nvPr/>
        </p:nvGrpSpPr>
        <p:grpSpPr>
          <a:xfrm rot="0">
            <a:off x="6570983" y="2730503"/>
            <a:ext cx="5328923" cy="848363"/>
            <a:chOff x="0" y="0"/>
            <a:chExt cx="7105231" cy="1131151"/>
          </a:xfrm>
        </p:grpSpPr>
        <p:sp>
          <p:nvSpPr>
            <p:cNvPr name="Freeform 21" id="21"/>
            <p:cNvSpPr/>
            <p:nvPr/>
          </p:nvSpPr>
          <p:spPr>
            <a:xfrm flipH="false" flipV="false" rot="0">
              <a:off x="16891" y="16891"/>
              <a:ext cx="7071360" cy="1097280"/>
            </a:xfrm>
            <a:custGeom>
              <a:avLst/>
              <a:gdLst/>
              <a:ahLst/>
              <a:cxnLst/>
              <a:rect r="r" b="b" t="t" l="l"/>
              <a:pathLst>
                <a:path h="1097280" w="7071360">
                  <a:moveTo>
                    <a:pt x="0" y="0"/>
                  </a:moveTo>
                  <a:lnTo>
                    <a:pt x="7071360" y="0"/>
                  </a:lnTo>
                  <a:lnTo>
                    <a:pt x="7071360" y="1097280"/>
                  </a:lnTo>
                  <a:lnTo>
                    <a:pt x="0" y="1097280"/>
                  </a:lnTo>
                  <a:close/>
                </a:path>
              </a:pathLst>
            </a:custGeom>
            <a:solidFill>
              <a:srgbClr val="0369A1"/>
            </a:solidFill>
          </p:spPr>
        </p:sp>
        <p:sp>
          <p:nvSpPr>
            <p:cNvPr name="Freeform 22" id="22"/>
            <p:cNvSpPr/>
            <p:nvPr/>
          </p:nvSpPr>
          <p:spPr>
            <a:xfrm flipH="false" flipV="false" rot="0">
              <a:off x="0" y="0"/>
              <a:ext cx="7105142" cy="1131064"/>
            </a:xfrm>
            <a:custGeom>
              <a:avLst/>
              <a:gdLst/>
              <a:ahLst/>
              <a:cxnLst/>
              <a:rect r="r" b="b" t="t" l="l"/>
              <a:pathLst>
                <a:path h="1131064" w="7105142">
                  <a:moveTo>
                    <a:pt x="16891" y="0"/>
                  </a:moveTo>
                  <a:lnTo>
                    <a:pt x="7088251" y="0"/>
                  </a:lnTo>
                  <a:cubicBezTo>
                    <a:pt x="7097649" y="0"/>
                    <a:pt x="7105142" y="7620"/>
                    <a:pt x="7105142" y="16891"/>
                  </a:cubicBezTo>
                  <a:lnTo>
                    <a:pt x="7105142" y="1114171"/>
                  </a:lnTo>
                  <a:cubicBezTo>
                    <a:pt x="7105142" y="1123569"/>
                    <a:pt x="7097522" y="1131062"/>
                    <a:pt x="708825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088251" y="1097280"/>
                  </a:lnTo>
                  <a:lnTo>
                    <a:pt x="7088251" y="1114171"/>
                  </a:lnTo>
                  <a:lnTo>
                    <a:pt x="7071360" y="1114171"/>
                  </a:lnTo>
                  <a:lnTo>
                    <a:pt x="7071360" y="16891"/>
                  </a:lnTo>
                  <a:lnTo>
                    <a:pt x="7088251" y="16891"/>
                  </a:lnTo>
                  <a:lnTo>
                    <a:pt x="7088251" y="33909"/>
                  </a:lnTo>
                  <a:lnTo>
                    <a:pt x="16891" y="33909"/>
                  </a:lnTo>
                  <a:close/>
                </a:path>
              </a:pathLst>
            </a:custGeom>
            <a:solidFill>
              <a:srgbClr val="0369A1"/>
            </a:solidFill>
          </p:spPr>
        </p:sp>
      </p:grpSp>
      <p:grpSp>
        <p:nvGrpSpPr>
          <p:cNvPr name="Group 23" id="23"/>
          <p:cNvGrpSpPr/>
          <p:nvPr/>
        </p:nvGrpSpPr>
        <p:grpSpPr>
          <a:xfrm rot="0">
            <a:off x="6766560" y="2743200"/>
            <a:ext cx="5029200" cy="822960"/>
            <a:chOff x="0" y="0"/>
            <a:chExt cx="6705600" cy="1097280"/>
          </a:xfrm>
        </p:grpSpPr>
        <p:sp>
          <p:nvSpPr>
            <p:cNvPr name="Freeform 24" id="24"/>
            <p:cNvSpPr/>
            <p:nvPr/>
          </p:nvSpPr>
          <p:spPr>
            <a:xfrm flipH="false" flipV="false" rot="0">
              <a:off x="0" y="0"/>
              <a:ext cx="6705600" cy="1097280"/>
            </a:xfrm>
            <a:custGeom>
              <a:avLst/>
              <a:gdLst/>
              <a:ahLst/>
              <a:cxnLst/>
              <a:rect r="r" b="b" t="t" l="l"/>
              <a:pathLst>
                <a:path h="1097280" w="6705600">
                  <a:moveTo>
                    <a:pt x="0" y="0"/>
                  </a:moveTo>
                  <a:lnTo>
                    <a:pt x="6705600" y="0"/>
                  </a:lnTo>
                  <a:lnTo>
                    <a:pt x="6705600" y="1097280"/>
                  </a:lnTo>
                  <a:lnTo>
                    <a:pt x="0" y="1097280"/>
                  </a:lnTo>
                  <a:close/>
                </a:path>
              </a:pathLst>
            </a:custGeom>
            <a:blipFill>
              <a:blip r:embed="rId3">
                <a:alphaModFix amt="0"/>
              </a:blip>
              <a:stretch>
                <a:fillRect l="0" t="-69075" r="0" b="-69075"/>
              </a:stretch>
            </a:blipFill>
          </p:spPr>
        </p:sp>
        <p:sp>
          <p:nvSpPr>
            <p:cNvPr name="TextBox 25" id="25"/>
            <p:cNvSpPr txBox="true"/>
            <p:nvPr/>
          </p:nvSpPr>
          <p:spPr>
            <a:xfrm>
              <a:off x="0" y="-47625"/>
              <a:ext cx="6705600" cy="114490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SP500 — S&amp;P 500 Index</a:t>
              </a:r>
            </a:p>
          </p:txBody>
        </p:sp>
      </p:grpSp>
      <p:grpSp>
        <p:nvGrpSpPr>
          <p:cNvPr name="Group 26" id="26"/>
          <p:cNvGrpSpPr/>
          <p:nvPr/>
        </p:nvGrpSpPr>
        <p:grpSpPr>
          <a:xfrm rot="0">
            <a:off x="6570983" y="3553463"/>
            <a:ext cx="5328923" cy="1426985"/>
            <a:chOff x="0" y="0"/>
            <a:chExt cx="7105231" cy="1902647"/>
          </a:xfrm>
        </p:grpSpPr>
        <p:sp>
          <p:nvSpPr>
            <p:cNvPr name="Freeform 27" id="27"/>
            <p:cNvSpPr/>
            <p:nvPr/>
          </p:nvSpPr>
          <p:spPr>
            <a:xfrm flipH="false" flipV="false" rot="0">
              <a:off x="16891" y="8428"/>
              <a:ext cx="7071360" cy="1885747"/>
            </a:xfrm>
            <a:custGeom>
              <a:avLst/>
              <a:gdLst/>
              <a:ahLst/>
              <a:cxnLst/>
              <a:rect r="r" b="b" t="t" l="l"/>
              <a:pathLst>
                <a:path h="1885747" w="7071360">
                  <a:moveTo>
                    <a:pt x="0" y="0"/>
                  </a:moveTo>
                  <a:lnTo>
                    <a:pt x="7071360" y="0"/>
                  </a:lnTo>
                  <a:lnTo>
                    <a:pt x="7071360" y="1885747"/>
                  </a:lnTo>
                  <a:lnTo>
                    <a:pt x="0" y="1885747"/>
                  </a:lnTo>
                  <a:close/>
                </a:path>
              </a:pathLst>
            </a:custGeom>
            <a:solidFill>
              <a:srgbClr val="E8F0FE"/>
            </a:solidFill>
          </p:spPr>
        </p:sp>
        <p:sp>
          <p:nvSpPr>
            <p:cNvPr name="Freeform 28" id="28"/>
            <p:cNvSpPr/>
            <p:nvPr/>
          </p:nvSpPr>
          <p:spPr>
            <a:xfrm flipH="false" flipV="false" rot="0">
              <a:off x="0" y="0"/>
              <a:ext cx="7105142" cy="1902603"/>
            </a:xfrm>
            <a:custGeom>
              <a:avLst/>
              <a:gdLst/>
              <a:ahLst/>
              <a:cxnLst/>
              <a:rect r="r" b="b" t="t" l="l"/>
              <a:pathLst>
                <a:path h="1902603" w="7105142">
                  <a:moveTo>
                    <a:pt x="16891" y="0"/>
                  </a:moveTo>
                  <a:lnTo>
                    <a:pt x="7088251" y="0"/>
                  </a:lnTo>
                  <a:cubicBezTo>
                    <a:pt x="7097649" y="0"/>
                    <a:pt x="7105142" y="3802"/>
                    <a:pt x="7105142" y="8428"/>
                  </a:cubicBezTo>
                  <a:lnTo>
                    <a:pt x="7105142" y="1894175"/>
                  </a:lnTo>
                  <a:cubicBezTo>
                    <a:pt x="7105142" y="1898864"/>
                    <a:pt x="7097522" y="1902603"/>
                    <a:pt x="7088251" y="1902603"/>
                  </a:cubicBezTo>
                  <a:lnTo>
                    <a:pt x="16891" y="1902603"/>
                  </a:lnTo>
                  <a:cubicBezTo>
                    <a:pt x="7493" y="1902603"/>
                    <a:pt x="0" y="1898801"/>
                    <a:pt x="0" y="1894175"/>
                  </a:cubicBezTo>
                  <a:lnTo>
                    <a:pt x="0" y="8428"/>
                  </a:lnTo>
                  <a:cubicBezTo>
                    <a:pt x="0" y="3802"/>
                    <a:pt x="7620" y="0"/>
                    <a:pt x="16891" y="0"/>
                  </a:cubicBezTo>
                  <a:moveTo>
                    <a:pt x="16891" y="16919"/>
                  </a:moveTo>
                  <a:lnTo>
                    <a:pt x="16891" y="8428"/>
                  </a:lnTo>
                  <a:lnTo>
                    <a:pt x="33909" y="8428"/>
                  </a:lnTo>
                  <a:lnTo>
                    <a:pt x="33909" y="1894175"/>
                  </a:lnTo>
                  <a:lnTo>
                    <a:pt x="16891" y="1894175"/>
                  </a:lnTo>
                  <a:lnTo>
                    <a:pt x="16891" y="1885747"/>
                  </a:lnTo>
                  <a:lnTo>
                    <a:pt x="7088251" y="1885747"/>
                  </a:lnTo>
                  <a:lnTo>
                    <a:pt x="7088251" y="1894175"/>
                  </a:lnTo>
                  <a:lnTo>
                    <a:pt x="7071360" y="1894175"/>
                  </a:lnTo>
                  <a:lnTo>
                    <a:pt x="7071360" y="8428"/>
                  </a:lnTo>
                  <a:lnTo>
                    <a:pt x="7088251" y="8428"/>
                  </a:lnTo>
                  <a:lnTo>
                    <a:pt x="7088251" y="16919"/>
                  </a:lnTo>
                  <a:lnTo>
                    <a:pt x="16891" y="16919"/>
                  </a:lnTo>
                  <a:close/>
                </a:path>
              </a:pathLst>
            </a:custGeom>
            <a:solidFill>
              <a:srgbClr val="CADCFC"/>
            </a:solidFill>
          </p:spPr>
        </p:sp>
      </p:grpSp>
      <p:grpSp>
        <p:nvGrpSpPr>
          <p:cNvPr name="Group 29" id="29"/>
          <p:cNvGrpSpPr/>
          <p:nvPr/>
        </p:nvGrpSpPr>
        <p:grpSpPr>
          <a:xfrm rot="0">
            <a:off x="12287888" y="2730503"/>
            <a:ext cx="5328923" cy="848363"/>
            <a:chOff x="0" y="0"/>
            <a:chExt cx="7105231" cy="1131151"/>
          </a:xfrm>
        </p:grpSpPr>
        <p:sp>
          <p:nvSpPr>
            <p:cNvPr name="Freeform 30" id="30"/>
            <p:cNvSpPr/>
            <p:nvPr/>
          </p:nvSpPr>
          <p:spPr>
            <a:xfrm flipH="false" flipV="false" rot="0">
              <a:off x="16891" y="16891"/>
              <a:ext cx="7071360" cy="1097280"/>
            </a:xfrm>
            <a:custGeom>
              <a:avLst/>
              <a:gdLst/>
              <a:ahLst/>
              <a:cxnLst/>
              <a:rect r="r" b="b" t="t" l="l"/>
              <a:pathLst>
                <a:path h="1097280" w="7071360">
                  <a:moveTo>
                    <a:pt x="0" y="0"/>
                  </a:moveTo>
                  <a:lnTo>
                    <a:pt x="7071360" y="0"/>
                  </a:lnTo>
                  <a:lnTo>
                    <a:pt x="7071360" y="1097280"/>
                  </a:lnTo>
                  <a:lnTo>
                    <a:pt x="0" y="1097280"/>
                  </a:lnTo>
                  <a:close/>
                </a:path>
              </a:pathLst>
            </a:custGeom>
            <a:solidFill>
              <a:srgbClr val="7C3AED"/>
            </a:solidFill>
          </p:spPr>
        </p:sp>
        <p:sp>
          <p:nvSpPr>
            <p:cNvPr name="Freeform 31" id="31"/>
            <p:cNvSpPr/>
            <p:nvPr/>
          </p:nvSpPr>
          <p:spPr>
            <a:xfrm flipH="false" flipV="false" rot="0">
              <a:off x="0" y="0"/>
              <a:ext cx="7105142" cy="1131064"/>
            </a:xfrm>
            <a:custGeom>
              <a:avLst/>
              <a:gdLst/>
              <a:ahLst/>
              <a:cxnLst/>
              <a:rect r="r" b="b" t="t" l="l"/>
              <a:pathLst>
                <a:path h="1131064" w="7105142">
                  <a:moveTo>
                    <a:pt x="16891" y="0"/>
                  </a:moveTo>
                  <a:lnTo>
                    <a:pt x="7088251" y="0"/>
                  </a:lnTo>
                  <a:cubicBezTo>
                    <a:pt x="7097649" y="0"/>
                    <a:pt x="7105142" y="7620"/>
                    <a:pt x="7105142" y="16891"/>
                  </a:cubicBezTo>
                  <a:lnTo>
                    <a:pt x="7105142" y="1114171"/>
                  </a:lnTo>
                  <a:cubicBezTo>
                    <a:pt x="7105142" y="1123569"/>
                    <a:pt x="7097522" y="1131062"/>
                    <a:pt x="7088251" y="1131062"/>
                  </a:cubicBezTo>
                  <a:lnTo>
                    <a:pt x="16891" y="1131062"/>
                  </a:lnTo>
                  <a:cubicBezTo>
                    <a:pt x="7620" y="1131189"/>
                    <a:pt x="0" y="1123569"/>
                    <a:pt x="0" y="1114171"/>
                  </a:cubicBezTo>
                  <a:lnTo>
                    <a:pt x="0" y="16891"/>
                  </a:lnTo>
                  <a:cubicBezTo>
                    <a:pt x="0" y="7620"/>
                    <a:pt x="7620" y="0"/>
                    <a:pt x="16891" y="0"/>
                  </a:cubicBezTo>
                  <a:moveTo>
                    <a:pt x="16891" y="33909"/>
                  </a:moveTo>
                  <a:lnTo>
                    <a:pt x="16891" y="16891"/>
                  </a:lnTo>
                  <a:lnTo>
                    <a:pt x="33909" y="16891"/>
                  </a:lnTo>
                  <a:lnTo>
                    <a:pt x="33909" y="1114171"/>
                  </a:lnTo>
                  <a:lnTo>
                    <a:pt x="16891" y="1114171"/>
                  </a:lnTo>
                  <a:lnTo>
                    <a:pt x="16891" y="1097280"/>
                  </a:lnTo>
                  <a:lnTo>
                    <a:pt x="7088251" y="1097280"/>
                  </a:lnTo>
                  <a:lnTo>
                    <a:pt x="7088251" y="1114171"/>
                  </a:lnTo>
                  <a:lnTo>
                    <a:pt x="7071360" y="1114171"/>
                  </a:lnTo>
                  <a:lnTo>
                    <a:pt x="7071360" y="16891"/>
                  </a:lnTo>
                  <a:lnTo>
                    <a:pt x="7088251" y="16891"/>
                  </a:lnTo>
                  <a:lnTo>
                    <a:pt x="7088251" y="33909"/>
                  </a:lnTo>
                  <a:lnTo>
                    <a:pt x="16891" y="33909"/>
                  </a:lnTo>
                  <a:close/>
                </a:path>
              </a:pathLst>
            </a:custGeom>
            <a:solidFill>
              <a:srgbClr val="7C3AED"/>
            </a:solidFill>
          </p:spPr>
        </p:sp>
      </p:grpSp>
      <p:grpSp>
        <p:nvGrpSpPr>
          <p:cNvPr name="Group 32" id="32"/>
          <p:cNvGrpSpPr/>
          <p:nvPr/>
        </p:nvGrpSpPr>
        <p:grpSpPr>
          <a:xfrm rot="0">
            <a:off x="12483465" y="2743200"/>
            <a:ext cx="5029200" cy="822960"/>
            <a:chOff x="0" y="0"/>
            <a:chExt cx="6705600" cy="1097280"/>
          </a:xfrm>
        </p:grpSpPr>
        <p:sp>
          <p:nvSpPr>
            <p:cNvPr name="Freeform 33" id="33"/>
            <p:cNvSpPr/>
            <p:nvPr/>
          </p:nvSpPr>
          <p:spPr>
            <a:xfrm flipH="false" flipV="false" rot="0">
              <a:off x="0" y="0"/>
              <a:ext cx="6705600" cy="1097280"/>
            </a:xfrm>
            <a:custGeom>
              <a:avLst/>
              <a:gdLst/>
              <a:ahLst/>
              <a:cxnLst/>
              <a:rect r="r" b="b" t="t" l="l"/>
              <a:pathLst>
                <a:path h="1097280" w="6705600">
                  <a:moveTo>
                    <a:pt x="0" y="0"/>
                  </a:moveTo>
                  <a:lnTo>
                    <a:pt x="6705600" y="0"/>
                  </a:lnTo>
                  <a:lnTo>
                    <a:pt x="6705600" y="1097280"/>
                  </a:lnTo>
                  <a:lnTo>
                    <a:pt x="0" y="1097280"/>
                  </a:lnTo>
                  <a:close/>
                </a:path>
              </a:pathLst>
            </a:custGeom>
            <a:blipFill>
              <a:blip r:embed="rId3">
                <a:alphaModFix amt="0"/>
              </a:blip>
              <a:stretch>
                <a:fillRect l="0" t="-69075" r="0" b="-69075"/>
              </a:stretch>
            </a:blipFill>
          </p:spPr>
        </p:sp>
        <p:sp>
          <p:nvSpPr>
            <p:cNvPr name="TextBox 34" id="34"/>
            <p:cNvSpPr txBox="true"/>
            <p:nvPr/>
          </p:nvSpPr>
          <p:spPr>
            <a:xfrm>
              <a:off x="0" y="-47625"/>
              <a:ext cx="6705600" cy="1144905"/>
            </a:xfrm>
            <a:prstGeom prst="rect">
              <a:avLst/>
            </a:prstGeom>
          </p:spPr>
          <p:txBody>
            <a:bodyPr anchor="ctr" rtlCol="false" tIns="0" lIns="0" bIns="0" rIns="0"/>
            <a:lstStyle/>
            <a:p>
              <a:pPr algn="ctr">
                <a:lnSpc>
                  <a:spcPts val="2999"/>
                </a:lnSpc>
              </a:pPr>
              <a:r>
                <a:rPr lang="en-US" sz="2499" b="true">
                  <a:solidFill>
                    <a:srgbClr val="FFFFFF"/>
                  </a:solidFill>
                  <a:latin typeface="Calibri (MS) Bold"/>
                  <a:ea typeface="Calibri (MS) Bold"/>
                  <a:cs typeface="Calibri (MS) Bold"/>
                  <a:sym typeface="Calibri (MS) Bold"/>
                </a:rPr>
                <a:t>VIX — CBOE Volatility Index</a:t>
              </a:r>
            </a:p>
          </p:txBody>
        </p:sp>
      </p:grpSp>
      <p:grpSp>
        <p:nvGrpSpPr>
          <p:cNvPr name="Group 35" id="35"/>
          <p:cNvGrpSpPr/>
          <p:nvPr/>
        </p:nvGrpSpPr>
        <p:grpSpPr>
          <a:xfrm rot="0">
            <a:off x="12287888" y="3553463"/>
            <a:ext cx="5328923" cy="1426985"/>
            <a:chOff x="0" y="0"/>
            <a:chExt cx="7105231" cy="1902647"/>
          </a:xfrm>
        </p:grpSpPr>
        <p:sp>
          <p:nvSpPr>
            <p:cNvPr name="Freeform 36" id="36"/>
            <p:cNvSpPr/>
            <p:nvPr/>
          </p:nvSpPr>
          <p:spPr>
            <a:xfrm flipH="false" flipV="false" rot="0">
              <a:off x="16891" y="8428"/>
              <a:ext cx="7071360" cy="1885747"/>
            </a:xfrm>
            <a:custGeom>
              <a:avLst/>
              <a:gdLst/>
              <a:ahLst/>
              <a:cxnLst/>
              <a:rect r="r" b="b" t="t" l="l"/>
              <a:pathLst>
                <a:path h="1885747" w="7071360">
                  <a:moveTo>
                    <a:pt x="0" y="0"/>
                  </a:moveTo>
                  <a:lnTo>
                    <a:pt x="7071360" y="0"/>
                  </a:lnTo>
                  <a:lnTo>
                    <a:pt x="7071360" y="1885747"/>
                  </a:lnTo>
                  <a:lnTo>
                    <a:pt x="0" y="1885747"/>
                  </a:lnTo>
                  <a:close/>
                </a:path>
              </a:pathLst>
            </a:custGeom>
            <a:solidFill>
              <a:srgbClr val="E8F0FE"/>
            </a:solidFill>
          </p:spPr>
        </p:sp>
        <p:sp>
          <p:nvSpPr>
            <p:cNvPr name="Freeform 37" id="37"/>
            <p:cNvSpPr/>
            <p:nvPr/>
          </p:nvSpPr>
          <p:spPr>
            <a:xfrm flipH="false" flipV="false" rot="0">
              <a:off x="0" y="0"/>
              <a:ext cx="7105142" cy="1902603"/>
            </a:xfrm>
            <a:custGeom>
              <a:avLst/>
              <a:gdLst/>
              <a:ahLst/>
              <a:cxnLst/>
              <a:rect r="r" b="b" t="t" l="l"/>
              <a:pathLst>
                <a:path h="1902603" w="7105142">
                  <a:moveTo>
                    <a:pt x="16891" y="0"/>
                  </a:moveTo>
                  <a:lnTo>
                    <a:pt x="7088251" y="0"/>
                  </a:lnTo>
                  <a:cubicBezTo>
                    <a:pt x="7097649" y="0"/>
                    <a:pt x="7105142" y="3802"/>
                    <a:pt x="7105142" y="8428"/>
                  </a:cubicBezTo>
                  <a:lnTo>
                    <a:pt x="7105142" y="1894175"/>
                  </a:lnTo>
                  <a:cubicBezTo>
                    <a:pt x="7105142" y="1898864"/>
                    <a:pt x="7097522" y="1902603"/>
                    <a:pt x="7088251" y="1902603"/>
                  </a:cubicBezTo>
                  <a:lnTo>
                    <a:pt x="16891" y="1902603"/>
                  </a:lnTo>
                  <a:cubicBezTo>
                    <a:pt x="7493" y="1902603"/>
                    <a:pt x="0" y="1898801"/>
                    <a:pt x="0" y="1894175"/>
                  </a:cubicBezTo>
                  <a:lnTo>
                    <a:pt x="0" y="8428"/>
                  </a:lnTo>
                  <a:cubicBezTo>
                    <a:pt x="0" y="3802"/>
                    <a:pt x="7620" y="0"/>
                    <a:pt x="16891" y="0"/>
                  </a:cubicBezTo>
                  <a:moveTo>
                    <a:pt x="16891" y="16919"/>
                  </a:moveTo>
                  <a:lnTo>
                    <a:pt x="16891" y="8428"/>
                  </a:lnTo>
                  <a:lnTo>
                    <a:pt x="33909" y="8428"/>
                  </a:lnTo>
                  <a:lnTo>
                    <a:pt x="33909" y="1894175"/>
                  </a:lnTo>
                  <a:lnTo>
                    <a:pt x="16891" y="1894175"/>
                  </a:lnTo>
                  <a:lnTo>
                    <a:pt x="16891" y="1885747"/>
                  </a:lnTo>
                  <a:lnTo>
                    <a:pt x="7088251" y="1885747"/>
                  </a:lnTo>
                  <a:lnTo>
                    <a:pt x="7088251" y="1894175"/>
                  </a:lnTo>
                  <a:lnTo>
                    <a:pt x="7071360" y="1894175"/>
                  </a:lnTo>
                  <a:lnTo>
                    <a:pt x="7071360" y="8428"/>
                  </a:lnTo>
                  <a:lnTo>
                    <a:pt x="7088251" y="8428"/>
                  </a:lnTo>
                  <a:lnTo>
                    <a:pt x="7088251" y="16919"/>
                  </a:lnTo>
                  <a:lnTo>
                    <a:pt x="16891" y="16919"/>
                  </a:lnTo>
                  <a:close/>
                </a:path>
              </a:pathLst>
            </a:custGeom>
            <a:solidFill>
              <a:srgbClr val="CADCFC"/>
            </a:solidFill>
          </p:spPr>
        </p:sp>
      </p:grpSp>
      <p:grpSp>
        <p:nvGrpSpPr>
          <p:cNvPr name="Group 38" id="38"/>
          <p:cNvGrpSpPr/>
          <p:nvPr/>
        </p:nvGrpSpPr>
        <p:grpSpPr>
          <a:xfrm rot="0">
            <a:off x="834895" y="318135"/>
            <a:ext cx="1031243" cy="1031243"/>
            <a:chOff x="0" y="0"/>
            <a:chExt cx="1374991" cy="1374991"/>
          </a:xfrm>
        </p:grpSpPr>
        <p:sp>
          <p:nvSpPr>
            <p:cNvPr name="Freeform 39" id="39"/>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40" id="40"/>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41" id="41"/>
          <p:cNvGrpSpPr/>
          <p:nvPr/>
        </p:nvGrpSpPr>
        <p:grpSpPr>
          <a:xfrm rot="0">
            <a:off x="847592" y="330832"/>
            <a:ext cx="1005840" cy="1005840"/>
            <a:chOff x="0" y="0"/>
            <a:chExt cx="1341120" cy="1341120"/>
          </a:xfrm>
        </p:grpSpPr>
        <p:sp>
          <p:nvSpPr>
            <p:cNvPr name="Freeform 42" id="4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43" id="43"/>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01</a:t>
              </a:r>
            </a:p>
          </p:txBody>
        </p:sp>
      </p:grpSp>
      <p:grpSp>
        <p:nvGrpSpPr>
          <p:cNvPr name="Group 44" id="44"/>
          <p:cNvGrpSpPr/>
          <p:nvPr/>
        </p:nvGrpSpPr>
        <p:grpSpPr>
          <a:xfrm rot="0">
            <a:off x="695901" y="5102753"/>
            <a:ext cx="5661023" cy="3105622"/>
            <a:chOff x="0" y="0"/>
            <a:chExt cx="7548031" cy="4140829"/>
          </a:xfrm>
        </p:grpSpPr>
        <p:sp>
          <p:nvSpPr>
            <p:cNvPr name="Freeform 45" id="45"/>
            <p:cNvSpPr/>
            <p:nvPr/>
          </p:nvSpPr>
          <p:spPr>
            <a:xfrm flipH="false" flipV="false" rot="0">
              <a:off x="17944" y="85908"/>
              <a:ext cx="7512049" cy="3968561"/>
            </a:xfrm>
            <a:custGeom>
              <a:avLst/>
              <a:gdLst/>
              <a:ahLst/>
              <a:cxnLst/>
              <a:rect r="r" b="b" t="t" l="l"/>
              <a:pathLst>
                <a:path h="3968561" w="7512049">
                  <a:moveTo>
                    <a:pt x="0" y="0"/>
                  </a:moveTo>
                  <a:lnTo>
                    <a:pt x="7512049" y="0"/>
                  </a:lnTo>
                  <a:lnTo>
                    <a:pt x="7512049" y="3968561"/>
                  </a:lnTo>
                  <a:lnTo>
                    <a:pt x="0" y="3968561"/>
                  </a:lnTo>
                  <a:close/>
                </a:path>
              </a:pathLst>
            </a:custGeom>
            <a:solidFill>
              <a:srgbClr val="CADCFC"/>
            </a:solidFill>
          </p:spPr>
        </p:sp>
        <p:sp>
          <p:nvSpPr>
            <p:cNvPr name="Freeform 46" id="46"/>
            <p:cNvSpPr/>
            <p:nvPr/>
          </p:nvSpPr>
          <p:spPr>
            <a:xfrm flipH="false" flipV="false" rot="0">
              <a:off x="0" y="0"/>
              <a:ext cx="7547936" cy="4140382"/>
            </a:xfrm>
            <a:custGeom>
              <a:avLst/>
              <a:gdLst/>
              <a:ahLst/>
              <a:cxnLst/>
              <a:rect r="r" b="b" t="t" l="l"/>
              <a:pathLst>
                <a:path h="4140382" w="7547936">
                  <a:moveTo>
                    <a:pt x="17944" y="0"/>
                  </a:moveTo>
                  <a:lnTo>
                    <a:pt x="7529993" y="0"/>
                  </a:lnTo>
                  <a:cubicBezTo>
                    <a:pt x="7539977" y="0"/>
                    <a:pt x="7547936" y="38755"/>
                    <a:pt x="7547936" y="85908"/>
                  </a:cubicBezTo>
                  <a:lnTo>
                    <a:pt x="7547936" y="4054469"/>
                  </a:lnTo>
                  <a:cubicBezTo>
                    <a:pt x="7547936" y="4102268"/>
                    <a:pt x="7539841" y="4140377"/>
                    <a:pt x="7529993" y="4140377"/>
                  </a:cubicBezTo>
                  <a:lnTo>
                    <a:pt x="17944" y="4140377"/>
                  </a:lnTo>
                  <a:cubicBezTo>
                    <a:pt x="8095" y="4140867"/>
                    <a:pt x="0" y="4102268"/>
                    <a:pt x="0" y="4054469"/>
                  </a:cubicBezTo>
                  <a:lnTo>
                    <a:pt x="0" y="85908"/>
                  </a:lnTo>
                  <a:cubicBezTo>
                    <a:pt x="0" y="38755"/>
                    <a:pt x="8095" y="0"/>
                    <a:pt x="17944" y="0"/>
                  </a:cubicBezTo>
                  <a:moveTo>
                    <a:pt x="17944" y="172462"/>
                  </a:moveTo>
                  <a:lnTo>
                    <a:pt x="17944" y="85908"/>
                  </a:lnTo>
                  <a:lnTo>
                    <a:pt x="36022" y="85908"/>
                  </a:lnTo>
                  <a:lnTo>
                    <a:pt x="36022" y="4054469"/>
                  </a:lnTo>
                  <a:lnTo>
                    <a:pt x="17944" y="4054469"/>
                  </a:lnTo>
                  <a:lnTo>
                    <a:pt x="17944" y="3968561"/>
                  </a:lnTo>
                  <a:lnTo>
                    <a:pt x="7529993" y="3968561"/>
                  </a:lnTo>
                  <a:lnTo>
                    <a:pt x="7529993" y="4054469"/>
                  </a:lnTo>
                  <a:lnTo>
                    <a:pt x="7512049" y="4054469"/>
                  </a:lnTo>
                  <a:lnTo>
                    <a:pt x="7512049" y="85908"/>
                  </a:lnTo>
                  <a:lnTo>
                    <a:pt x="7529993" y="85908"/>
                  </a:lnTo>
                  <a:lnTo>
                    <a:pt x="7529993" y="172462"/>
                  </a:lnTo>
                  <a:lnTo>
                    <a:pt x="17944" y="172462"/>
                  </a:lnTo>
                  <a:close/>
                </a:path>
              </a:pathLst>
            </a:custGeom>
            <a:solidFill>
              <a:srgbClr val="CADCFC"/>
            </a:solidFill>
          </p:spPr>
        </p:sp>
      </p:grpSp>
      <p:sp>
        <p:nvSpPr>
          <p:cNvPr name="Freeform 47" id="47"/>
          <p:cNvSpPr/>
          <p:nvPr/>
        </p:nvSpPr>
        <p:spPr>
          <a:xfrm flipH="false" flipV="false" rot="0">
            <a:off x="834895" y="5603231"/>
            <a:ext cx="5383035" cy="1990366"/>
          </a:xfrm>
          <a:custGeom>
            <a:avLst/>
            <a:gdLst/>
            <a:ahLst/>
            <a:cxnLst/>
            <a:rect r="r" b="b" t="t" l="l"/>
            <a:pathLst>
              <a:path h="1990366" w="5383035">
                <a:moveTo>
                  <a:pt x="0" y="0"/>
                </a:moveTo>
                <a:lnTo>
                  <a:pt x="5383035" y="0"/>
                </a:lnTo>
                <a:lnTo>
                  <a:pt x="5383035" y="1990366"/>
                </a:lnTo>
                <a:lnTo>
                  <a:pt x="0" y="1990366"/>
                </a:lnTo>
                <a:lnTo>
                  <a:pt x="0" y="0"/>
                </a:lnTo>
                <a:close/>
              </a:path>
            </a:pathLst>
          </a:custGeom>
          <a:blipFill>
            <a:blip r:embed="rId4"/>
            <a:stretch>
              <a:fillRect l="0" t="0" r="0" b="0"/>
            </a:stretch>
          </a:blipFill>
          <a:ln w="38100" cap="sq">
            <a:solidFill>
              <a:srgbClr val="000000"/>
            </a:solidFill>
            <a:prstDash val="solid"/>
            <a:miter/>
          </a:ln>
        </p:spPr>
      </p:sp>
      <p:grpSp>
        <p:nvGrpSpPr>
          <p:cNvPr name="Group 48" id="48"/>
          <p:cNvGrpSpPr/>
          <p:nvPr/>
        </p:nvGrpSpPr>
        <p:grpSpPr>
          <a:xfrm rot="0">
            <a:off x="6441504" y="5102753"/>
            <a:ext cx="5661023" cy="3105622"/>
            <a:chOff x="0" y="0"/>
            <a:chExt cx="7548031" cy="4140829"/>
          </a:xfrm>
        </p:grpSpPr>
        <p:sp>
          <p:nvSpPr>
            <p:cNvPr name="Freeform 49" id="49"/>
            <p:cNvSpPr/>
            <p:nvPr/>
          </p:nvSpPr>
          <p:spPr>
            <a:xfrm flipH="false" flipV="false" rot="0">
              <a:off x="17944" y="85908"/>
              <a:ext cx="7512049" cy="3968561"/>
            </a:xfrm>
            <a:custGeom>
              <a:avLst/>
              <a:gdLst/>
              <a:ahLst/>
              <a:cxnLst/>
              <a:rect r="r" b="b" t="t" l="l"/>
              <a:pathLst>
                <a:path h="3968561" w="7512049">
                  <a:moveTo>
                    <a:pt x="0" y="0"/>
                  </a:moveTo>
                  <a:lnTo>
                    <a:pt x="7512049" y="0"/>
                  </a:lnTo>
                  <a:lnTo>
                    <a:pt x="7512049" y="3968561"/>
                  </a:lnTo>
                  <a:lnTo>
                    <a:pt x="0" y="3968561"/>
                  </a:lnTo>
                  <a:close/>
                </a:path>
              </a:pathLst>
            </a:custGeom>
            <a:solidFill>
              <a:srgbClr val="CADCFC"/>
            </a:solidFill>
          </p:spPr>
        </p:sp>
        <p:sp>
          <p:nvSpPr>
            <p:cNvPr name="Freeform 50" id="50"/>
            <p:cNvSpPr/>
            <p:nvPr/>
          </p:nvSpPr>
          <p:spPr>
            <a:xfrm flipH="false" flipV="false" rot="0">
              <a:off x="0" y="0"/>
              <a:ext cx="7547936" cy="4140382"/>
            </a:xfrm>
            <a:custGeom>
              <a:avLst/>
              <a:gdLst/>
              <a:ahLst/>
              <a:cxnLst/>
              <a:rect r="r" b="b" t="t" l="l"/>
              <a:pathLst>
                <a:path h="4140382" w="7547936">
                  <a:moveTo>
                    <a:pt x="17944" y="0"/>
                  </a:moveTo>
                  <a:lnTo>
                    <a:pt x="7529993" y="0"/>
                  </a:lnTo>
                  <a:cubicBezTo>
                    <a:pt x="7539977" y="0"/>
                    <a:pt x="7547936" y="38755"/>
                    <a:pt x="7547936" y="85908"/>
                  </a:cubicBezTo>
                  <a:lnTo>
                    <a:pt x="7547936" y="4054469"/>
                  </a:lnTo>
                  <a:cubicBezTo>
                    <a:pt x="7547936" y="4102268"/>
                    <a:pt x="7539841" y="4140377"/>
                    <a:pt x="7529993" y="4140377"/>
                  </a:cubicBezTo>
                  <a:lnTo>
                    <a:pt x="17944" y="4140377"/>
                  </a:lnTo>
                  <a:cubicBezTo>
                    <a:pt x="8095" y="4140867"/>
                    <a:pt x="0" y="4102268"/>
                    <a:pt x="0" y="4054469"/>
                  </a:cubicBezTo>
                  <a:lnTo>
                    <a:pt x="0" y="85908"/>
                  </a:lnTo>
                  <a:cubicBezTo>
                    <a:pt x="0" y="38755"/>
                    <a:pt x="8095" y="0"/>
                    <a:pt x="17944" y="0"/>
                  </a:cubicBezTo>
                  <a:moveTo>
                    <a:pt x="17944" y="172462"/>
                  </a:moveTo>
                  <a:lnTo>
                    <a:pt x="17944" y="85908"/>
                  </a:lnTo>
                  <a:lnTo>
                    <a:pt x="36022" y="85908"/>
                  </a:lnTo>
                  <a:lnTo>
                    <a:pt x="36022" y="4054469"/>
                  </a:lnTo>
                  <a:lnTo>
                    <a:pt x="17944" y="4054469"/>
                  </a:lnTo>
                  <a:lnTo>
                    <a:pt x="17944" y="3968561"/>
                  </a:lnTo>
                  <a:lnTo>
                    <a:pt x="7529993" y="3968561"/>
                  </a:lnTo>
                  <a:lnTo>
                    <a:pt x="7529993" y="4054469"/>
                  </a:lnTo>
                  <a:lnTo>
                    <a:pt x="7512049" y="4054469"/>
                  </a:lnTo>
                  <a:lnTo>
                    <a:pt x="7512049" y="85908"/>
                  </a:lnTo>
                  <a:lnTo>
                    <a:pt x="7529993" y="85908"/>
                  </a:lnTo>
                  <a:lnTo>
                    <a:pt x="7529993" y="172462"/>
                  </a:lnTo>
                  <a:lnTo>
                    <a:pt x="17944" y="172462"/>
                  </a:lnTo>
                  <a:close/>
                </a:path>
              </a:pathLst>
            </a:custGeom>
            <a:solidFill>
              <a:srgbClr val="CADCFC"/>
            </a:solidFill>
          </p:spPr>
        </p:sp>
      </p:grpSp>
      <p:sp>
        <p:nvSpPr>
          <p:cNvPr name="Freeform 51" id="51"/>
          <p:cNvSpPr/>
          <p:nvPr/>
        </p:nvSpPr>
        <p:spPr>
          <a:xfrm flipH="false" flipV="false" rot="0">
            <a:off x="6607554" y="5603231"/>
            <a:ext cx="5328923" cy="1970358"/>
          </a:xfrm>
          <a:custGeom>
            <a:avLst/>
            <a:gdLst/>
            <a:ahLst/>
            <a:cxnLst/>
            <a:rect r="r" b="b" t="t" l="l"/>
            <a:pathLst>
              <a:path h="1970358" w="5328923">
                <a:moveTo>
                  <a:pt x="0" y="0"/>
                </a:moveTo>
                <a:lnTo>
                  <a:pt x="5328924" y="0"/>
                </a:lnTo>
                <a:lnTo>
                  <a:pt x="5328924" y="1970359"/>
                </a:lnTo>
                <a:lnTo>
                  <a:pt x="0" y="1970359"/>
                </a:lnTo>
                <a:lnTo>
                  <a:pt x="0" y="0"/>
                </a:lnTo>
                <a:close/>
              </a:path>
            </a:pathLst>
          </a:custGeom>
          <a:blipFill>
            <a:blip r:embed="rId5"/>
            <a:stretch>
              <a:fillRect l="0" t="0" r="0" b="0"/>
            </a:stretch>
          </a:blipFill>
          <a:ln w="38100" cap="sq">
            <a:solidFill>
              <a:srgbClr val="000000"/>
            </a:solidFill>
            <a:prstDash val="solid"/>
            <a:miter/>
          </a:ln>
        </p:spPr>
      </p:sp>
      <p:grpSp>
        <p:nvGrpSpPr>
          <p:cNvPr name="Group 52" id="52"/>
          <p:cNvGrpSpPr/>
          <p:nvPr/>
        </p:nvGrpSpPr>
        <p:grpSpPr>
          <a:xfrm rot="0">
            <a:off x="12188253" y="5102753"/>
            <a:ext cx="5661023" cy="3105622"/>
            <a:chOff x="0" y="0"/>
            <a:chExt cx="7548031" cy="4140829"/>
          </a:xfrm>
        </p:grpSpPr>
        <p:sp>
          <p:nvSpPr>
            <p:cNvPr name="Freeform 53" id="53"/>
            <p:cNvSpPr/>
            <p:nvPr/>
          </p:nvSpPr>
          <p:spPr>
            <a:xfrm flipH="false" flipV="false" rot="0">
              <a:off x="17944" y="85908"/>
              <a:ext cx="7512049" cy="3968561"/>
            </a:xfrm>
            <a:custGeom>
              <a:avLst/>
              <a:gdLst/>
              <a:ahLst/>
              <a:cxnLst/>
              <a:rect r="r" b="b" t="t" l="l"/>
              <a:pathLst>
                <a:path h="3968561" w="7512049">
                  <a:moveTo>
                    <a:pt x="0" y="0"/>
                  </a:moveTo>
                  <a:lnTo>
                    <a:pt x="7512049" y="0"/>
                  </a:lnTo>
                  <a:lnTo>
                    <a:pt x="7512049" y="3968561"/>
                  </a:lnTo>
                  <a:lnTo>
                    <a:pt x="0" y="3968561"/>
                  </a:lnTo>
                  <a:close/>
                </a:path>
              </a:pathLst>
            </a:custGeom>
            <a:solidFill>
              <a:srgbClr val="CADCFC"/>
            </a:solidFill>
          </p:spPr>
        </p:sp>
        <p:sp>
          <p:nvSpPr>
            <p:cNvPr name="Freeform 54" id="54"/>
            <p:cNvSpPr/>
            <p:nvPr/>
          </p:nvSpPr>
          <p:spPr>
            <a:xfrm flipH="false" flipV="false" rot="0">
              <a:off x="0" y="0"/>
              <a:ext cx="7547936" cy="4140382"/>
            </a:xfrm>
            <a:custGeom>
              <a:avLst/>
              <a:gdLst/>
              <a:ahLst/>
              <a:cxnLst/>
              <a:rect r="r" b="b" t="t" l="l"/>
              <a:pathLst>
                <a:path h="4140382" w="7547936">
                  <a:moveTo>
                    <a:pt x="17944" y="0"/>
                  </a:moveTo>
                  <a:lnTo>
                    <a:pt x="7529993" y="0"/>
                  </a:lnTo>
                  <a:cubicBezTo>
                    <a:pt x="7539977" y="0"/>
                    <a:pt x="7547936" y="38755"/>
                    <a:pt x="7547936" y="85908"/>
                  </a:cubicBezTo>
                  <a:lnTo>
                    <a:pt x="7547936" y="4054469"/>
                  </a:lnTo>
                  <a:cubicBezTo>
                    <a:pt x="7547936" y="4102268"/>
                    <a:pt x="7539841" y="4140377"/>
                    <a:pt x="7529993" y="4140377"/>
                  </a:cubicBezTo>
                  <a:lnTo>
                    <a:pt x="17944" y="4140377"/>
                  </a:lnTo>
                  <a:cubicBezTo>
                    <a:pt x="8095" y="4140867"/>
                    <a:pt x="0" y="4102268"/>
                    <a:pt x="0" y="4054469"/>
                  </a:cubicBezTo>
                  <a:lnTo>
                    <a:pt x="0" y="85908"/>
                  </a:lnTo>
                  <a:cubicBezTo>
                    <a:pt x="0" y="38755"/>
                    <a:pt x="8095" y="0"/>
                    <a:pt x="17944" y="0"/>
                  </a:cubicBezTo>
                  <a:moveTo>
                    <a:pt x="17944" y="172462"/>
                  </a:moveTo>
                  <a:lnTo>
                    <a:pt x="17944" y="85908"/>
                  </a:lnTo>
                  <a:lnTo>
                    <a:pt x="36022" y="85908"/>
                  </a:lnTo>
                  <a:lnTo>
                    <a:pt x="36022" y="4054469"/>
                  </a:lnTo>
                  <a:lnTo>
                    <a:pt x="17944" y="4054469"/>
                  </a:lnTo>
                  <a:lnTo>
                    <a:pt x="17944" y="3968561"/>
                  </a:lnTo>
                  <a:lnTo>
                    <a:pt x="7529993" y="3968561"/>
                  </a:lnTo>
                  <a:lnTo>
                    <a:pt x="7529993" y="4054469"/>
                  </a:lnTo>
                  <a:lnTo>
                    <a:pt x="7512049" y="4054469"/>
                  </a:lnTo>
                  <a:lnTo>
                    <a:pt x="7512049" y="85908"/>
                  </a:lnTo>
                  <a:lnTo>
                    <a:pt x="7529993" y="85908"/>
                  </a:lnTo>
                  <a:lnTo>
                    <a:pt x="7529993" y="172462"/>
                  </a:lnTo>
                  <a:lnTo>
                    <a:pt x="17944" y="172462"/>
                  </a:lnTo>
                  <a:close/>
                </a:path>
              </a:pathLst>
            </a:custGeom>
            <a:solidFill>
              <a:srgbClr val="CADCFC"/>
            </a:solidFill>
          </p:spPr>
        </p:sp>
      </p:grpSp>
      <p:sp>
        <p:nvSpPr>
          <p:cNvPr name="Freeform 55" id="55"/>
          <p:cNvSpPr/>
          <p:nvPr/>
        </p:nvSpPr>
        <p:spPr>
          <a:xfrm flipH="false" flipV="false" rot="0">
            <a:off x="12350178" y="5603231"/>
            <a:ext cx="5328923" cy="1970358"/>
          </a:xfrm>
          <a:custGeom>
            <a:avLst/>
            <a:gdLst/>
            <a:ahLst/>
            <a:cxnLst/>
            <a:rect r="r" b="b" t="t" l="l"/>
            <a:pathLst>
              <a:path h="1970358" w="5328923">
                <a:moveTo>
                  <a:pt x="0" y="0"/>
                </a:moveTo>
                <a:lnTo>
                  <a:pt x="5328923" y="0"/>
                </a:lnTo>
                <a:lnTo>
                  <a:pt x="5328923" y="1970359"/>
                </a:lnTo>
                <a:lnTo>
                  <a:pt x="0" y="1970359"/>
                </a:lnTo>
                <a:lnTo>
                  <a:pt x="0" y="0"/>
                </a:lnTo>
                <a:close/>
              </a:path>
            </a:pathLst>
          </a:custGeom>
          <a:blipFill>
            <a:blip r:embed="rId6"/>
            <a:stretch>
              <a:fillRect l="0" t="0" r="0" b="0"/>
            </a:stretch>
          </a:blipFill>
          <a:ln w="38100" cap="sq">
            <a:solidFill>
              <a:srgbClr val="000000"/>
            </a:solidFill>
            <a:prstDash val="solid"/>
            <a:miter/>
          </a:ln>
        </p:spPr>
      </p:sp>
      <p:sp>
        <p:nvSpPr>
          <p:cNvPr name="TextBox 56" id="56"/>
          <p:cNvSpPr txBox="true"/>
          <p:nvPr/>
        </p:nvSpPr>
        <p:spPr>
          <a:xfrm rot="0">
            <a:off x="1225296" y="3701796"/>
            <a:ext cx="4754880" cy="1257300"/>
          </a:xfrm>
          <a:prstGeom prst="rect">
            <a:avLst/>
          </a:prstGeom>
        </p:spPr>
        <p:txBody>
          <a:bodyPr anchor="t" rtlCol="false" tIns="0" lIns="0" bIns="0" rIns="0">
            <a:spAutoFit/>
          </a:bodyPr>
          <a:lstStyle/>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Dependent variable. </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Daily closing price from NASDAQ. </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Strong upward trend with COVID-19 structural break (Mar 2020).</a:t>
            </a:r>
          </a:p>
        </p:txBody>
      </p:sp>
      <p:sp>
        <p:nvSpPr>
          <p:cNvPr name="TextBox 57" id="57"/>
          <p:cNvSpPr txBox="true"/>
          <p:nvPr/>
        </p:nvSpPr>
        <p:spPr>
          <a:xfrm rot="0">
            <a:off x="6894576" y="3701796"/>
            <a:ext cx="4754880" cy="1257300"/>
          </a:xfrm>
          <a:prstGeom prst="rect">
            <a:avLst/>
          </a:prstGeom>
        </p:spPr>
        <p:txBody>
          <a:bodyPr anchor="t" rtlCol="false" tIns="0" lIns="0" bIns="0" rIns="0">
            <a:spAutoFit/>
          </a:bodyPr>
          <a:lstStyle/>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Market-wide momentum indicator. </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Highly correlated with MSFT. </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Captures broad equity market dynamics for cointegration.</a:t>
            </a:r>
          </a:p>
        </p:txBody>
      </p:sp>
      <p:sp>
        <p:nvSpPr>
          <p:cNvPr name="TextBox 58" id="58"/>
          <p:cNvSpPr txBox="true"/>
          <p:nvPr/>
        </p:nvSpPr>
        <p:spPr>
          <a:xfrm rot="0">
            <a:off x="12611481" y="3701796"/>
            <a:ext cx="4809744" cy="1257300"/>
          </a:xfrm>
          <a:prstGeom prst="rect">
            <a:avLst/>
          </a:prstGeom>
        </p:spPr>
        <p:txBody>
          <a:bodyPr anchor="t" rtlCol="false" tIns="0" lIns="0" bIns="0" rIns="0">
            <a:spAutoFit/>
          </a:bodyPr>
          <a:lstStyle/>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Market fear gauge</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 Inversely correlated with equities. </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Spikes during stress events - key driver of short-run MSFT dynamics.</a:t>
            </a:r>
          </a:p>
        </p:txBody>
      </p:sp>
      <p:grpSp>
        <p:nvGrpSpPr>
          <p:cNvPr name="Group 59" id="59"/>
          <p:cNvGrpSpPr/>
          <p:nvPr/>
        </p:nvGrpSpPr>
        <p:grpSpPr>
          <a:xfrm rot="0">
            <a:off x="741678" y="8431273"/>
            <a:ext cx="4048763" cy="1211398"/>
            <a:chOff x="0" y="0"/>
            <a:chExt cx="5398351" cy="1615197"/>
          </a:xfrm>
        </p:grpSpPr>
        <p:sp>
          <p:nvSpPr>
            <p:cNvPr name="Freeform 60" id="60"/>
            <p:cNvSpPr/>
            <p:nvPr/>
          </p:nvSpPr>
          <p:spPr>
            <a:xfrm flipH="false" flipV="false" rot="0">
              <a:off x="16891" y="22654"/>
              <a:ext cx="5364480" cy="1569770"/>
            </a:xfrm>
            <a:custGeom>
              <a:avLst/>
              <a:gdLst/>
              <a:ahLst/>
              <a:cxnLst/>
              <a:rect r="r" b="b" t="t" l="l"/>
              <a:pathLst>
                <a:path h="1569770" w="5364480">
                  <a:moveTo>
                    <a:pt x="0" y="0"/>
                  </a:moveTo>
                  <a:lnTo>
                    <a:pt x="5364480" y="0"/>
                  </a:lnTo>
                  <a:lnTo>
                    <a:pt x="5364480" y="1569770"/>
                  </a:lnTo>
                  <a:lnTo>
                    <a:pt x="0" y="1569770"/>
                  </a:lnTo>
                  <a:close/>
                </a:path>
              </a:pathLst>
            </a:custGeom>
            <a:solidFill>
              <a:srgbClr val="1E2761"/>
            </a:solidFill>
          </p:spPr>
        </p:sp>
        <p:sp>
          <p:nvSpPr>
            <p:cNvPr name="Freeform 61" id="61"/>
            <p:cNvSpPr/>
            <p:nvPr/>
          </p:nvSpPr>
          <p:spPr>
            <a:xfrm flipH="false" flipV="false" rot="0">
              <a:off x="0" y="0"/>
              <a:ext cx="5398262" cy="1615080"/>
            </a:xfrm>
            <a:custGeom>
              <a:avLst/>
              <a:gdLst/>
              <a:ahLst/>
              <a:cxnLst/>
              <a:rect r="r" b="b" t="t" l="l"/>
              <a:pathLst>
                <a:path h="1615080" w="5398262">
                  <a:moveTo>
                    <a:pt x="16891" y="0"/>
                  </a:moveTo>
                  <a:lnTo>
                    <a:pt x="5381371" y="0"/>
                  </a:lnTo>
                  <a:cubicBezTo>
                    <a:pt x="5390769" y="0"/>
                    <a:pt x="5398262" y="10220"/>
                    <a:pt x="5398262" y="22654"/>
                  </a:cubicBezTo>
                  <a:lnTo>
                    <a:pt x="5398262" y="1592424"/>
                  </a:lnTo>
                  <a:cubicBezTo>
                    <a:pt x="5398262" y="1605028"/>
                    <a:pt x="5390642" y="1615078"/>
                    <a:pt x="5381371" y="1615078"/>
                  </a:cubicBezTo>
                  <a:lnTo>
                    <a:pt x="16891" y="1615078"/>
                  </a:lnTo>
                  <a:cubicBezTo>
                    <a:pt x="7620" y="1615235"/>
                    <a:pt x="0" y="1605028"/>
                    <a:pt x="0" y="1592424"/>
                  </a:cubicBezTo>
                  <a:lnTo>
                    <a:pt x="0" y="22654"/>
                  </a:lnTo>
                  <a:cubicBezTo>
                    <a:pt x="0" y="10220"/>
                    <a:pt x="7620" y="0"/>
                    <a:pt x="16891" y="0"/>
                  </a:cubicBezTo>
                  <a:moveTo>
                    <a:pt x="16891" y="45478"/>
                  </a:moveTo>
                  <a:lnTo>
                    <a:pt x="16891" y="22654"/>
                  </a:lnTo>
                  <a:lnTo>
                    <a:pt x="33909" y="22654"/>
                  </a:lnTo>
                  <a:lnTo>
                    <a:pt x="33909" y="1592424"/>
                  </a:lnTo>
                  <a:lnTo>
                    <a:pt x="16891" y="1592424"/>
                  </a:lnTo>
                  <a:lnTo>
                    <a:pt x="16891" y="1569770"/>
                  </a:lnTo>
                  <a:lnTo>
                    <a:pt x="5381371" y="1569770"/>
                  </a:lnTo>
                  <a:lnTo>
                    <a:pt x="5381371" y="1592424"/>
                  </a:lnTo>
                  <a:lnTo>
                    <a:pt x="5364480" y="1592424"/>
                  </a:lnTo>
                  <a:lnTo>
                    <a:pt x="5364480" y="22654"/>
                  </a:lnTo>
                  <a:lnTo>
                    <a:pt x="5381371" y="22654"/>
                  </a:lnTo>
                  <a:lnTo>
                    <a:pt x="5381371" y="45478"/>
                  </a:lnTo>
                  <a:lnTo>
                    <a:pt x="16891" y="45478"/>
                  </a:lnTo>
                  <a:close/>
                </a:path>
              </a:pathLst>
            </a:custGeom>
            <a:solidFill>
              <a:srgbClr val="1E2761"/>
            </a:solidFill>
          </p:spPr>
        </p:sp>
      </p:grpSp>
      <p:grpSp>
        <p:nvGrpSpPr>
          <p:cNvPr name="Group 62" id="62"/>
          <p:cNvGrpSpPr/>
          <p:nvPr/>
        </p:nvGrpSpPr>
        <p:grpSpPr>
          <a:xfrm rot="0">
            <a:off x="844039" y="8480546"/>
            <a:ext cx="3840480" cy="403399"/>
            <a:chOff x="0" y="0"/>
            <a:chExt cx="5120640" cy="537865"/>
          </a:xfrm>
        </p:grpSpPr>
        <p:sp>
          <p:nvSpPr>
            <p:cNvPr name="Freeform 63" id="63"/>
            <p:cNvSpPr/>
            <p:nvPr/>
          </p:nvSpPr>
          <p:spPr>
            <a:xfrm flipH="false" flipV="false" rot="0">
              <a:off x="0" y="0"/>
              <a:ext cx="5120640" cy="537865"/>
            </a:xfrm>
            <a:custGeom>
              <a:avLst/>
              <a:gdLst/>
              <a:ahLst/>
              <a:cxnLst/>
              <a:rect r="r" b="b" t="t" l="l"/>
              <a:pathLst>
                <a:path h="537865" w="5120640">
                  <a:moveTo>
                    <a:pt x="0" y="0"/>
                  </a:moveTo>
                  <a:lnTo>
                    <a:pt x="5120640" y="0"/>
                  </a:lnTo>
                  <a:lnTo>
                    <a:pt x="5120640" y="537865"/>
                  </a:lnTo>
                  <a:lnTo>
                    <a:pt x="0" y="537865"/>
                  </a:lnTo>
                  <a:close/>
                </a:path>
              </a:pathLst>
            </a:custGeom>
            <a:blipFill>
              <a:blip r:embed="rId3">
                <a:alphaModFix amt="0"/>
              </a:blip>
              <a:stretch>
                <a:fillRect l="0" t="-140168" r="0" b="-130838"/>
              </a:stretch>
            </a:blipFill>
          </p:spPr>
        </p:sp>
        <p:sp>
          <p:nvSpPr>
            <p:cNvPr name="TextBox 64" id="64"/>
            <p:cNvSpPr txBox="true"/>
            <p:nvPr/>
          </p:nvSpPr>
          <p:spPr>
            <a:xfrm>
              <a:off x="0" y="-38100"/>
              <a:ext cx="5120640" cy="575965"/>
            </a:xfrm>
            <a:prstGeom prst="rect">
              <a:avLst/>
            </a:prstGeom>
          </p:spPr>
          <p:txBody>
            <a:bodyPr anchor="ctr" rtlCol="false" tIns="0" lIns="0" bIns="0" rIns="0"/>
            <a:lstStyle/>
            <a:p>
              <a:pPr algn="ctr">
                <a:lnSpc>
                  <a:spcPts val="2400"/>
                </a:lnSpc>
              </a:pPr>
              <a:r>
                <a:rPr lang="en-US" sz="2000">
                  <a:solidFill>
                    <a:srgbClr val="CADCFC"/>
                  </a:solidFill>
                  <a:latin typeface="Calibri (MS)"/>
                  <a:ea typeface="Calibri (MS)"/>
                  <a:cs typeface="Calibri (MS)"/>
                  <a:sym typeface="Calibri (MS)"/>
                </a:rPr>
                <a:t>Source</a:t>
              </a:r>
            </a:p>
          </p:txBody>
        </p:sp>
      </p:grpSp>
      <p:grpSp>
        <p:nvGrpSpPr>
          <p:cNvPr name="Group 65" id="65"/>
          <p:cNvGrpSpPr/>
          <p:nvPr/>
        </p:nvGrpSpPr>
        <p:grpSpPr>
          <a:xfrm rot="0">
            <a:off x="900679" y="8809730"/>
            <a:ext cx="3727199" cy="689149"/>
            <a:chOff x="0" y="0"/>
            <a:chExt cx="4969599" cy="918865"/>
          </a:xfrm>
        </p:grpSpPr>
        <p:sp>
          <p:nvSpPr>
            <p:cNvPr name="Freeform 66" id="66"/>
            <p:cNvSpPr/>
            <p:nvPr/>
          </p:nvSpPr>
          <p:spPr>
            <a:xfrm flipH="false" flipV="false" rot="0">
              <a:off x="0" y="0"/>
              <a:ext cx="4969599" cy="918865"/>
            </a:xfrm>
            <a:custGeom>
              <a:avLst/>
              <a:gdLst/>
              <a:ahLst/>
              <a:cxnLst/>
              <a:rect r="r" b="b" t="t" l="l"/>
              <a:pathLst>
                <a:path h="918865" w="4969599">
                  <a:moveTo>
                    <a:pt x="0" y="0"/>
                  </a:moveTo>
                  <a:lnTo>
                    <a:pt x="4969599" y="0"/>
                  </a:lnTo>
                  <a:lnTo>
                    <a:pt x="4969599" y="918865"/>
                  </a:lnTo>
                  <a:lnTo>
                    <a:pt x="0" y="918865"/>
                  </a:lnTo>
                  <a:close/>
                </a:path>
              </a:pathLst>
            </a:custGeom>
            <a:blipFill>
              <a:blip r:embed="rId3">
                <a:alphaModFix amt="0"/>
              </a:blip>
              <a:stretch>
                <a:fillRect l="0" t="-76741" r="-3039" b="-40430"/>
              </a:stretch>
            </a:blipFill>
          </p:spPr>
        </p:sp>
        <p:sp>
          <p:nvSpPr>
            <p:cNvPr name="TextBox 67" id="67"/>
            <p:cNvSpPr txBox="true"/>
            <p:nvPr/>
          </p:nvSpPr>
          <p:spPr>
            <a:xfrm>
              <a:off x="0" y="-38100"/>
              <a:ext cx="4969599" cy="956965"/>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Yahoo Finance (https://finance.yahoo.com/)</a:t>
              </a:r>
            </a:p>
          </p:txBody>
        </p:sp>
      </p:grpSp>
      <p:grpSp>
        <p:nvGrpSpPr>
          <p:cNvPr name="Group 68" id="68"/>
          <p:cNvGrpSpPr/>
          <p:nvPr/>
        </p:nvGrpSpPr>
        <p:grpSpPr>
          <a:xfrm rot="0">
            <a:off x="5085078" y="8431273"/>
            <a:ext cx="4048763" cy="1211398"/>
            <a:chOff x="0" y="0"/>
            <a:chExt cx="5398351" cy="1615197"/>
          </a:xfrm>
        </p:grpSpPr>
        <p:sp>
          <p:nvSpPr>
            <p:cNvPr name="Freeform 69" id="69"/>
            <p:cNvSpPr/>
            <p:nvPr/>
          </p:nvSpPr>
          <p:spPr>
            <a:xfrm flipH="false" flipV="false" rot="0">
              <a:off x="16891" y="22654"/>
              <a:ext cx="5364480" cy="1569770"/>
            </a:xfrm>
            <a:custGeom>
              <a:avLst/>
              <a:gdLst/>
              <a:ahLst/>
              <a:cxnLst/>
              <a:rect r="r" b="b" t="t" l="l"/>
              <a:pathLst>
                <a:path h="1569770" w="5364480">
                  <a:moveTo>
                    <a:pt x="0" y="0"/>
                  </a:moveTo>
                  <a:lnTo>
                    <a:pt x="5364480" y="0"/>
                  </a:lnTo>
                  <a:lnTo>
                    <a:pt x="5364480" y="1569770"/>
                  </a:lnTo>
                  <a:lnTo>
                    <a:pt x="0" y="1569770"/>
                  </a:lnTo>
                  <a:close/>
                </a:path>
              </a:pathLst>
            </a:custGeom>
            <a:solidFill>
              <a:srgbClr val="1E2761"/>
            </a:solidFill>
          </p:spPr>
        </p:sp>
        <p:sp>
          <p:nvSpPr>
            <p:cNvPr name="Freeform 70" id="70"/>
            <p:cNvSpPr/>
            <p:nvPr/>
          </p:nvSpPr>
          <p:spPr>
            <a:xfrm flipH="false" flipV="false" rot="0">
              <a:off x="0" y="0"/>
              <a:ext cx="5398262" cy="1615080"/>
            </a:xfrm>
            <a:custGeom>
              <a:avLst/>
              <a:gdLst/>
              <a:ahLst/>
              <a:cxnLst/>
              <a:rect r="r" b="b" t="t" l="l"/>
              <a:pathLst>
                <a:path h="1615080" w="5398262">
                  <a:moveTo>
                    <a:pt x="16891" y="0"/>
                  </a:moveTo>
                  <a:lnTo>
                    <a:pt x="5381371" y="0"/>
                  </a:lnTo>
                  <a:cubicBezTo>
                    <a:pt x="5390769" y="0"/>
                    <a:pt x="5398262" y="10220"/>
                    <a:pt x="5398262" y="22654"/>
                  </a:cubicBezTo>
                  <a:lnTo>
                    <a:pt x="5398262" y="1592424"/>
                  </a:lnTo>
                  <a:cubicBezTo>
                    <a:pt x="5398262" y="1605028"/>
                    <a:pt x="5390642" y="1615078"/>
                    <a:pt x="5381371" y="1615078"/>
                  </a:cubicBezTo>
                  <a:lnTo>
                    <a:pt x="16891" y="1615078"/>
                  </a:lnTo>
                  <a:cubicBezTo>
                    <a:pt x="7620" y="1615235"/>
                    <a:pt x="0" y="1605028"/>
                    <a:pt x="0" y="1592424"/>
                  </a:cubicBezTo>
                  <a:lnTo>
                    <a:pt x="0" y="22654"/>
                  </a:lnTo>
                  <a:cubicBezTo>
                    <a:pt x="0" y="10220"/>
                    <a:pt x="7620" y="0"/>
                    <a:pt x="16891" y="0"/>
                  </a:cubicBezTo>
                  <a:moveTo>
                    <a:pt x="16891" y="45478"/>
                  </a:moveTo>
                  <a:lnTo>
                    <a:pt x="16891" y="22654"/>
                  </a:lnTo>
                  <a:lnTo>
                    <a:pt x="33909" y="22654"/>
                  </a:lnTo>
                  <a:lnTo>
                    <a:pt x="33909" y="1592424"/>
                  </a:lnTo>
                  <a:lnTo>
                    <a:pt x="16891" y="1592424"/>
                  </a:lnTo>
                  <a:lnTo>
                    <a:pt x="16891" y="1569770"/>
                  </a:lnTo>
                  <a:lnTo>
                    <a:pt x="5381371" y="1569770"/>
                  </a:lnTo>
                  <a:lnTo>
                    <a:pt x="5381371" y="1592424"/>
                  </a:lnTo>
                  <a:lnTo>
                    <a:pt x="5364480" y="1592424"/>
                  </a:lnTo>
                  <a:lnTo>
                    <a:pt x="5364480" y="22654"/>
                  </a:lnTo>
                  <a:lnTo>
                    <a:pt x="5381371" y="22654"/>
                  </a:lnTo>
                  <a:lnTo>
                    <a:pt x="5381371" y="45478"/>
                  </a:lnTo>
                  <a:lnTo>
                    <a:pt x="16891" y="45478"/>
                  </a:lnTo>
                  <a:close/>
                </a:path>
              </a:pathLst>
            </a:custGeom>
            <a:solidFill>
              <a:srgbClr val="1E2761"/>
            </a:solidFill>
          </p:spPr>
        </p:sp>
      </p:grpSp>
      <p:grpSp>
        <p:nvGrpSpPr>
          <p:cNvPr name="Group 71" id="71"/>
          <p:cNvGrpSpPr/>
          <p:nvPr/>
        </p:nvGrpSpPr>
        <p:grpSpPr>
          <a:xfrm rot="0">
            <a:off x="5189220" y="8480546"/>
            <a:ext cx="3840480" cy="403399"/>
            <a:chOff x="0" y="0"/>
            <a:chExt cx="5120640" cy="537865"/>
          </a:xfrm>
        </p:grpSpPr>
        <p:sp>
          <p:nvSpPr>
            <p:cNvPr name="Freeform 72" id="72"/>
            <p:cNvSpPr/>
            <p:nvPr/>
          </p:nvSpPr>
          <p:spPr>
            <a:xfrm flipH="false" flipV="false" rot="0">
              <a:off x="0" y="0"/>
              <a:ext cx="5120640" cy="537865"/>
            </a:xfrm>
            <a:custGeom>
              <a:avLst/>
              <a:gdLst/>
              <a:ahLst/>
              <a:cxnLst/>
              <a:rect r="r" b="b" t="t" l="l"/>
              <a:pathLst>
                <a:path h="537865" w="5120640">
                  <a:moveTo>
                    <a:pt x="0" y="0"/>
                  </a:moveTo>
                  <a:lnTo>
                    <a:pt x="5120640" y="0"/>
                  </a:lnTo>
                  <a:lnTo>
                    <a:pt x="5120640" y="537865"/>
                  </a:lnTo>
                  <a:lnTo>
                    <a:pt x="0" y="537865"/>
                  </a:lnTo>
                  <a:close/>
                </a:path>
              </a:pathLst>
            </a:custGeom>
            <a:blipFill>
              <a:blip r:embed="rId3">
                <a:alphaModFix amt="0"/>
              </a:blip>
              <a:stretch>
                <a:fillRect l="0" t="-140168" r="0" b="-130838"/>
              </a:stretch>
            </a:blipFill>
          </p:spPr>
        </p:sp>
        <p:sp>
          <p:nvSpPr>
            <p:cNvPr name="TextBox 73" id="73"/>
            <p:cNvSpPr txBox="true"/>
            <p:nvPr/>
          </p:nvSpPr>
          <p:spPr>
            <a:xfrm>
              <a:off x="0" y="-38100"/>
              <a:ext cx="5120640" cy="575965"/>
            </a:xfrm>
            <a:prstGeom prst="rect">
              <a:avLst/>
            </a:prstGeom>
          </p:spPr>
          <p:txBody>
            <a:bodyPr anchor="ctr" rtlCol="false" tIns="0" lIns="0" bIns="0" rIns="0"/>
            <a:lstStyle/>
            <a:p>
              <a:pPr algn="ctr">
                <a:lnSpc>
                  <a:spcPts val="2400"/>
                </a:lnSpc>
              </a:pPr>
              <a:r>
                <a:rPr lang="en-US" sz="2000">
                  <a:solidFill>
                    <a:srgbClr val="CADCFC"/>
                  </a:solidFill>
                  <a:latin typeface="Calibri (MS)"/>
                  <a:ea typeface="Calibri (MS)"/>
                  <a:cs typeface="Calibri (MS)"/>
                  <a:sym typeface="Calibri (MS)"/>
                </a:rPr>
                <a:t>Coverage</a:t>
              </a:r>
            </a:p>
          </p:txBody>
        </p:sp>
      </p:grpSp>
      <p:grpSp>
        <p:nvGrpSpPr>
          <p:cNvPr name="Group 74" id="74"/>
          <p:cNvGrpSpPr/>
          <p:nvPr/>
        </p:nvGrpSpPr>
        <p:grpSpPr>
          <a:xfrm rot="0">
            <a:off x="5189220" y="8934848"/>
            <a:ext cx="3840480" cy="438912"/>
            <a:chOff x="0" y="0"/>
            <a:chExt cx="5120640" cy="585216"/>
          </a:xfrm>
        </p:grpSpPr>
        <p:sp>
          <p:nvSpPr>
            <p:cNvPr name="Freeform 75" id="75"/>
            <p:cNvSpPr/>
            <p:nvPr/>
          </p:nvSpPr>
          <p:spPr>
            <a:xfrm flipH="false" flipV="false" rot="0">
              <a:off x="0" y="0"/>
              <a:ext cx="5120640" cy="585216"/>
            </a:xfrm>
            <a:custGeom>
              <a:avLst/>
              <a:gdLst/>
              <a:ahLst/>
              <a:cxnLst/>
              <a:rect r="r" b="b" t="t" l="l"/>
              <a:pathLst>
                <a:path h="585216" w="5120640">
                  <a:moveTo>
                    <a:pt x="0" y="0"/>
                  </a:moveTo>
                  <a:lnTo>
                    <a:pt x="5120640" y="0"/>
                  </a:lnTo>
                  <a:lnTo>
                    <a:pt x="5120640" y="585216"/>
                  </a:lnTo>
                  <a:lnTo>
                    <a:pt x="0" y="585216"/>
                  </a:lnTo>
                  <a:close/>
                </a:path>
              </a:pathLst>
            </a:custGeom>
            <a:blipFill>
              <a:blip r:embed="rId3">
                <a:alphaModFix amt="0"/>
              </a:blip>
              <a:stretch>
                <a:fillRect l="0" t="-120494" r="0" b="-120494"/>
              </a:stretch>
            </a:blipFill>
          </p:spPr>
        </p:sp>
        <p:sp>
          <p:nvSpPr>
            <p:cNvPr name="TextBox 76" id="76"/>
            <p:cNvSpPr txBox="true"/>
            <p:nvPr/>
          </p:nvSpPr>
          <p:spPr>
            <a:xfrm>
              <a:off x="0" y="-38100"/>
              <a:ext cx="5120640" cy="62331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Apr 2015 – Apr 2026</a:t>
              </a:r>
            </a:p>
          </p:txBody>
        </p:sp>
      </p:grpSp>
      <p:grpSp>
        <p:nvGrpSpPr>
          <p:cNvPr name="Group 77" id="77"/>
          <p:cNvGrpSpPr/>
          <p:nvPr/>
        </p:nvGrpSpPr>
        <p:grpSpPr>
          <a:xfrm rot="0">
            <a:off x="9428478" y="8431273"/>
            <a:ext cx="4048763" cy="1211398"/>
            <a:chOff x="0" y="0"/>
            <a:chExt cx="5398351" cy="1615197"/>
          </a:xfrm>
        </p:grpSpPr>
        <p:sp>
          <p:nvSpPr>
            <p:cNvPr name="Freeform 78" id="78"/>
            <p:cNvSpPr/>
            <p:nvPr/>
          </p:nvSpPr>
          <p:spPr>
            <a:xfrm flipH="false" flipV="false" rot="0">
              <a:off x="16891" y="22654"/>
              <a:ext cx="5364480" cy="1569770"/>
            </a:xfrm>
            <a:custGeom>
              <a:avLst/>
              <a:gdLst/>
              <a:ahLst/>
              <a:cxnLst/>
              <a:rect r="r" b="b" t="t" l="l"/>
              <a:pathLst>
                <a:path h="1569770" w="5364480">
                  <a:moveTo>
                    <a:pt x="0" y="0"/>
                  </a:moveTo>
                  <a:lnTo>
                    <a:pt x="5364480" y="0"/>
                  </a:lnTo>
                  <a:lnTo>
                    <a:pt x="5364480" y="1569770"/>
                  </a:lnTo>
                  <a:lnTo>
                    <a:pt x="0" y="1569770"/>
                  </a:lnTo>
                  <a:close/>
                </a:path>
              </a:pathLst>
            </a:custGeom>
            <a:solidFill>
              <a:srgbClr val="1E2761"/>
            </a:solidFill>
          </p:spPr>
        </p:sp>
        <p:sp>
          <p:nvSpPr>
            <p:cNvPr name="Freeform 79" id="79"/>
            <p:cNvSpPr/>
            <p:nvPr/>
          </p:nvSpPr>
          <p:spPr>
            <a:xfrm flipH="false" flipV="false" rot="0">
              <a:off x="0" y="0"/>
              <a:ext cx="5398262" cy="1615080"/>
            </a:xfrm>
            <a:custGeom>
              <a:avLst/>
              <a:gdLst/>
              <a:ahLst/>
              <a:cxnLst/>
              <a:rect r="r" b="b" t="t" l="l"/>
              <a:pathLst>
                <a:path h="1615080" w="5398262">
                  <a:moveTo>
                    <a:pt x="16891" y="0"/>
                  </a:moveTo>
                  <a:lnTo>
                    <a:pt x="5381371" y="0"/>
                  </a:lnTo>
                  <a:cubicBezTo>
                    <a:pt x="5390769" y="0"/>
                    <a:pt x="5398262" y="10220"/>
                    <a:pt x="5398262" y="22654"/>
                  </a:cubicBezTo>
                  <a:lnTo>
                    <a:pt x="5398262" y="1592424"/>
                  </a:lnTo>
                  <a:cubicBezTo>
                    <a:pt x="5398262" y="1605028"/>
                    <a:pt x="5390642" y="1615078"/>
                    <a:pt x="5381371" y="1615078"/>
                  </a:cubicBezTo>
                  <a:lnTo>
                    <a:pt x="16891" y="1615078"/>
                  </a:lnTo>
                  <a:cubicBezTo>
                    <a:pt x="7620" y="1615235"/>
                    <a:pt x="0" y="1605028"/>
                    <a:pt x="0" y="1592424"/>
                  </a:cubicBezTo>
                  <a:lnTo>
                    <a:pt x="0" y="22654"/>
                  </a:lnTo>
                  <a:cubicBezTo>
                    <a:pt x="0" y="10220"/>
                    <a:pt x="7620" y="0"/>
                    <a:pt x="16891" y="0"/>
                  </a:cubicBezTo>
                  <a:moveTo>
                    <a:pt x="16891" y="45478"/>
                  </a:moveTo>
                  <a:lnTo>
                    <a:pt x="16891" y="22654"/>
                  </a:lnTo>
                  <a:lnTo>
                    <a:pt x="33909" y="22654"/>
                  </a:lnTo>
                  <a:lnTo>
                    <a:pt x="33909" y="1592424"/>
                  </a:lnTo>
                  <a:lnTo>
                    <a:pt x="16891" y="1592424"/>
                  </a:lnTo>
                  <a:lnTo>
                    <a:pt x="16891" y="1569770"/>
                  </a:lnTo>
                  <a:lnTo>
                    <a:pt x="5381371" y="1569770"/>
                  </a:lnTo>
                  <a:lnTo>
                    <a:pt x="5381371" y="1592424"/>
                  </a:lnTo>
                  <a:lnTo>
                    <a:pt x="5364480" y="1592424"/>
                  </a:lnTo>
                  <a:lnTo>
                    <a:pt x="5364480" y="22654"/>
                  </a:lnTo>
                  <a:lnTo>
                    <a:pt x="5381371" y="22654"/>
                  </a:lnTo>
                  <a:lnTo>
                    <a:pt x="5381371" y="45478"/>
                  </a:lnTo>
                  <a:lnTo>
                    <a:pt x="16891" y="45478"/>
                  </a:lnTo>
                  <a:close/>
                </a:path>
              </a:pathLst>
            </a:custGeom>
            <a:solidFill>
              <a:srgbClr val="1E2761"/>
            </a:solidFill>
          </p:spPr>
        </p:sp>
      </p:grpSp>
      <p:grpSp>
        <p:nvGrpSpPr>
          <p:cNvPr name="Group 80" id="80"/>
          <p:cNvGrpSpPr/>
          <p:nvPr/>
        </p:nvGrpSpPr>
        <p:grpSpPr>
          <a:xfrm rot="0">
            <a:off x="9532620" y="8480546"/>
            <a:ext cx="3840480" cy="403399"/>
            <a:chOff x="0" y="0"/>
            <a:chExt cx="5120640" cy="537865"/>
          </a:xfrm>
        </p:grpSpPr>
        <p:sp>
          <p:nvSpPr>
            <p:cNvPr name="Freeform 81" id="81"/>
            <p:cNvSpPr/>
            <p:nvPr/>
          </p:nvSpPr>
          <p:spPr>
            <a:xfrm flipH="false" flipV="false" rot="0">
              <a:off x="0" y="0"/>
              <a:ext cx="5120640" cy="537865"/>
            </a:xfrm>
            <a:custGeom>
              <a:avLst/>
              <a:gdLst/>
              <a:ahLst/>
              <a:cxnLst/>
              <a:rect r="r" b="b" t="t" l="l"/>
              <a:pathLst>
                <a:path h="537865" w="5120640">
                  <a:moveTo>
                    <a:pt x="0" y="0"/>
                  </a:moveTo>
                  <a:lnTo>
                    <a:pt x="5120640" y="0"/>
                  </a:lnTo>
                  <a:lnTo>
                    <a:pt x="5120640" y="537865"/>
                  </a:lnTo>
                  <a:lnTo>
                    <a:pt x="0" y="537865"/>
                  </a:lnTo>
                  <a:close/>
                </a:path>
              </a:pathLst>
            </a:custGeom>
            <a:blipFill>
              <a:blip r:embed="rId3">
                <a:alphaModFix amt="0"/>
              </a:blip>
              <a:stretch>
                <a:fillRect l="0" t="-140168" r="0" b="-130838"/>
              </a:stretch>
            </a:blipFill>
          </p:spPr>
        </p:sp>
        <p:sp>
          <p:nvSpPr>
            <p:cNvPr name="TextBox 82" id="82"/>
            <p:cNvSpPr txBox="true"/>
            <p:nvPr/>
          </p:nvSpPr>
          <p:spPr>
            <a:xfrm>
              <a:off x="0" y="-38100"/>
              <a:ext cx="5120640" cy="575965"/>
            </a:xfrm>
            <a:prstGeom prst="rect">
              <a:avLst/>
            </a:prstGeom>
          </p:spPr>
          <p:txBody>
            <a:bodyPr anchor="ctr" rtlCol="false" tIns="0" lIns="0" bIns="0" rIns="0"/>
            <a:lstStyle/>
            <a:p>
              <a:pPr algn="ctr">
                <a:lnSpc>
                  <a:spcPts val="2400"/>
                </a:lnSpc>
              </a:pPr>
              <a:r>
                <a:rPr lang="en-US" sz="2000">
                  <a:solidFill>
                    <a:srgbClr val="CADCFC"/>
                  </a:solidFill>
                  <a:latin typeface="Calibri (MS)"/>
                  <a:ea typeface="Calibri (MS)"/>
                  <a:cs typeface="Calibri (MS)"/>
                  <a:sym typeface="Calibri (MS)"/>
                </a:rPr>
                <a:t>Frequency</a:t>
              </a:r>
            </a:p>
          </p:txBody>
        </p:sp>
      </p:grpSp>
      <p:grpSp>
        <p:nvGrpSpPr>
          <p:cNvPr name="Group 83" id="83"/>
          <p:cNvGrpSpPr/>
          <p:nvPr/>
        </p:nvGrpSpPr>
        <p:grpSpPr>
          <a:xfrm rot="0">
            <a:off x="9532620" y="8934848"/>
            <a:ext cx="3840480" cy="438912"/>
            <a:chOff x="0" y="0"/>
            <a:chExt cx="5120640" cy="585216"/>
          </a:xfrm>
        </p:grpSpPr>
        <p:sp>
          <p:nvSpPr>
            <p:cNvPr name="Freeform 84" id="84"/>
            <p:cNvSpPr/>
            <p:nvPr/>
          </p:nvSpPr>
          <p:spPr>
            <a:xfrm flipH="false" flipV="false" rot="0">
              <a:off x="0" y="0"/>
              <a:ext cx="5120640" cy="585216"/>
            </a:xfrm>
            <a:custGeom>
              <a:avLst/>
              <a:gdLst/>
              <a:ahLst/>
              <a:cxnLst/>
              <a:rect r="r" b="b" t="t" l="l"/>
              <a:pathLst>
                <a:path h="585216" w="5120640">
                  <a:moveTo>
                    <a:pt x="0" y="0"/>
                  </a:moveTo>
                  <a:lnTo>
                    <a:pt x="5120640" y="0"/>
                  </a:lnTo>
                  <a:lnTo>
                    <a:pt x="5120640" y="585216"/>
                  </a:lnTo>
                  <a:lnTo>
                    <a:pt x="0" y="585216"/>
                  </a:lnTo>
                  <a:close/>
                </a:path>
              </a:pathLst>
            </a:custGeom>
            <a:blipFill>
              <a:blip r:embed="rId3">
                <a:alphaModFix amt="0"/>
              </a:blip>
              <a:stretch>
                <a:fillRect l="0" t="-120494" r="0" b="-120494"/>
              </a:stretch>
            </a:blipFill>
          </p:spPr>
        </p:sp>
        <p:sp>
          <p:nvSpPr>
            <p:cNvPr name="TextBox 85" id="85"/>
            <p:cNvSpPr txBox="true"/>
            <p:nvPr/>
          </p:nvSpPr>
          <p:spPr>
            <a:xfrm>
              <a:off x="0" y="-38100"/>
              <a:ext cx="5120640" cy="62331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Daily (Business Days)</a:t>
              </a:r>
            </a:p>
          </p:txBody>
        </p:sp>
      </p:grpSp>
      <p:grpSp>
        <p:nvGrpSpPr>
          <p:cNvPr name="Group 86" id="86"/>
          <p:cNvGrpSpPr/>
          <p:nvPr/>
        </p:nvGrpSpPr>
        <p:grpSpPr>
          <a:xfrm rot="0">
            <a:off x="13771878" y="8431273"/>
            <a:ext cx="4048763" cy="1211398"/>
            <a:chOff x="0" y="0"/>
            <a:chExt cx="5398351" cy="1615197"/>
          </a:xfrm>
        </p:grpSpPr>
        <p:sp>
          <p:nvSpPr>
            <p:cNvPr name="Freeform 87" id="87"/>
            <p:cNvSpPr/>
            <p:nvPr/>
          </p:nvSpPr>
          <p:spPr>
            <a:xfrm flipH="false" flipV="false" rot="0">
              <a:off x="16891" y="22654"/>
              <a:ext cx="5364480" cy="1569770"/>
            </a:xfrm>
            <a:custGeom>
              <a:avLst/>
              <a:gdLst/>
              <a:ahLst/>
              <a:cxnLst/>
              <a:rect r="r" b="b" t="t" l="l"/>
              <a:pathLst>
                <a:path h="1569770" w="5364480">
                  <a:moveTo>
                    <a:pt x="0" y="0"/>
                  </a:moveTo>
                  <a:lnTo>
                    <a:pt x="5364480" y="0"/>
                  </a:lnTo>
                  <a:lnTo>
                    <a:pt x="5364480" y="1569770"/>
                  </a:lnTo>
                  <a:lnTo>
                    <a:pt x="0" y="1569770"/>
                  </a:lnTo>
                  <a:close/>
                </a:path>
              </a:pathLst>
            </a:custGeom>
            <a:solidFill>
              <a:srgbClr val="1E2761"/>
            </a:solidFill>
          </p:spPr>
        </p:sp>
        <p:sp>
          <p:nvSpPr>
            <p:cNvPr name="Freeform 88" id="88"/>
            <p:cNvSpPr/>
            <p:nvPr/>
          </p:nvSpPr>
          <p:spPr>
            <a:xfrm flipH="false" flipV="false" rot="0">
              <a:off x="0" y="0"/>
              <a:ext cx="5398262" cy="1615080"/>
            </a:xfrm>
            <a:custGeom>
              <a:avLst/>
              <a:gdLst/>
              <a:ahLst/>
              <a:cxnLst/>
              <a:rect r="r" b="b" t="t" l="l"/>
              <a:pathLst>
                <a:path h="1615080" w="5398262">
                  <a:moveTo>
                    <a:pt x="16891" y="0"/>
                  </a:moveTo>
                  <a:lnTo>
                    <a:pt x="5381371" y="0"/>
                  </a:lnTo>
                  <a:cubicBezTo>
                    <a:pt x="5390769" y="0"/>
                    <a:pt x="5398262" y="10220"/>
                    <a:pt x="5398262" y="22654"/>
                  </a:cubicBezTo>
                  <a:lnTo>
                    <a:pt x="5398262" y="1592424"/>
                  </a:lnTo>
                  <a:cubicBezTo>
                    <a:pt x="5398262" y="1605028"/>
                    <a:pt x="5390642" y="1615078"/>
                    <a:pt x="5381371" y="1615078"/>
                  </a:cubicBezTo>
                  <a:lnTo>
                    <a:pt x="16891" y="1615078"/>
                  </a:lnTo>
                  <a:cubicBezTo>
                    <a:pt x="7620" y="1615235"/>
                    <a:pt x="0" y="1605028"/>
                    <a:pt x="0" y="1592424"/>
                  </a:cubicBezTo>
                  <a:lnTo>
                    <a:pt x="0" y="22654"/>
                  </a:lnTo>
                  <a:cubicBezTo>
                    <a:pt x="0" y="10220"/>
                    <a:pt x="7620" y="0"/>
                    <a:pt x="16891" y="0"/>
                  </a:cubicBezTo>
                  <a:moveTo>
                    <a:pt x="16891" y="45478"/>
                  </a:moveTo>
                  <a:lnTo>
                    <a:pt x="16891" y="22654"/>
                  </a:lnTo>
                  <a:lnTo>
                    <a:pt x="33909" y="22654"/>
                  </a:lnTo>
                  <a:lnTo>
                    <a:pt x="33909" y="1592424"/>
                  </a:lnTo>
                  <a:lnTo>
                    <a:pt x="16891" y="1592424"/>
                  </a:lnTo>
                  <a:lnTo>
                    <a:pt x="16891" y="1569770"/>
                  </a:lnTo>
                  <a:lnTo>
                    <a:pt x="5381371" y="1569770"/>
                  </a:lnTo>
                  <a:lnTo>
                    <a:pt x="5381371" y="1592424"/>
                  </a:lnTo>
                  <a:lnTo>
                    <a:pt x="5364480" y="1592424"/>
                  </a:lnTo>
                  <a:lnTo>
                    <a:pt x="5364480" y="22654"/>
                  </a:lnTo>
                  <a:lnTo>
                    <a:pt x="5381371" y="22654"/>
                  </a:lnTo>
                  <a:lnTo>
                    <a:pt x="5381371" y="45478"/>
                  </a:lnTo>
                  <a:lnTo>
                    <a:pt x="16891" y="45478"/>
                  </a:lnTo>
                  <a:close/>
                </a:path>
              </a:pathLst>
            </a:custGeom>
            <a:solidFill>
              <a:srgbClr val="1E2761"/>
            </a:solidFill>
          </p:spPr>
        </p:sp>
      </p:grpSp>
      <p:grpSp>
        <p:nvGrpSpPr>
          <p:cNvPr name="Group 89" id="89"/>
          <p:cNvGrpSpPr/>
          <p:nvPr/>
        </p:nvGrpSpPr>
        <p:grpSpPr>
          <a:xfrm rot="0">
            <a:off x="13877292" y="8480546"/>
            <a:ext cx="3840480" cy="403399"/>
            <a:chOff x="0" y="0"/>
            <a:chExt cx="5120640" cy="537865"/>
          </a:xfrm>
        </p:grpSpPr>
        <p:sp>
          <p:nvSpPr>
            <p:cNvPr name="Freeform 90" id="90"/>
            <p:cNvSpPr/>
            <p:nvPr/>
          </p:nvSpPr>
          <p:spPr>
            <a:xfrm flipH="false" flipV="false" rot="0">
              <a:off x="0" y="0"/>
              <a:ext cx="5120640" cy="537865"/>
            </a:xfrm>
            <a:custGeom>
              <a:avLst/>
              <a:gdLst/>
              <a:ahLst/>
              <a:cxnLst/>
              <a:rect r="r" b="b" t="t" l="l"/>
              <a:pathLst>
                <a:path h="537865" w="5120640">
                  <a:moveTo>
                    <a:pt x="0" y="0"/>
                  </a:moveTo>
                  <a:lnTo>
                    <a:pt x="5120640" y="0"/>
                  </a:lnTo>
                  <a:lnTo>
                    <a:pt x="5120640" y="537865"/>
                  </a:lnTo>
                  <a:lnTo>
                    <a:pt x="0" y="537865"/>
                  </a:lnTo>
                  <a:close/>
                </a:path>
              </a:pathLst>
            </a:custGeom>
            <a:blipFill>
              <a:blip r:embed="rId3">
                <a:alphaModFix amt="0"/>
              </a:blip>
              <a:stretch>
                <a:fillRect l="0" t="-140168" r="0" b="-130838"/>
              </a:stretch>
            </a:blipFill>
          </p:spPr>
        </p:sp>
        <p:sp>
          <p:nvSpPr>
            <p:cNvPr name="TextBox 91" id="91"/>
            <p:cNvSpPr txBox="true"/>
            <p:nvPr/>
          </p:nvSpPr>
          <p:spPr>
            <a:xfrm>
              <a:off x="0" y="-38100"/>
              <a:ext cx="5120640" cy="575965"/>
            </a:xfrm>
            <a:prstGeom prst="rect">
              <a:avLst/>
            </a:prstGeom>
          </p:spPr>
          <p:txBody>
            <a:bodyPr anchor="ctr" rtlCol="false" tIns="0" lIns="0" bIns="0" rIns="0"/>
            <a:lstStyle/>
            <a:p>
              <a:pPr algn="ctr">
                <a:lnSpc>
                  <a:spcPts val="2400"/>
                </a:lnSpc>
              </a:pPr>
              <a:r>
                <a:rPr lang="en-US" sz="2000">
                  <a:solidFill>
                    <a:srgbClr val="CADCFC"/>
                  </a:solidFill>
                  <a:latin typeface="Calibri (MS)"/>
                  <a:ea typeface="Calibri (MS)"/>
                  <a:cs typeface="Calibri (MS)"/>
                  <a:sym typeface="Calibri (MS)"/>
                </a:rPr>
                <a:t>Observations</a:t>
              </a:r>
            </a:p>
          </p:txBody>
        </p:sp>
      </p:grpSp>
      <p:grpSp>
        <p:nvGrpSpPr>
          <p:cNvPr name="Group 92" id="92"/>
          <p:cNvGrpSpPr/>
          <p:nvPr/>
        </p:nvGrpSpPr>
        <p:grpSpPr>
          <a:xfrm rot="0">
            <a:off x="13876020" y="8934848"/>
            <a:ext cx="3840480" cy="438912"/>
            <a:chOff x="0" y="0"/>
            <a:chExt cx="5120640" cy="585216"/>
          </a:xfrm>
        </p:grpSpPr>
        <p:sp>
          <p:nvSpPr>
            <p:cNvPr name="Freeform 93" id="93"/>
            <p:cNvSpPr/>
            <p:nvPr/>
          </p:nvSpPr>
          <p:spPr>
            <a:xfrm flipH="false" flipV="false" rot="0">
              <a:off x="0" y="0"/>
              <a:ext cx="5120640" cy="585216"/>
            </a:xfrm>
            <a:custGeom>
              <a:avLst/>
              <a:gdLst/>
              <a:ahLst/>
              <a:cxnLst/>
              <a:rect r="r" b="b" t="t" l="l"/>
              <a:pathLst>
                <a:path h="585216" w="5120640">
                  <a:moveTo>
                    <a:pt x="0" y="0"/>
                  </a:moveTo>
                  <a:lnTo>
                    <a:pt x="5120640" y="0"/>
                  </a:lnTo>
                  <a:lnTo>
                    <a:pt x="5120640" y="585216"/>
                  </a:lnTo>
                  <a:lnTo>
                    <a:pt x="0" y="585216"/>
                  </a:lnTo>
                  <a:close/>
                </a:path>
              </a:pathLst>
            </a:custGeom>
            <a:blipFill>
              <a:blip r:embed="rId3">
                <a:alphaModFix amt="0"/>
              </a:blip>
              <a:stretch>
                <a:fillRect l="0" t="-120494" r="0" b="-120494"/>
              </a:stretch>
            </a:blipFill>
          </p:spPr>
        </p:sp>
        <p:sp>
          <p:nvSpPr>
            <p:cNvPr name="TextBox 94" id="94"/>
            <p:cNvSpPr txBox="true"/>
            <p:nvPr/>
          </p:nvSpPr>
          <p:spPr>
            <a:xfrm>
              <a:off x="0" y="-38100"/>
              <a:ext cx="5120640" cy="623316"/>
            </a:xfrm>
            <a:prstGeom prst="rect">
              <a:avLst/>
            </a:prstGeom>
          </p:spPr>
          <p:txBody>
            <a:bodyPr anchor="ctr" rtlCol="false" tIns="0" lIns="0" bIns="0" rIns="0"/>
            <a:lstStyle/>
            <a:p>
              <a:pPr algn="ctr">
                <a:lnSpc>
                  <a:spcPts val="2400"/>
                </a:lnSpc>
              </a:pPr>
              <a:r>
                <a:rPr lang="en-US" sz="2000" b="true">
                  <a:solidFill>
                    <a:srgbClr val="FFFFFF"/>
                  </a:solidFill>
                  <a:latin typeface="Calibri (MS) Bold"/>
                  <a:ea typeface="Calibri (MS) Bold"/>
                  <a:cs typeface="Calibri (MS) Bold"/>
                  <a:sym typeface="Calibri (MS) Bold"/>
                </a:rPr>
                <a:t>2,787 (no missing values)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183947" y="492509"/>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196644" y="468630"/>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DATA</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Descriptive Statistics</a:t>
              </a:r>
            </a:p>
          </p:txBody>
        </p:sp>
      </p:grpSp>
      <p:grpSp>
        <p:nvGrpSpPr>
          <p:cNvPr name="Group 11" id="11"/>
          <p:cNvGrpSpPr/>
          <p:nvPr/>
        </p:nvGrpSpPr>
        <p:grpSpPr>
          <a:xfrm rot="0">
            <a:off x="834895" y="318135"/>
            <a:ext cx="1031243" cy="1031243"/>
            <a:chOff x="0" y="0"/>
            <a:chExt cx="1374991" cy="1374991"/>
          </a:xfrm>
        </p:grpSpPr>
        <p:sp>
          <p:nvSpPr>
            <p:cNvPr name="Freeform 12" id="12"/>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13" id="13"/>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14" id="14"/>
          <p:cNvGrpSpPr/>
          <p:nvPr/>
        </p:nvGrpSpPr>
        <p:grpSpPr>
          <a:xfrm rot="0">
            <a:off x="847592" y="330832"/>
            <a:ext cx="1005840" cy="1005840"/>
            <a:chOff x="0" y="0"/>
            <a:chExt cx="1341120" cy="1341120"/>
          </a:xfrm>
        </p:grpSpPr>
        <p:sp>
          <p:nvSpPr>
            <p:cNvPr name="Freeform 15" id="1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16" id="1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01</a:t>
              </a:r>
            </a:p>
          </p:txBody>
        </p:sp>
      </p:grpSp>
      <p:sp>
        <p:nvSpPr>
          <p:cNvPr name="Freeform 17" id="17"/>
          <p:cNvSpPr/>
          <p:nvPr/>
        </p:nvSpPr>
        <p:spPr>
          <a:xfrm flipH="false" flipV="false" rot="0">
            <a:off x="1853432" y="2981470"/>
            <a:ext cx="13691563" cy="5427074"/>
          </a:xfrm>
          <a:custGeom>
            <a:avLst/>
            <a:gdLst/>
            <a:ahLst/>
            <a:cxnLst/>
            <a:rect r="r" b="b" t="t" l="l"/>
            <a:pathLst>
              <a:path h="5427074" w="13691563">
                <a:moveTo>
                  <a:pt x="0" y="0"/>
                </a:moveTo>
                <a:lnTo>
                  <a:pt x="13691563" y="0"/>
                </a:lnTo>
                <a:lnTo>
                  <a:pt x="13691563" y="5427073"/>
                </a:lnTo>
                <a:lnTo>
                  <a:pt x="0" y="5427073"/>
                </a:lnTo>
                <a:lnTo>
                  <a:pt x="0" y="0"/>
                </a:lnTo>
                <a:close/>
              </a:path>
            </a:pathLst>
          </a:custGeom>
          <a:blipFill>
            <a:blip r:embed="rId4"/>
            <a:stretch>
              <a:fillRect l="0" t="0" r="0" b="0"/>
            </a:stretch>
          </a:blipFill>
          <a:ln w="38100" cap="sq">
            <a:solidFill>
              <a:srgbClr val="000000"/>
            </a:solidFill>
            <a:prstDash val="solid"/>
            <a:miter/>
          </a:ln>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40913"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253610"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1 · ARIMA</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Stationarity Testing </a:t>
              </a:r>
            </a:p>
          </p:txBody>
        </p:sp>
      </p:grpSp>
      <p:graphicFrame>
        <p:nvGraphicFramePr>
          <p:cNvPr name="Table 11" id="11"/>
          <p:cNvGraphicFramePr>
            <a:graphicFrameLocks noGrp="true"/>
          </p:cNvGraphicFramePr>
          <p:nvPr/>
        </p:nvGraphicFramePr>
        <p:xfrm>
          <a:off x="914400" y="2543175"/>
          <a:ext cx="15582890" cy="2191808"/>
        </p:xfrm>
        <a:graphic>
          <a:graphicData uri="http://schemas.openxmlformats.org/drawingml/2006/table">
            <a:tbl>
              <a:tblPr/>
              <a:tblGrid>
                <a:gridCol w="3999316"/>
                <a:gridCol w="2734789"/>
                <a:gridCol w="2373496"/>
                <a:gridCol w="2915436"/>
                <a:gridCol w="1547649"/>
                <a:gridCol w="2012203"/>
              </a:tblGrid>
              <a:tr h="592266">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Series</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ADF Statistic</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ADF p-value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KPSS Statistic</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KPSS p-value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400"/>
                        </a:lnSpc>
                        <a:defRPr/>
                      </a:pPr>
                      <a:r>
                        <a:rPr lang="en-US" sz="2000" b="true">
                          <a:solidFill>
                            <a:srgbClr val="FFFFFF"/>
                          </a:solidFill>
                          <a:latin typeface="Calibri (MS) Bold"/>
                          <a:ea typeface="Calibri (MS) Bold"/>
                          <a:cs typeface="Calibri (MS) Bold"/>
                          <a:sym typeface="Calibri (MS) Bold"/>
                        </a:rPr>
                        <a:t>Verdict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888399">
                <a:tc>
                  <a:txBody>
                    <a:bodyPr anchor="t" rtlCol="false"/>
                    <a:lstStyle/>
                    <a:p>
                      <a:pPr algn="ctr">
                        <a:lnSpc>
                          <a:spcPts val="2400"/>
                        </a:lnSpc>
                        <a:defRPr/>
                      </a:pPr>
                      <a:r>
                        <a:rPr lang="en-US" sz="2000">
                          <a:solidFill>
                            <a:srgbClr val="000000"/>
                          </a:solidFill>
                          <a:latin typeface="Calibri (MS)"/>
                          <a:ea typeface="Calibri (MS)"/>
                          <a:cs typeface="Calibri (MS)"/>
                          <a:sym typeface="Calibri (MS)"/>
                        </a:rPr>
                        <a:t>MSFT (Levels)</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400"/>
                        </a:lnSpc>
                        <a:defRPr/>
                      </a:pPr>
                      <a:r>
                        <a:rPr lang="en-US" sz="2000">
                          <a:solidFill>
                            <a:srgbClr val="000000"/>
                          </a:solidFill>
                          <a:latin typeface="Calibri (MS)"/>
                          <a:ea typeface="Calibri (MS)"/>
                          <a:cs typeface="Calibri (MS)"/>
                          <a:sym typeface="Calibri (MS)"/>
                        </a:rPr>
                        <a:t>-0.610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400"/>
                        </a:lnSpc>
                        <a:defRPr/>
                      </a:pPr>
                      <a:r>
                        <a:rPr lang="en-US" sz="2000">
                          <a:solidFill>
                            <a:srgbClr val="000000"/>
                          </a:solidFill>
                          <a:latin typeface="Calibri (MS)"/>
                          <a:ea typeface="Calibri (MS)"/>
                          <a:cs typeface="Calibri (MS)"/>
                          <a:sym typeface="Calibri (MS)"/>
                        </a:rPr>
                        <a:t>0.869</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400"/>
                        </a:lnSpc>
                        <a:defRPr/>
                      </a:pPr>
                      <a:r>
                        <a:rPr lang="en-US" sz="2000">
                          <a:solidFill>
                            <a:srgbClr val="000000"/>
                          </a:solidFill>
                          <a:latin typeface="Calibri (MS)"/>
                          <a:ea typeface="Calibri (MS)"/>
                          <a:cs typeface="Calibri (MS)"/>
                          <a:sym typeface="Calibri (MS)"/>
                        </a:rPr>
                        <a:t>8.368</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400"/>
                        </a:lnSpc>
                        <a:defRPr/>
                      </a:pPr>
                      <a:r>
                        <a:rPr lang="en-US" sz="2000">
                          <a:solidFill>
                            <a:srgbClr val="000000"/>
                          </a:solidFill>
                          <a:latin typeface="Calibri (MS)"/>
                          <a:ea typeface="Calibri (MS)"/>
                          <a:cs typeface="Calibri (MS)"/>
                          <a:sym typeface="Calibri (MS)"/>
                        </a:rPr>
                        <a:t>0.010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400"/>
                        </a:lnSpc>
                        <a:defRPr/>
                      </a:pPr>
                      <a:r>
                        <a:rPr lang="en-US" sz="2000" b="true">
                          <a:solidFill>
                            <a:srgbClr val="EF4444"/>
                          </a:solidFill>
                          <a:latin typeface="Calibri (MS) Bold"/>
                          <a:ea typeface="Calibri (MS) Bold"/>
                          <a:cs typeface="Calibri (MS) Bold"/>
                          <a:sym typeface="Calibri (MS) Bold"/>
                        </a:rPr>
                        <a:t>Non-Stationary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711144">
                <a:tc>
                  <a:txBody>
                    <a:bodyPr anchor="t" rtlCol="false"/>
                    <a:lstStyle/>
                    <a:p>
                      <a:pPr algn="ctr">
                        <a:lnSpc>
                          <a:spcPts val="2400"/>
                        </a:lnSpc>
                        <a:defRPr/>
                      </a:pPr>
                      <a:r>
                        <a:rPr lang="en-US" sz="2000">
                          <a:solidFill>
                            <a:srgbClr val="000000"/>
                          </a:solidFill>
                          <a:latin typeface="Calibri (MS)"/>
                          <a:ea typeface="Calibri (MS)"/>
                          <a:cs typeface="Calibri (MS)"/>
                          <a:sym typeface="Calibri (MS)"/>
                        </a:rPr>
                        <a:t>MSFT (1st Diff)</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E8F0FE"/>
                    </a:solidFill>
                  </a:tcPr>
                </a:tc>
                <a:tc>
                  <a:txBody>
                    <a:bodyPr anchor="t" rtlCol="false"/>
                    <a:lstStyle/>
                    <a:p>
                      <a:pPr algn="ctr">
                        <a:lnSpc>
                          <a:spcPts val="2400"/>
                        </a:lnSpc>
                        <a:defRPr/>
                      </a:pPr>
                      <a:r>
                        <a:rPr lang="en-US" sz="2000">
                          <a:solidFill>
                            <a:srgbClr val="000000"/>
                          </a:solidFill>
                          <a:latin typeface="Calibri (MS)"/>
                          <a:ea typeface="Calibri (MS)"/>
                          <a:cs typeface="Calibri (MS)"/>
                          <a:sym typeface="Calibri (MS)"/>
                        </a:rPr>
                        <a:t>-17.525</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E8F0FE"/>
                    </a:solidFill>
                  </a:tcPr>
                </a:tc>
                <a:tc>
                  <a:txBody>
                    <a:bodyPr anchor="t" rtlCol="false"/>
                    <a:lstStyle/>
                    <a:p>
                      <a:pPr algn="ctr">
                        <a:lnSpc>
                          <a:spcPts val="2400"/>
                        </a:lnSpc>
                        <a:defRPr/>
                      </a:pPr>
                      <a:r>
                        <a:rPr lang="en-US" sz="2000" b="true">
                          <a:solidFill>
                            <a:srgbClr val="10B981"/>
                          </a:solidFill>
                          <a:latin typeface="Calibri (MS) Bold"/>
                          <a:ea typeface="Calibri (MS) Bold"/>
                          <a:cs typeface="Calibri (MS) Bold"/>
                          <a:sym typeface="Calibri (MS) Bold"/>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E8F0FE"/>
                    </a:solidFill>
                  </a:tcPr>
                </a:tc>
                <a:tc>
                  <a:txBody>
                    <a:bodyPr anchor="t" rtlCol="false"/>
                    <a:lstStyle/>
                    <a:p>
                      <a:pPr algn="ctr">
                        <a:lnSpc>
                          <a:spcPts val="2400"/>
                        </a:lnSpc>
                        <a:defRPr/>
                      </a:pPr>
                      <a:r>
                        <a:rPr lang="en-US" sz="2000">
                          <a:solidFill>
                            <a:srgbClr val="000000"/>
                          </a:solidFill>
                          <a:latin typeface="Calibri (MS)"/>
                          <a:ea typeface="Calibri (MS)"/>
                          <a:cs typeface="Calibri (MS)"/>
                          <a:sym typeface="Calibri (MS)"/>
                        </a:rPr>
                        <a:t>0.054</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E8F0FE"/>
                    </a:solidFill>
                  </a:tcPr>
                </a:tc>
                <a:tc>
                  <a:txBody>
                    <a:bodyPr anchor="t" rtlCol="false"/>
                    <a:lstStyle/>
                    <a:p>
                      <a:pPr algn="ctr">
                        <a:lnSpc>
                          <a:spcPts val="2400"/>
                        </a:lnSpc>
                        <a:defRPr/>
                      </a:pPr>
                      <a:r>
                        <a:rPr lang="en-US" sz="2000">
                          <a:solidFill>
                            <a:srgbClr val="000000"/>
                          </a:solidFill>
                          <a:latin typeface="Calibri (MS)"/>
                          <a:ea typeface="Calibri (MS)"/>
                          <a:cs typeface="Calibri (MS)"/>
                          <a:sym typeface="Calibri (MS)"/>
                        </a:rPr>
                        <a:t>0.100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E8F0FE"/>
                    </a:solidFill>
                  </a:tcPr>
                </a:tc>
                <a:tc>
                  <a:txBody>
                    <a:bodyPr anchor="t" rtlCol="false"/>
                    <a:lstStyle/>
                    <a:p>
                      <a:pPr algn="ctr">
                        <a:lnSpc>
                          <a:spcPts val="2400"/>
                        </a:lnSpc>
                        <a:defRPr/>
                      </a:pPr>
                      <a:r>
                        <a:rPr lang="en-US" sz="2000" b="true">
                          <a:solidFill>
                            <a:srgbClr val="10B981"/>
                          </a:solidFill>
                          <a:latin typeface="Calibri (MS) Bold"/>
                          <a:ea typeface="Calibri (MS) Bold"/>
                          <a:cs typeface="Calibri (MS) Bold"/>
                          <a:sym typeface="Calibri (MS) Bold"/>
                        </a:rPr>
                        <a:t>Stationary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E8F0FE"/>
                    </a:solidFill>
                  </a:tcPr>
                </a:tc>
              </a:tr>
            </a:tbl>
          </a:graphicData>
        </a:graphic>
      </p:graphicFrame>
      <p:grpSp>
        <p:nvGrpSpPr>
          <p:cNvPr name="Group 12" id="12"/>
          <p:cNvGrpSpPr/>
          <p:nvPr/>
        </p:nvGrpSpPr>
        <p:grpSpPr>
          <a:xfrm rot="0">
            <a:off x="895350" y="4848225"/>
            <a:ext cx="7972425" cy="1287018"/>
            <a:chOff x="0" y="0"/>
            <a:chExt cx="10629900" cy="1716024"/>
          </a:xfrm>
        </p:grpSpPr>
        <p:sp>
          <p:nvSpPr>
            <p:cNvPr name="Freeform 13" id="13"/>
            <p:cNvSpPr/>
            <p:nvPr/>
          </p:nvSpPr>
          <p:spPr>
            <a:xfrm flipH="false" flipV="false" rot="0">
              <a:off x="37910" y="14066"/>
              <a:ext cx="10554080" cy="1687893"/>
            </a:xfrm>
            <a:custGeom>
              <a:avLst/>
              <a:gdLst/>
              <a:ahLst/>
              <a:cxnLst/>
              <a:rect r="r" b="b" t="t" l="l"/>
              <a:pathLst>
                <a:path h="1687893" w="10554080">
                  <a:moveTo>
                    <a:pt x="0" y="0"/>
                  </a:moveTo>
                  <a:lnTo>
                    <a:pt x="10554080" y="0"/>
                  </a:lnTo>
                  <a:lnTo>
                    <a:pt x="10554080" y="1687892"/>
                  </a:lnTo>
                  <a:lnTo>
                    <a:pt x="0" y="1687892"/>
                  </a:lnTo>
                  <a:close/>
                </a:path>
              </a:pathLst>
            </a:custGeom>
            <a:solidFill>
              <a:srgbClr val="CADCFC"/>
            </a:solidFill>
          </p:spPr>
        </p:sp>
        <p:sp>
          <p:nvSpPr>
            <p:cNvPr name="Freeform 14" id="14"/>
            <p:cNvSpPr/>
            <p:nvPr/>
          </p:nvSpPr>
          <p:spPr>
            <a:xfrm flipH="false" flipV="false" rot="0">
              <a:off x="0" y="0"/>
              <a:ext cx="10629900" cy="1716024"/>
            </a:xfrm>
            <a:custGeom>
              <a:avLst/>
              <a:gdLst/>
              <a:ahLst/>
              <a:cxnLst/>
              <a:rect r="r" b="b" t="t" l="l"/>
              <a:pathLst>
                <a:path h="1716024" w="10629900">
                  <a:moveTo>
                    <a:pt x="37910" y="0"/>
                  </a:moveTo>
                  <a:lnTo>
                    <a:pt x="10591990" y="0"/>
                  </a:lnTo>
                  <a:cubicBezTo>
                    <a:pt x="10612840" y="0"/>
                    <a:pt x="10629900" y="6330"/>
                    <a:pt x="10629900" y="14066"/>
                  </a:cubicBezTo>
                  <a:lnTo>
                    <a:pt x="10629900" y="1701958"/>
                  </a:lnTo>
                  <a:cubicBezTo>
                    <a:pt x="10629900" y="1709694"/>
                    <a:pt x="10612840" y="1716024"/>
                    <a:pt x="10591990" y="1716024"/>
                  </a:cubicBezTo>
                  <a:lnTo>
                    <a:pt x="37910" y="1716024"/>
                  </a:lnTo>
                  <a:cubicBezTo>
                    <a:pt x="17059" y="1716024"/>
                    <a:pt x="0" y="1709694"/>
                    <a:pt x="0" y="1701958"/>
                  </a:cubicBezTo>
                  <a:lnTo>
                    <a:pt x="0" y="14066"/>
                  </a:lnTo>
                  <a:cubicBezTo>
                    <a:pt x="0" y="6330"/>
                    <a:pt x="17059" y="0"/>
                    <a:pt x="37910" y="0"/>
                  </a:cubicBezTo>
                  <a:moveTo>
                    <a:pt x="37910" y="28132"/>
                  </a:moveTo>
                  <a:lnTo>
                    <a:pt x="37910" y="14066"/>
                  </a:lnTo>
                  <a:lnTo>
                    <a:pt x="75820" y="14066"/>
                  </a:lnTo>
                  <a:lnTo>
                    <a:pt x="75820" y="1701958"/>
                  </a:lnTo>
                  <a:lnTo>
                    <a:pt x="37910" y="1701958"/>
                  </a:lnTo>
                  <a:lnTo>
                    <a:pt x="37910" y="1687893"/>
                  </a:lnTo>
                  <a:lnTo>
                    <a:pt x="10591990" y="1687893"/>
                  </a:lnTo>
                  <a:lnTo>
                    <a:pt x="10591990" y="1701958"/>
                  </a:lnTo>
                  <a:lnTo>
                    <a:pt x="10554081" y="1701958"/>
                  </a:lnTo>
                  <a:lnTo>
                    <a:pt x="10554081" y="14066"/>
                  </a:lnTo>
                  <a:lnTo>
                    <a:pt x="10591990" y="14066"/>
                  </a:lnTo>
                  <a:lnTo>
                    <a:pt x="10591990" y="28132"/>
                  </a:lnTo>
                  <a:lnTo>
                    <a:pt x="37910" y="28132"/>
                  </a:lnTo>
                  <a:close/>
                </a:path>
              </a:pathLst>
            </a:custGeom>
            <a:solidFill>
              <a:srgbClr val="CADCFC"/>
            </a:solidFill>
          </p:spPr>
        </p:sp>
      </p:grpSp>
      <p:grpSp>
        <p:nvGrpSpPr>
          <p:cNvPr name="Group 15" id="15"/>
          <p:cNvGrpSpPr/>
          <p:nvPr/>
        </p:nvGrpSpPr>
        <p:grpSpPr>
          <a:xfrm rot="0">
            <a:off x="1188720" y="4994529"/>
            <a:ext cx="4937760" cy="512064"/>
            <a:chOff x="0" y="0"/>
            <a:chExt cx="6583680" cy="682752"/>
          </a:xfrm>
        </p:grpSpPr>
        <p:sp>
          <p:nvSpPr>
            <p:cNvPr name="Freeform 16" id="16"/>
            <p:cNvSpPr/>
            <p:nvPr/>
          </p:nvSpPr>
          <p:spPr>
            <a:xfrm flipH="false" flipV="false" rot="0">
              <a:off x="0" y="0"/>
              <a:ext cx="6583680" cy="682752"/>
            </a:xfrm>
            <a:custGeom>
              <a:avLst/>
              <a:gdLst/>
              <a:ahLst/>
              <a:cxnLst/>
              <a:rect r="r" b="b" t="t" l="l"/>
              <a:pathLst>
                <a:path h="682752" w="6583680">
                  <a:moveTo>
                    <a:pt x="0" y="0"/>
                  </a:moveTo>
                  <a:lnTo>
                    <a:pt x="6583680" y="0"/>
                  </a:lnTo>
                  <a:lnTo>
                    <a:pt x="6583680" y="682752"/>
                  </a:lnTo>
                  <a:lnTo>
                    <a:pt x="0" y="682752"/>
                  </a:lnTo>
                  <a:close/>
                </a:path>
              </a:pathLst>
            </a:custGeom>
            <a:blipFill>
              <a:blip r:embed="rId3">
                <a:alphaModFix amt="0"/>
              </a:blip>
              <a:stretch>
                <a:fillRect l="0" t="-137891" r="0" b="-137891"/>
              </a:stretch>
            </a:blipFill>
          </p:spPr>
        </p:sp>
        <p:sp>
          <p:nvSpPr>
            <p:cNvPr name="TextBox 17" id="17"/>
            <p:cNvSpPr txBox="true"/>
            <p:nvPr/>
          </p:nvSpPr>
          <p:spPr>
            <a:xfrm>
              <a:off x="0" y="-47625"/>
              <a:ext cx="6583680" cy="730377"/>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ADF Test (H₀: Unit Root exists)</a:t>
              </a:r>
            </a:p>
          </p:txBody>
        </p:sp>
      </p:grpSp>
      <p:grpSp>
        <p:nvGrpSpPr>
          <p:cNvPr name="Group 18" id="18"/>
          <p:cNvGrpSpPr/>
          <p:nvPr/>
        </p:nvGrpSpPr>
        <p:grpSpPr>
          <a:xfrm rot="0">
            <a:off x="895350" y="6211443"/>
            <a:ext cx="7972425" cy="1287018"/>
            <a:chOff x="0" y="0"/>
            <a:chExt cx="10629900" cy="1716024"/>
          </a:xfrm>
        </p:grpSpPr>
        <p:sp>
          <p:nvSpPr>
            <p:cNvPr name="Freeform 19" id="19"/>
            <p:cNvSpPr/>
            <p:nvPr/>
          </p:nvSpPr>
          <p:spPr>
            <a:xfrm flipH="false" flipV="false" rot="0">
              <a:off x="37910" y="14066"/>
              <a:ext cx="10554080" cy="1687893"/>
            </a:xfrm>
            <a:custGeom>
              <a:avLst/>
              <a:gdLst/>
              <a:ahLst/>
              <a:cxnLst/>
              <a:rect r="r" b="b" t="t" l="l"/>
              <a:pathLst>
                <a:path h="1687893" w="10554080">
                  <a:moveTo>
                    <a:pt x="0" y="0"/>
                  </a:moveTo>
                  <a:lnTo>
                    <a:pt x="10554080" y="0"/>
                  </a:lnTo>
                  <a:lnTo>
                    <a:pt x="10554080" y="1687892"/>
                  </a:lnTo>
                  <a:lnTo>
                    <a:pt x="0" y="1687892"/>
                  </a:lnTo>
                  <a:close/>
                </a:path>
              </a:pathLst>
            </a:custGeom>
            <a:solidFill>
              <a:srgbClr val="CADCFC"/>
            </a:solidFill>
          </p:spPr>
        </p:sp>
        <p:sp>
          <p:nvSpPr>
            <p:cNvPr name="Freeform 20" id="20"/>
            <p:cNvSpPr/>
            <p:nvPr/>
          </p:nvSpPr>
          <p:spPr>
            <a:xfrm flipH="false" flipV="false" rot="0">
              <a:off x="0" y="0"/>
              <a:ext cx="10629900" cy="1716024"/>
            </a:xfrm>
            <a:custGeom>
              <a:avLst/>
              <a:gdLst/>
              <a:ahLst/>
              <a:cxnLst/>
              <a:rect r="r" b="b" t="t" l="l"/>
              <a:pathLst>
                <a:path h="1716024" w="10629900">
                  <a:moveTo>
                    <a:pt x="37910" y="0"/>
                  </a:moveTo>
                  <a:lnTo>
                    <a:pt x="10591990" y="0"/>
                  </a:lnTo>
                  <a:cubicBezTo>
                    <a:pt x="10612840" y="0"/>
                    <a:pt x="10629900" y="6330"/>
                    <a:pt x="10629900" y="14066"/>
                  </a:cubicBezTo>
                  <a:lnTo>
                    <a:pt x="10629900" y="1701958"/>
                  </a:lnTo>
                  <a:cubicBezTo>
                    <a:pt x="10629900" y="1709694"/>
                    <a:pt x="10612840" y="1716024"/>
                    <a:pt x="10591990" y="1716024"/>
                  </a:cubicBezTo>
                  <a:lnTo>
                    <a:pt x="37910" y="1716024"/>
                  </a:lnTo>
                  <a:cubicBezTo>
                    <a:pt x="17059" y="1716024"/>
                    <a:pt x="0" y="1709694"/>
                    <a:pt x="0" y="1701958"/>
                  </a:cubicBezTo>
                  <a:lnTo>
                    <a:pt x="0" y="14066"/>
                  </a:lnTo>
                  <a:cubicBezTo>
                    <a:pt x="0" y="6330"/>
                    <a:pt x="17059" y="0"/>
                    <a:pt x="37910" y="0"/>
                  </a:cubicBezTo>
                  <a:moveTo>
                    <a:pt x="37910" y="28132"/>
                  </a:moveTo>
                  <a:lnTo>
                    <a:pt x="37910" y="14066"/>
                  </a:lnTo>
                  <a:lnTo>
                    <a:pt x="75820" y="14066"/>
                  </a:lnTo>
                  <a:lnTo>
                    <a:pt x="75820" y="1701958"/>
                  </a:lnTo>
                  <a:lnTo>
                    <a:pt x="37910" y="1701958"/>
                  </a:lnTo>
                  <a:lnTo>
                    <a:pt x="37910" y="1687893"/>
                  </a:lnTo>
                  <a:lnTo>
                    <a:pt x="10591990" y="1687893"/>
                  </a:lnTo>
                  <a:lnTo>
                    <a:pt x="10591990" y="1701958"/>
                  </a:lnTo>
                  <a:lnTo>
                    <a:pt x="10554081" y="1701958"/>
                  </a:lnTo>
                  <a:lnTo>
                    <a:pt x="10554081" y="14066"/>
                  </a:lnTo>
                  <a:lnTo>
                    <a:pt x="10591990" y="14066"/>
                  </a:lnTo>
                  <a:lnTo>
                    <a:pt x="10591990" y="28132"/>
                  </a:lnTo>
                  <a:lnTo>
                    <a:pt x="37910" y="28132"/>
                  </a:lnTo>
                  <a:close/>
                </a:path>
              </a:pathLst>
            </a:custGeom>
            <a:solidFill>
              <a:srgbClr val="CADCFC"/>
            </a:solidFill>
          </p:spPr>
        </p:sp>
      </p:grpSp>
      <p:grpSp>
        <p:nvGrpSpPr>
          <p:cNvPr name="Group 21" id="21"/>
          <p:cNvGrpSpPr/>
          <p:nvPr/>
        </p:nvGrpSpPr>
        <p:grpSpPr>
          <a:xfrm rot="0">
            <a:off x="1188720" y="6376797"/>
            <a:ext cx="4937760" cy="512064"/>
            <a:chOff x="0" y="0"/>
            <a:chExt cx="6583680" cy="682752"/>
          </a:xfrm>
        </p:grpSpPr>
        <p:sp>
          <p:nvSpPr>
            <p:cNvPr name="Freeform 22" id="22"/>
            <p:cNvSpPr/>
            <p:nvPr/>
          </p:nvSpPr>
          <p:spPr>
            <a:xfrm flipH="false" flipV="false" rot="0">
              <a:off x="0" y="0"/>
              <a:ext cx="6583680" cy="682752"/>
            </a:xfrm>
            <a:custGeom>
              <a:avLst/>
              <a:gdLst/>
              <a:ahLst/>
              <a:cxnLst/>
              <a:rect r="r" b="b" t="t" l="l"/>
              <a:pathLst>
                <a:path h="682752" w="6583680">
                  <a:moveTo>
                    <a:pt x="0" y="0"/>
                  </a:moveTo>
                  <a:lnTo>
                    <a:pt x="6583680" y="0"/>
                  </a:lnTo>
                  <a:lnTo>
                    <a:pt x="6583680" y="682752"/>
                  </a:lnTo>
                  <a:lnTo>
                    <a:pt x="0" y="682752"/>
                  </a:lnTo>
                  <a:close/>
                </a:path>
              </a:pathLst>
            </a:custGeom>
            <a:blipFill>
              <a:blip r:embed="rId3">
                <a:alphaModFix amt="0"/>
              </a:blip>
              <a:stretch>
                <a:fillRect l="0" t="-137891" r="0" b="-137891"/>
              </a:stretch>
            </a:blipFill>
          </p:spPr>
        </p:sp>
        <p:sp>
          <p:nvSpPr>
            <p:cNvPr name="TextBox 23" id="23"/>
            <p:cNvSpPr txBox="true"/>
            <p:nvPr/>
          </p:nvSpPr>
          <p:spPr>
            <a:xfrm>
              <a:off x="0" y="-47625"/>
              <a:ext cx="6583680" cy="730377"/>
            </a:xfrm>
            <a:prstGeom prst="rect">
              <a:avLst/>
            </a:prstGeom>
          </p:spPr>
          <p:txBody>
            <a:bodyPr anchor="ctr" rtlCol="false" tIns="0" lIns="0" bIns="0" rIns="0"/>
            <a:lstStyle/>
            <a:p>
              <a:pPr algn="l">
                <a:lnSpc>
                  <a:spcPts val="2999"/>
                </a:lnSpc>
              </a:pPr>
              <a:r>
                <a:rPr lang="en-US" sz="2499" b="true">
                  <a:solidFill>
                    <a:srgbClr val="7C3AED"/>
                  </a:solidFill>
                  <a:latin typeface="Calibri (MS) Bold"/>
                  <a:ea typeface="Calibri (MS) Bold"/>
                  <a:cs typeface="Calibri (MS) Bold"/>
                  <a:sym typeface="Calibri (MS) Bold"/>
                </a:rPr>
                <a:t>KPSS Test (H₀: Series is stationary)</a:t>
              </a:r>
            </a:p>
          </p:txBody>
        </p:sp>
      </p:grpSp>
      <p:grpSp>
        <p:nvGrpSpPr>
          <p:cNvPr name="Group 24" id="24"/>
          <p:cNvGrpSpPr/>
          <p:nvPr/>
        </p:nvGrpSpPr>
        <p:grpSpPr>
          <a:xfrm rot="0">
            <a:off x="895350" y="279906"/>
            <a:ext cx="1031243" cy="1031243"/>
            <a:chOff x="0" y="0"/>
            <a:chExt cx="1374991" cy="1374991"/>
          </a:xfrm>
        </p:grpSpPr>
        <p:sp>
          <p:nvSpPr>
            <p:cNvPr name="Freeform 25" id="25"/>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26" id="26"/>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27" id="27"/>
          <p:cNvGrpSpPr/>
          <p:nvPr/>
        </p:nvGrpSpPr>
        <p:grpSpPr>
          <a:xfrm rot="0">
            <a:off x="908047" y="292603"/>
            <a:ext cx="1005840" cy="1005840"/>
            <a:chOff x="0" y="0"/>
            <a:chExt cx="1341120" cy="1341120"/>
          </a:xfrm>
        </p:grpSpPr>
        <p:sp>
          <p:nvSpPr>
            <p:cNvPr name="Freeform 28" id="28"/>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29" id="29"/>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02</a:t>
              </a:r>
            </a:p>
          </p:txBody>
        </p:sp>
      </p:grpSp>
      <p:grpSp>
        <p:nvGrpSpPr>
          <p:cNvPr name="Group 30" id="30"/>
          <p:cNvGrpSpPr/>
          <p:nvPr/>
        </p:nvGrpSpPr>
        <p:grpSpPr>
          <a:xfrm rot="0">
            <a:off x="908047" y="7574661"/>
            <a:ext cx="7959728" cy="1906143"/>
            <a:chOff x="0" y="0"/>
            <a:chExt cx="10612971" cy="2541524"/>
          </a:xfrm>
        </p:grpSpPr>
        <p:sp>
          <p:nvSpPr>
            <p:cNvPr name="Freeform 31" id="31"/>
            <p:cNvSpPr/>
            <p:nvPr/>
          </p:nvSpPr>
          <p:spPr>
            <a:xfrm flipH="false" flipV="false" rot="0">
              <a:off x="37849" y="20832"/>
              <a:ext cx="10537272" cy="2499860"/>
            </a:xfrm>
            <a:custGeom>
              <a:avLst/>
              <a:gdLst/>
              <a:ahLst/>
              <a:cxnLst/>
              <a:rect r="r" b="b" t="t" l="l"/>
              <a:pathLst>
                <a:path h="2499860" w="10537272">
                  <a:moveTo>
                    <a:pt x="0" y="0"/>
                  </a:moveTo>
                  <a:lnTo>
                    <a:pt x="10537272" y="0"/>
                  </a:lnTo>
                  <a:lnTo>
                    <a:pt x="10537272" y="2499860"/>
                  </a:lnTo>
                  <a:lnTo>
                    <a:pt x="0" y="2499860"/>
                  </a:lnTo>
                  <a:close/>
                </a:path>
              </a:pathLst>
            </a:custGeom>
            <a:solidFill>
              <a:srgbClr val="CADCFC"/>
            </a:solidFill>
          </p:spPr>
        </p:sp>
        <p:sp>
          <p:nvSpPr>
            <p:cNvPr name="Freeform 32" id="32"/>
            <p:cNvSpPr/>
            <p:nvPr/>
          </p:nvSpPr>
          <p:spPr>
            <a:xfrm flipH="false" flipV="false" rot="0">
              <a:off x="0" y="0"/>
              <a:ext cx="10612971" cy="2541524"/>
            </a:xfrm>
            <a:custGeom>
              <a:avLst/>
              <a:gdLst/>
              <a:ahLst/>
              <a:cxnLst/>
              <a:rect r="r" b="b" t="t" l="l"/>
              <a:pathLst>
                <a:path h="2541524" w="10612971">
                  <a:moveTo>
                    <a:pt x="37849" y="0"/>
                  </a:moveTo>
                  <a:lnTo>
                    <a:pt x="10575121" y="0"/>
                  </a:lnTo>
                  <a:cubicBezTo>
                    <a:pt x="10595938" y="0"/>
                    <a:pt x="10612971" y="9374"/>
                    <a:pt x="10612971" y="20832"/>
                  </a:cubicBezTo>
                  <a:lnTo>
                    <a:pt x="10612971" y="2520692"/>
                  </a:lnTo>
                  <a:cubicBezTo>
                    <a:pt x="10612971" y="2532150"/>
                    <a:pt x="10595938" y="2541524"/>
                    <a:pt x="10575121" y="2541524"/>
                  </a:cubicBezTo>
                  <a:lnTo>
                    <a:pt x="37849" y="2541524"/>
                  </a:lnTo>
                  <a:cubicBezTo>
                    <a:pt x="17032" y="2541524"/>
                    <a:pt x="0" y="2532150"/>
                    <a:pt x="0" y="2520692"/>
                  </a:cubicBezTo>
                  <a:lnTo>
                    <a:pt x="0" y="20832"/>
                  </a:lnTo>
                  <a:cubicBezTo>
                    <a:pt x="0" y="9374"/>
                    <a:pt x="17032" y="0"/>
                    <a:pt x="37849" y="0"/>
                  </a:cubicBezTo>
                  <a:moveTo>
                    <a:pt x="37849" y="41664"/>
                  </a:moveTo>
                  <a:lnTo>
                    <a:pt x="37849" y="20832"/>
                  </a:lnTo>
                  <a:lnTo>
                    <a:pt x="75699" y="20832"/>
                  </a:lnTo>
                  <a:lnTo>
                    <a:pt x="75699" y="2520692"/>
                  </a:lnTo>
                  <a:lnTo>
                    <a:pt x="37849" y="2520692"/>
                  </a:lnTo>
                  <a:lnTo>
                    <a:pt x="37849" y="2499860"/>
                  </a:lnTo>
                  <a:lnTo>
                    <a:pt x="10575121" y="2499860"/>
                  </a:lnTo>
                  <a:lnTo>
                    <a:pt x="10575121" y="2520692"/>
                  </a:lnTo>
                  <a:lnTo>
                    <a:pt x="10537272" y="2520692"/>
                  </a:lnTo>
                  <a:lnTo>
                    <a:pt x="10537272" y="20832"/>
                  </a:lnTo>
                  <a:lnTo>
                    <a:pt x="10575121" y="20832"/>
                  </a:lnTo>
                  <a:lnTo>
                    <a:pt x="10575121" y="41664"/>
                  </a:lnTo>
                  <a:lnTo>
                    <a:pt x="37849" y="41664"/>
                  </a:lnTo>
                  <a:close/>
                </a:path>
              </a:pathLst>
            </a:custGeom>
            <a:solidFill>
              <a:srgbClr val="CADCFC"/>
            </a:solidFill>
          </p:spPr>
        </p:sp>
      </p:grpSp>
      <p:grpSp>
        <p:nvGrpSpPr>
          <p:cNvPr name="Group 33" id="33"/>
          <p:cNvGrpSpPr/>
          <p:nvPr/>
        </p:nvGrpSpPr>
        <p:grpSpPr>
          <a:xfrm rot="0">
            <a:off x="1201417" y="7740015"/>
            <a:ext cx="4937760" cy="512064"/>
            <a:chOff x="0" y="0"/>
            <a:chExt cx="6583680" cy="682752"/>
          </a:xfrm>
        </p:grpSpPr>
        <p:sp>
          <p:nvSpPr>
            <p:cNvPr name="Freeform 34" id="34"/>
            <p:cNvSpPr/>
            <p:nvPr/>
          </p:nvSpPr>
          <p:spPr>
            <a:xfrm flipH="false" flipV="false" rot="0">
              <a:off x="0" y="0"/>
              <a:ext cx="6583680" cy="682752"/>
            </a:xfrm>
            <a:custGeom>
              <a:avLst/>
              <a:gdLst/>
              <a:ahLst/>
              <a:cxnLst/>
              <a:rect r="r" b="b" t="t" l="l"/>
              <a:pathLst>
                <a:path h="682752" w="6583680">
                  <a:moveTo>
                    <a:pt x="0" y="0"/>
                  </a:moveTo>
                  <a:lnTo>
                    <a:pt x="6583680" y="0"/>
                  </a:lnTo>
                  <a:lnTo>
                    <a:pt x="6583680" y="682752"/>
                  </a:lnTo>
                  <a:lnTo>
                    <a:pt x="0" y="682752"/>
                  </a:lnTo>
                  <a:close/>
                </a:path>
              </a:pathLst>
            </a:custGeom>
            <a:blipFill>
              <a:blip r:embed="rId3">
                <a:alphaModFix amt="0"/>
              </a:blip>
              <a:stretch>
                <a:fillRect l="0" t="-137891" r="0" b="-137891"/>
              </a:stretch>
            </a:blipFill>
          </p:spPr>
        </p:sp>
        <p:sp>
          <p:nvSpPr>
            <p:cNvPr name="TextBox 35" id="35"/>
            <p:cNvSpPr txBox="true"/>
            <p:nvPr/>
          </p:nvSpPr>
          <p:spPr>
            <a:xfrm>
              <a:off x="0" y="-47625"/>
              <a:ext cx="6583680" cy="730377"/>
            </a:xfrm>
            <a:prstGeom prst="rect">
              <a:avLst/>
            </a:prstGeom>
          </p:spPr>
          <p:txBody>
            <a:bodyPr anchor="ctr" rtlCol="false" tIns="0" lIns="0" bIns="0" rIns="0"/>
            <a:lstStyle/>
            <a:p>
              <a:pPr algn="l">
                <a:lnSpc>
                  <a:spcPts val="2999"/>
                </a:lnSpc>
              </a:pPr>
              <a:r>
                <a:rPr lang="en-US" sz="2499" b="true">
                  <a:solidFill>
                    <a:srgbClr val="00BF63"/>
                  </a:solidFill>
                  <a:latin typeface="Calibri (MS) Bold"/>
                  <a:ea typeface="Calibri (MS) Bold"/>
                  <a:cs typeface="Calibri (MS) Bold"/>
                  <a:sym typeface="Calibri (MS) Bold"/>
                </a:rPr>
                <a:t>Conclusion: d = 1</a:t>
              </a:r>
            </a:p>
          </p:txBody>
        </p:sp>
      </p:grpSp>
      <p:sp>
        <p:nvSpPr>
          <p:cNvPr name="AutoShape 36" id="36"/>
          <p:cNvSpPr/>
          <p:nvPr/>
        </p:nvSpPr>
        <p:spPr>
          <a:xfrm flipV="true">
            <a:off x="1028700" y="4848225"/>
            <a:ext cx="0" cy="1287018"/>
          </a:xfrm>
          <a:prstGeom prst="line">
            <a:avLst/>
          </a:prstGeom>
          <a:ln cap="flat" w="238125">
            <a:solidFill>
              <a:srgbClr val="000000"/>
            </a:solidFill>
            <a:prstDash val="solid"/>
            <a:headEnd type="none" len="sm" w="sm"/>
            <a:tailEnd type="none" len="sm" w="sm"/>
          </a:ln>
        </p:spPr>
      </p:sp>
      <p:sp>
        <p:nvSpPr>
          <p:cNvPr name="AutoShape 37" id="37"/>
          <p:cNvSpPr/>
          <p:nvPr/>
        </p:nvSpPr>
        <p:spPr>
          <a:xfrm flipV="true">
            <a:off x="1027109" y="6211443"/>
            <a:ext cx="0" cy="1287018"/>
          </a:xfrm>
          <a:prstGeom prst="line">
            <a:avLst/>
          </a:prstGeom>
          <a:ln cap="flat" w="238125">
            <a:solidFill>
              <a:srgbClr val="7C3AED"/>
            </a:solidFill>
            <a:prstDash val="solid"/>
            <a:headEnd type="none" len="sm" w="sm"/>
            <a:tailEnd type="none" len="sm" w="sm"/>
          </a:ln>
        </p:spPr>
      </p:sp>
      <p:sp>
        <p:nvSpPr>
          <p:cNvPr name="AutoShape 38" id="38"/>
          <p:cNvSpPr/>
          <p:nvPr/>
        </p:nvSpPr>
        <p:spPr>
          <a:xfrm flipV="true">
            <a:off x="1014412" y="7574661"/>
            <a:ext cx="12697" cy="1906143"/>
          </a:xfrm>
          <a:prstGeom prst="line">
            <a:avLst/>
          </a:prstGeom>
          <a:ln cap="flat" w="238125">
            <a:solidFill>
              <a:srgbClr val="00BF63"/>
            </a:solidFill>
            <a:prstDash val="solid"/>
            <a:headEnd type="none" len="sm" w="sm"/>
            <a:tailEnd type="none" len="sm" w="sm"/>
          </a:ln>
        </p:spPr>
      </p:sp>
      <p:sp>
        <p:nvSpPr>
          <p:cNvPr name="Freeform 39" id="39"/>
          <p:cNvSpPr/>
          <p:nvPr/>
        </p:nvSpPr>
        <p:spPr>
          <a:xfrm flipH="false" flipV="false" rot="0">
            <a:off x="9365076" y="5525643"/>
            <a:ext cx="8446676" cy="3002090"/>
          </a:xfrm>
          <a:custGeom>
            <a:avLst/>
            <a:gdLst/>
            <a:ahLst/>
            <a:cxnLst/>
            <a:rect r="r" b="b" t="t" l="l"/>
            <a:pathLst>
              <a:path h="3002090" w="8446676">
                <a:moveTo>
                  <a:pt x="0" y="0"/>
                </a:moveTo>
                <a:lnTo>
                  <a:pt x="8446677" y="0"/>
                </a:lnTo>
                <a:lnTo>
                  <a:pt x="8446677" y="3002090"/>
                </a:lnTo>
                <a:lnTo>
                  <a:pt x="0" y="3002090"/>
                </a:lnTo>
                <a:lnTo>
                  <a:pt x="0" y="0"/>
                </a:lnTo>
                <a:close/>
              </a:path>
            </a:pathLst>
          </a:custGeom>
          <a:blipFill>
            <a:blip r:embed="rId4"/>
            <a:stretch>
              <a:fillRect l="0" t="0" r="0" b="0"/>
            </a:stretch>
          </a:blipFill>
          <a:ln w="38100" cap="sq">
            <a:solidFill>
              <a:srgbClr val="000000"/>
            </a:solidFill>
            <a:prstDash val="solid"/>
            <a:miter/>
          </a:ln>
        </p:spPr>
      </p:sp>
      <p:sp>
        <p:nvSpPr>
          <p:cNvPr name="TextBox 40" id="40"/>
          <p:cNvSpPr txBox="true"/>
          <p:nvPr/>
        </p:nvSpPr>
        <p:spPr>
          <a:xfrm rot="0">
            <a:off x="1280160" y="5487543"/>
            <a:ext cx="7186721" cy="647700"/>
          </a:xfrm>
          <a:prstGeom prst="rect">
            <a:avLst/>
          </a:prstGeom>
        </p:spPr>
        <p:txBody>
          <a:bodyPr anchor="t" rtlCol="false" tIns="0" lIns="0" bIns="0" rIns="0">
            <a:spAutoFit/>
          </a:bodyPr>
          <a:lstStyle/>
          <a:p>
            <a:pPr algn="l">
              <a:lnSpc>
                <a:spcPts val="2400"/>
              </a:lnSpc>
            </a:pPr>
            <a:r>
              <a:rPr lang="en-US" sz="2000" b="true">
                <a:solidFill>
                  <a:srgbClr val="334155"/>
                </a:solidFill>
                <a:latin typeface="Calibri (MS) Bold"/>
                <a:ea typeface="Calibri (MS) Bold"/>
                <a:cs typeface="Calibri (MS) Bold"/>
                <a:sym typeface="Calibri (MS) Bold"/>
              </a:rPr>
              <a:t>Levels:</a:t>
            </a:r>
            <a:r>
              <a:rPr lang="en-US" sz="2000">
                <a:solidFill>
                  <a:srgbClr val="334155"/>
                </a:solidFill>
                <a:latin typeface="Calibri (MS)"/>
                <a:ea typeface="Calibri (MS)"/>
                <a:cs typeface="Calibri (MS)"/>
                <a:sym typeface="Calibri (MS)"/>
              </a:rPr>
              <a:t> p = 0.869 → FAIL to reject → </a:t>
            </a:r>
            <a:r>
              <a:rPr lang="en-US" sz="2000">
                <a:solidFill>
                  <a:srgbClr val="FF3131"/>
                </a:solidFill>
                <a:latin typeface="Calibri (MS)"/>
                <a:ea typeface="Calibri (MS)"/>
                <a:cs typeface="Calibri (MS)"/>
                <a:sym typeface="Calibri (MS)"/>
              </a:rPr>
              <a:t>unit root present</a:t>
            </a:r>
          </a:p>
          <a:p>
            <a:pPr algn="l">
              <a:lnSpc>
                <a:spcPts val="2400"/>
              </a:lnSpc>
            </a:pPr>
            <a:r>
              <a:rPr lang="en-US" sz="2000" b="true">
                <a:solidFill>
                  <a:srgbClr val="334155"/>
                </a:solidFill>
                <a:latin typeface="Calibri (MS) Bold"/>
                <a:ea typeface="Calibri (MS) Bold"/>
                <a:cs typeface="Calibri (MS) Bold"/>
                <a:sym typeface="Calibri (MS) Bold"/>
              </a:rPr>
              <a:t>First diff:</a:t>
            </a:r>
            <a:r>
              <a:rPr lang="en-US" sz="2000">
                <a:solidFill>
                  <a:srgbClr val="334155"/>
                </a:solidFill>
                <a:latin typeface="Calibri (MS)"/>
                <a:ea typeface="Calibri (MS)"/>
                <a:cs typeface="Calibri (MS)"/>
                <a:sym typeface="Calibri (MS)"/>
              </a:rPr>
              <a:t> p = 0.000 → reject →</a:t>
            </a:r>
            <a:r>
              <a:rPr lang="en-US" sz="2000">
                <a:solidFill>
                  <a:srgbClr val="00BF63"/>
                </a:solidFill>
                <a:latin typeface="Calibri (MS)"/>
                <a:ea typeface="Calibri (MS)"/>
                <a:cs typeface="Calibri (MS)"/>
                <a:sym typeface="Calibri (MS)"/>
              </a:rPr>
              <a:t> stationary ✓</a:t>
            </a:r>
          </a:p>
        </p:txBody>
      </p:sp>
      <p:sp>
        <p:nvSpPr>
          <p:cNvPr name="TextBox 41" id="41"/>
          <p:cNvSpPr txBox="true"/>
          <p:nvPr/>
        </p:nvSpPr>
        <p:spPr>
          <a:xfrm rot="0">
            <a:off x="1280160" y="6850761"/>
            <a:ext cx="7429905" cy="647700"/>
          </a:xfrm>
          <a:prstGeom prst="rect">
            <a:avLst/>
          </a:prstGeom>
        </p:spPr>
        <p:txBody>
          <a:bodyPr anchor="t" rtlCol="false" tIns="0" lIns="0" bIns="0" rIns="0">
            <a:spAutoFit/>
          </a:bodyPr>
          <a:lstStyle/>
          <a:p>
            <a:pPr algn="l">
              <a:lnSpc>
                <a:spcPts val="2400"/>
              </a:lnSpc>
            </a:pPr>
            <a:r>
              <a:rPr lang="en-US" sz="2000" b="true">
                <a:solidFill>
                  <a:srgbClr val="334155"/>
                </a:solidFill>
                <a:latin typeface="Calibri (MS) Bold"/>
                <a:ea typeface="Calibri (MS) Bold"/>
                <a:cs typeface="Calibri (MS) Bold"/>
                <a:sym typeface="Calibri (MS) Bold"/>
              </a:rPr>
              <a:t>Levels:</a:t>
            </a:r>
            <a:r>
              <a:rPr lang="en-US" sz="2000">
                <a:solidFill>
                  <a:srgbClr val="334155"/>
                </a:solidFill>
                <a:latin typeface="Calibri (MS)"/>
                <a:ea typeface="Calibri (MS)"/>
                <a:cs typeface="Calibri (MS)"/>
                <a:sym typeface="Calibri (MS)"/>
              </a:rPr>
              <a:t> p = 0.010 → REJECT stationarity → </a:t>
            </a:r>
            <a:r>
              <a:rPr lang="en-US" sz="2000">
                <a:solidFill>
                  <a:srgbClr val="FF3131"/>
                </a:solidFill>
                <a:latin typeface="Calibri (MS)"/>
                <a:ea typeface="Calibri (MS)"/>
                <a:cs typeface="Calibri (MS)"/>
                <a:sym typeface="Calibri (MS)"/>
              </a:rPr>
              <a:t>non-stationary</a:t>
            </a:r>
          </a:p>
          <a:p>
            <a:pPr algn="l">
              <a:lnSpc>
                <a:spcPts val="2400"/>
              </a:lnSpc>
            </a:pPr>
            <a:r>
              <a:rPr lang="en-US" sz="2000" b="true">
                <a:solidFill>
                  <a:srgbClr val="334155"/>
                </a:solidFill>
                <a:latin typeface="Calibri (MS) Bold"/>
                <a:ea typeface="Calibri (MS) Bold"/>
                <a:cs typeface="Calibri (MS) Bold"/>
                <a:sym typeface="Calibri (MS) Bold"/>
              </a:rPr>
              <a:t>First diff:</a:t>
            </a:r>
            <a:r>
              <a:rPr lang="en-US" sz="2000">
                <a:solidFill>
                  <a:srgbClr val="334155"/>
                </a:solidFill>
                <a:latin typeface="Calibri (MS)"/>
                <a:ea typeface="Calibri (MS)"/>
                <a:cs typeface="Calibri (MS)"/>
                <a:sym typeface="Calibri (MS)"/>
              </a:rPr>
              <a:t> p = 0.100 → fail to reject → </a:t>
            </a:r>
            <a:r>
              <a:rPr lang="en-US" sz="2000">
                <a:solidFill>
                  <a:srgbClr val="00BF63"/>
                </a:solidFill>
                <a:latin typeface="Calibri (MS)"/>
                <a:ea typeface="Calibri (MS)"/>
                <a:cs typeface="Calibri (MS)"/>
                <a:sym typeface="Calibri (MS)"/>
              </a:rPr>
              <a:t>stationary ✓</a:t>
            </a:r>
          </a:p>
        </p:txBody>
      </p:sp>
      <p:sp>
        <p:nvSpPr>
          <p:cNvPr name="TextBox 42" id="42"/>
          <p:cNvSpPr txBox="true"/>
          <p:nvPr/>
        </p:nvSpPr>
        <p:spPr>
          <a:xfrm rot="0">
            <a:off x="1292857" y="8223504"/>
            <a:ext cx="7417209" cy="1257300"/>
          </a:xfrm>
          <a:prstGeom prst="rect">
            <a:avLst/>
          </a:prstGeom>
        </p:spPr>
        <p:txBody>
          <a:bodyPr anchor="t" rtlCol="false" tIns="0" lIns="0" bIns="0" rIns="0">
            <a:spAutoFit/>
          </a:bodyPr>
          <a:lstStyle/>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Both ADF and KPSS agree  MSFT daily prices are integrated of order one I(1). </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First differencing produces a stationary series suitable for ARIMA modelling.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240913"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253610"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1 · ARIMA</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Seasonality, Structural Breaks &amp; Volatility Clustering</a:t>
              </a:r>
            </a:p>
          </p:txBody>
        </p:sp>
      </p:grpSp>
      <p:grpSp>
        <p:nvGrpSpPr>
          <p:cNvPr name="Group 11" id="11"/>
          <p:cNvGrpSpPr/>
          <p:nvPr/>
        </p:nvGrpSpPr>
        <p:grpSpPr>
          <a:xfrm rot="0">
            <a:off x="895350" y="279906"/>
            <a:ext cx="1031243" cy="1031243"/>
            <a:chOff x="0" y="0"/>
            <a:chExt cx="1374991" cy="1374991"/>
          </a:xfrm>
        </p:grpSpPr>
        <p:sp>
          <p:nvSpPr>
            <p:cNvPr name="Freeform 12" id="12"/>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13" id="13"/>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14" id="14"/>
          <p:cNvGrpSpPr/>
          <p:nvPr/>
        </p:nvGrpSpPr>
        <p:grpSpPr>
          <a:xfrm rot="0">
            <a:off x="908047" y="292603"/>
            <a:ext cx="1005840" cy="1005840"/>
            <a:chOff x="0" y="0"/>
            <a:chExt cx="1341120" cy="1341120"/>
          </a:xfrm>
        </p:grpSpPr>
        <p:sp>
          <p:nvSpPr>
            <p:cNvPr name="Freeform 15" id="1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16" id="1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02</a:t>
              </a:r>
            </a:p>
          </p:txBody>
        </p:sp>
      </p:grpSp>
      <p:sp>
        <p:nvSpPr>
          <p:cNvPr name="Freeform 17" id="17"/>
          <p:cNvSpPr/>
          <p:nvPr/>
        </p:nvSpPr>
        <p:spPr>
          <a:xfrm flipH="false" flipV="false" rot="0">
            <a:off x="8488650" y="7021084"/>
            <a:ext cx="8593789" cy="2717786"/>
          </a:xfrm>
          <a:custGeom>
            <a:avLst/>
            <a:gdLst/>
            <a:ahLst/>
            <a:cxnLst/>
            <a:rect r="r" b="b" t="t" l="l"/>
            <a:pathLst>
              <a:path h="2717786" w="8593789">
                <a:moveTo>
                  <a:pt x="0" y="0"/>
                </a:moveTo>
                <a:lnTo>
                  <a:pt x="8593789" y="0"/>
                </a:lnTo>
                <a:lnTo>
                  <a:pt x="8593789" y="2717786"/>
                </a:lnTo>
                <a:lnTo>
                  <a:pt x="0" y="2717786"/>
                </a:lnTo>
                <a:lnTo>
                  <a:pt x="0" y="0"/>
                </a:lnTo>
                <a:close/>
              </a:path>
            </a:pathLst>
          </a:custGeom>
          <a:blipFill>
            <a:blip r:embed="rId4"/>
            <a:stretch>
              <a:fillRect l="0" t="0" r="0" b="0"/>
            </a:stretch>
          </a:blipFill>
          <a:ln w="38100" cap="sq">
            <a:solidFill>
              <a:srgbClr val="000000"/>
            </a:solidFill>
            <a:prstDash val="solid"/>
            <a:miter/>
          </a:ln>
        </p:spPr>
      </p:sp>
      <p:sp>
        <p:nvSpPr>
          <p:cNvPr name="Freeform 18" id="18"/>
          <p:cNvSpPr/>
          <p:nvPr/>
        </p:nvSpPr>
        <p:spPr>
          <a:xfrm flipH="false" flipV="false" rot="0">
            <a:off x="1410972" y="5750642"/>
            <a:ext cx="6075788" cy="4108752"/>
          </a:xfrm>
          <a:custGeom>
            <a:avLst/>
            <a:gdLst/>
            <a:ahLst/>
            <a:cxnLst/>
            <a:rect r="r" b="b" t="t" l="l"/>
            <a:pathLst>
              <a:path h="4108752" w="6075788">
                <a:moveTo>
                  <a:pt x="0" y="0"/>
                </a:moveTo>
                <a:lnTo>
                  <a:pt x="6075788" y="0"/>
                </a:lnTo>
                <a:lnTo>
                  <a:pt x="6075788" y="4108752"/>
                </a:lnTo>
                <a:lnTo>
                  <a:pt x="0" y="4108752"/>
                </a:lnTo>
                <a:lnTo>
                  <a:pt x="0" y="0"/>
                </a:lnTo>
                <a:close/>
              </a:path>
            </a:pathLst>
          </a:custGeom>
          <a:blipFill>
            <a:blip r:embed="rId5"/>
            <a:stretch>
              <a:fillRect l="0" t="0" r="0" b="0"/>
            </a:stretch>
          </a:blipFill>
          <a:ln w="38100" cap="sq">
            <a:solidFill>
              <a:srgbClr val="000000"/>
            </a:solidFill>
            <a:prstDash val="solid"/>
            <a:miter/>
          </a:ln>
        </p:spPr>
      </p:sp>
      <p:sp>
        <p:nvSpPr>
          <p:cNvPr name="Freeform 19" id="19"/>
          <p:cNvSpPr/>
          <p:nvPr/>
        </p:nvSpPr>
        <p:spPr>
          <a:xfrm flipH="false" flipV="false" rot="0">
            <a:off x="9134684" y="2468880"/>
            <a:ext cx="7301720" cy="3596097"/>
          </a:xfrm>
          <a:custGeom>
            <a:avLst/>
            <a:gdLst/>
            <a:ahLst/>
            <a:cxnLst/>
            <a:rect r="r" b="b" t="t" l="l"/>
            <a:pathLst>
              <a:path h="3596097" w="7301720">
                <a:moveTo>
                  <a:pt x="0" y="0"/>
                </a:moveTo>
                <a:lnTo>
                  <a:pt x="7301721" y="0"/>
                </a:lnTo>
                <a:lnTo>
                  <a:pt x="7301721" y="3596097"/>
                </a:lnTo>
                <a:lnTo>
                  <a:pt x="0" y="3596097"/>
                </a:lnTo>
                <a:lnTo>
                  <a:pt x="0" y="0"/>
                </a:lnTo>
                <a:close/>
              </a:path>
            </a:pathLst>
          </a:custGeom>
          <a:blipFill>
            <a:blip r:embed="rId6"/>
            <a:stretch>
              <a:fillRect l="0" t="0" r="0" b="0"/>
            </a:stretch>
          </a:blipFill>
          <a:ln w="38100" cap="sq">
            <a:solidFill>
              <a:srgbClr val="000000"/>
            </a:solidFill>
            <a:prstDash val="solid"/>
            <a:miter/>
          </a:ln>
        </p:spPr>
      </p:sp>
      <p:grpSp>
        <p:nvGrpSpPr>
          <p:cNvPr name="Group 20" id="20"/>
          <p:cNvGrpSpPr/>
          <p:nvPr/>
        </p:nvGrpSpPr>
        <p:grpSpPr>
          <a:xfrm rot="0">
            <a:off x="1410972" y="2468880"/>
            <a:ext cx="6075788" cy="2938862"/>
            <a:chOff x="0" y="0"/>
            <a:chExt cx="7105231" cy="3436804"/>
          </a:xfrm>
        </p:grpSpPr>
        <p:sp>
          <p:nvSpPr>
            <p:cNvPr name="Freeform 21" id="21"/>
            <p:cNvSpPr/>
            <p:nvPr/>
          </p:nvSpPr>
          <p:spPr>
            <a:xfrm flipH="false" flipV="false" rot="0">
              <a:off x="16891" y="15223"/>
              <a:ext cx="7071360" cy="3406278"/>
            </a:xfrm>
            <a:custGeom>
              <a:avLst/>
              <a:gdLst/>
              <a:ahLst/>
              <a:cxnLst/>
              <a:rect r="r" b="b" t="t" l="l"/>
              <a:pathLst>
                <a:path h="3406278" w="7071360">
                  <a:moveTo>
                    <a:pt x="0" y="0"/>
                  </a:moveTo>
                  <a:lnTo>
                    <a:pt x="7071360" y="0"/>
                  </a:lnTo>
                  <a:lnTo>
                    <a:pt x="7071360" y="3406278"/>
                  </a:lnTo>
                  <a:lnTo>
                    <a:pt x="0" y="3406278"/>
                  </a:lnTo>
                  <a:close/>
                </a:path>
              </a:pathLst>
            </a:custGeom>
            <a:solidFill>
              <a:srgbClr val="E8F0FE"/>
            </a:solidFill>
          </p:spPr>
        </p:sp>
        <p:sp>
          <p:nvSpPr>
            <p:cNvPr name="Freeform 22" id="22"/>
            <p:cNvSpPr/>
            <p:nvPr/>
          </p:nvSpPr>
          <p:spPr>
            <a:xfrm flipH="false" flipV="false" rot="0">
              <a:off x="0" y="0"/>
              <a:ext cx="7105142" cy="3436724"/>
            </a:xfrm>
            <a:custGeom>
              <a:avLst/>
              <a:gdLst/>
              <a:ahLst/>
              <a:cxnLst/>
              <a:rect r="r" b="b" t="t" l="l"/>
              <a:pathLst>
                <a:path h="3436724" w="7105142">
                  <a:moveTo>
                    <a:pt x="16891" y="0"/>
                  </a:moveTo>
                  <a:lnTo>
                    <a:pt x="7088251" y="0"/>
                  </a:lnTo>
                  <a:cubicBezTo>
                    <a:pt x="7097649" y="0"/>
                    <a:pt x="7105142" y="6867"/>
                    <a:pt x="7105142" y="15223"/>
                  </a:cubicBezTo>
                  <a:lnTo>
                    <a:pt x="7105142" y="3421501"/>
                  </a:lnTo>
                  <a:cubicBezTo>
                    <a:pt x="7105142" y="3429971"/>
                    <a:pt x="7097522" y="3436724"/>
                    <a:pt x="7088251" y="3436724"/>
                  </a:cubicBezTo>
                  <a:lnTo>
                    <a:pt x="16891" y="3436724"/>
                  </a:lnTo>
                  <a:cubicBezTo>
                    <a:pt x="7493" y="3436724"/>
                    <a:pt x="0" y="3429857"/>
                    <a:pt x="0" y="3421501"/>
                  </a:cubicBezTo>
                  <a:lnTo>
                    <a:pt x="0" y="15223"/>
                  </a:lnTo>
                  <a:cubicBezTo>
                    <a:pt x="0" y="6867"/>
                    <a:pt x="7620" y="0"/>
                    <a:pt x="16891" y="0"/>
                  </a:cubicBezTo>
                  <a:moveTo>
                    <a:pt x="16891" y="30560"/>
                  </a:moveTo>
                  <a:lnTo>
                    <a:pt x="16891" y="15223"/>
                  </a:lnTo>
                  <a:lnTo>
                    <a:pt x="33909" y="15223"/>
                  </a:lnTo>
                  <a:lnTo>
                    <a:pt x="33909" y="3421501"/>
                  </a:lnTo>
                  <a:lnTo>
                    <a:pt x="16891" y="3421501"/>
                  </a:lnTo>
                  <a:lnTo>
                    <a:pt x="16891" y="3406279"/>
                  </a:lnTo>
                  <a:lnTo>
                    <a:pt x="7088251" y="3406279"/>
                  </a:lnTo>
                  <a:lnTo>
                    <a:pt x="7088251" y="3421501"/>
                  </a:lnTo>
                  <a:lnTo>
                    <a:pt x="7071360" y="3421501"/>
                  </a:lnTo>
                  <a:lnTo>
                    <a:pt x="7071360" y="15223"/>
                  </a:lnTo>
                  <a:lnTo>
                    <a:pt x="7088251" y="15223"/>
                  </a:lnTo>
                  <a:lnTo>
                    <a:pt x="7088251" y="30560"/>
                  </a:lnTo>
                  <a:lnTo>
                    <a:pt x="16891" y="30560"/>
                  </a:lnTo>
                  <a:close/>
                </a:path>
              </a:pathLst>
            </a:custGeom>
            <a:solidFill>
              <a:srgbClr val="CADCFC"/>
            </a:solidFill>
          </p:spPr>
        </p:sp>
      </p:grpSp>
      <p:sp>
        <p:nvSpPr>
          <p:cNvPr name="TextBox 23" id="23"/>
          <p:cNvSpPr txBox="true"/>
          <p:nvPr/>
        </p:nvSpPr>
        <p:spPr>
          <a:xfrm rot="0">
            <a:off x="1738220" y="2690536"/>
            <a:ext cx="5421291" cy="2447925"/>
          </a:xfrm>
          <a:prstGeom prst="rect">
            <a:avLst/>
          </a:prstGeom>
        </p:spPr>
        <p:txBody>
          <a:bodyPr anchor="t" rtlCol="false" tIns="0" lIns="0" bIns="0" rIns="0">
            <a:spAutoFit/>
          </a:bodyPr>
          <a:lstStyle/>
          <a:p>
            <a:pPr algn="just">
              <a:lnSpc>
                <a:spcPts val="2736"/>
              </a:lnSpc>
            </a:pPr>
            <a:r>
              <a:rPr lang="en-US" sz="2280" b="true">
                <a:solidFill>
                  <a:srgbClr val="334155"/>
                </a:solidFill>
                <a:latin typeface="Calibri (MS) Bold"/>
                <a:ea typeface="Calibri (MS) Bold"/>
                <a:cs typeface="Calibri (MS) Bold"/>
                <a:sym typeface="Calibri (MS) Bold"/>
              </a:rPr>
              <a:t>Key finding:</a:t>
            </a:r>
            <a:r>
              <a:rPr lang="en-US" sz="2280">
                <a:solidFill>
                  <a:srgbClr val="334155"/>
                </a:solidFill>
                <a:latin typeface="Calibri (MS)"/>
                <a:ea typeface="Calibri (MS)"/>
                <a:cs typeface="Calibri (MS)"/>
                <a:sym typeface="Calibri (MS)"/>
              </a:rPr>
              <a:t> </a:t>
            </a:r>
          </a:p>
          <a:p>
            <a:pPr algn="just">
              <a:lnSpc>
                <a:spcPts val="2736"/>
              </a:lnSpc>
            </a:pPr>
            <a:r>
              <a:rPr lang="en-US" sz="2280">
                <a:solidFill>
                  <a:srgbClr val="334155"/>
                </a:solidFill>
                <a:latin typeface="Calibri (MS)"/>
                <a:ea typeface="Calibri (MS)"/>
                <a:cs typeface="Calibri (MS)"/>
                <a:sym typeface="Calibri (MS)"/>
              </a:rPr>
              <a:t>All three visuals collectively justify the SARIMA seasonal specification (m = 5), the structural break adjustment (Mar 2020), and the need for GARCH volatility modelling  forming the analytical foundation for Tasks 1, 2 and 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99968"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312665"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1 · ARIMA</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ACF / PACF</a:t>
              </a:r>
              <a:r>
                <a:rPr lang="en-US" sz="5200" b="true">
                  <a:solidFill>
                    <a:srgbClr val="1E2761"/>
                  </a:solidFill>
                  <a:latin typeface="Calibri (MS) Bold"/>
                  <a:ea typeface="Calibri (MS) Bold"/>
                  <a:cs typeface="Calibri (MS) Bold"/>
                  <a:sym typeface="Calibri (MS) Bold"/>
                </a:rPr>
                <a:t> Analysis</a:t>
              </a:r>
            </a:p>
          </p:txBody>
        </p:sp>
      </p:grpSp>
      <p:grpSp>
        <p:nvGrpSpPr>
          <p:cNvPr name="Group 11" id="11"/>
          <p:cNvGrpSpPr/>
          <p:nvPr/>
        </p:nvGrpSpPr>
        <p:grpSpPr>
          <a:xfrm rot="0">
            <a:off x="901703" y="2800988"/>
            <a:ext cx="6613018" cy="6084833"/>
            <a:chOff x="0" y="0"/>
            <a:chExt cx="8817358" cy="8113111"/>
          </a:xfrm>
        </p:grpSpPr>
        <p:sp>
          <p:nvSpPr>
            <p:cNvPr name="Freeform 12" id="12"/>
            <p:cNvSpPr/>
            <p:nvPr/>
          </p:nvSpPr>
          <p:spPr>
            <a:xfrm flipH="false" flipV="false" rot="0">
              <a:off x="13838" y="22356"/>
              <a:ext cx="8789609" cy="8068281"/>
            </a:xfrm>
            <a:custGeom>
              <a:avLst/>
              <a:gdLst/>
              <a:ahLst/>
              <a:cxnLst/>
              <a:rect r="r" b="b" t="t" l="l"/>
              <a:pathLst>
                <a:path h="8068281" w="8789609">
                  <a:moveTo>
                    <a:pt x="0" y="0"/>
                  </a:moveTo>
                  <a:lnTo>
                    <a:pt x="8789609" y="0"/>
                  </a:lnTo>
                  <a:lnTo>
                    <a:pt x="8789609" y="8068281"/>
                  </a:lnTo>
                  <a:lnTo>
                    <a:pt x="0" y="8068281"/>
                  </a:lnTo>
                  <a:close/>
                </a:path>
              </a:pathLst>
            </a:custGeom>
            <a:solidFill>
              <a:srgbClr val="E8F0FE"/>
            </a:solidFill>
          </p:spPr>
        </p:sp>
        <p:sp>
          <p:nvSpPr>
            <p:cNvPr name="Freeform 13" id="13"/>
            <p:cNvSpPr/>
            <p:nvPr/>
          </p:nvSpPr>
          <p:spPr>
            <a:xfrm flipH="false" flipV="false" rot="0">
              <a:off x="0" y="0"/>
              <a:ext cx="8817284" cy="8112993"/>
            </a:xfrm>
            <a:custGeom>
              <a:avLst/>
              <a:gdLst/>
              <a:ahLst/>
              <a:cxnLst/>
              <a:rect r="r" b="b" t="t" l="l"/>
              <a:pathLst>
                <a:path h="8112993" w="8817284">
                  <a:moveTo>
                    <a:pt x="13838" y="0"/>
                  </a:moveTo>
                  <a:lnTo>
                    <a:pt x="8803447" y="0"/>
                  </a:lnTo>
                  <a:cubicBezTo>
                    <a:pt x="8811147" y="0"/>
                    <a:pt x="8817284" y="10085"/>
                    <a:pt x="8817284" y="22356"/>
                  </a:cubicBezTo>
                  <a:lnTo>
                    <a:pt x="8817284" y="8090637"/>
                  </a:lnTo>
                  <a:cubicBezTo>
                    <a:pt x="8817284" y="8103076"/>
                    <a:pt x="8811042" y="8112993"/>
                    <a:pt x="8803447" y="8112993"/>
                  </a:cubicBezTo>
                  <a:lnTo>
                    <a:pt x="13838" y="8112993"/>
                  </a:lnTo>
                  <a:cubicBezTo>
                    <a:pt x="6139" y="8112993"/>
                    <a:pt x="0" y="8102908"/>
                    <a:pt x="0" y="8090637"/>
                  </a:cubicBezTo>
                  <a:lnTo>
                    <a:pt x="0" y="22356"/>
                  </a:lnTo>
                  <a:cubicBezTo>
                    <a:pt x="0" y="10085"/>
                    <a:pt x="6243" y="0"/>
                    <a:pt x="13838" y="0"/>
                  </a:cubicBezTo>
                  <a:moveTo>
                    <a:pt x="13838" y="44880"/>
                  </a:moveTo>
                  <a:lnTo>
                    <a:pt x="13838" y="22356"/>
                  </a:lnTo>
                  <a:lnTo>
                    <a:pt x="27780" y="22356"/>
                  </a:lnTo>
                  <a:lnTo>
                    <a:pt x="27780" y="8090637"/>
                  </a:lnTo>
                  <a:lnTo>
                    <a:pt x="13838" y="8090637"/>
                  </a:lnTo>
                  <a:lnTo>
                    <a:pt x="13838" y="8068281"/>
                  </a:lnTo>
                  <a:lnTo>
                    <a:pt x="8803447" y="8068281"/>
                  </a:lnTo>
                  <a:lnTo>
                    <a:pt x="8803447" y="8090637"/>
                  </a:lnTo>
                  <a:lnTo>
                    <a:pt x="8789609" y="8090637"/>
                  </a:lnTo>
                  <a:lnTo>
                    <a:pt x="8789609" y="22356"/>
                  </a:lnTo>
                  <a:lnTo>
                    <a:pt x="8803447" y="22356"/>
                  </a:lnTo>
                  <a:lnTo>
                    <a:pt x="8803447" y="44880"/>
                  </a:lnTo>
                  <a:lnTo>
                    <a:pt x="13838" y="44880"/>
                  </a:lnTo>
                  <a:close/>
                </a:path>
              </a:pathLst>
            </a:custGeom>
            <a:solidFill>
              <a:srgbClr val="CADCFC"/>
            </a:solidFill>
          </p:spPr>
        </p:sp>
      </p:grpSp>
      <p:grpSp>
        <p:nvGrpSpPr>
          <p:cNvPr name="Group 14" id="14"/>
          <p:cNvGrpSpPr/>
          <p:nvPr/>
        </p:nvGrpSpPr>
        <p:grpSpPr>
          <a:xfrm rot="0">
            <a:off x="459172" y="3044219"/>
            <a:ext cx="7498080" cy="548640"/>
            <a:chOff x="0" y="0"/>
            <a:chExt cx="9997440" cy="731520"/>
          </a:xfrm>
        </p:grpSpPr>
        <p:sp>
          <p:nvSpPr>
            <p:cNvPr name="Freeform 15" id="15"/>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16" id="16"/>
            <p:cNvSpPr txBox="true"/>
            <p:nvPr/>
          </p:nvSpPr>
          <p:spPr>
            <a:xfrm>
              <a:off x="0" y="-47625"/>
              <a:ext cx="9997440" cy="779145"/>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ACF / PACF Analysis — First Differenced Series</a:t>
              </a:r>
            </a:p>
          </p:txBody>
        </p:sp>
      </p:grpSp>
      <p:grpSp>
        <p:nvGrpSpPr>
          <p:cNvPr name="Group 17" id="17"/>
          <p:cNvGrpSpPr/>
          <p:nvPr/>
        </p:nvGrpSpPr>
        <p:grpSpPr>
          <a:xfrm rot="0">
            <a:off x="1188720" y="3844850"/>
            <a:ext cx="2560320" cy="585216"/>
            <a:chOff x="0" y="0"/>
            <a:chExt cx="3413760" cy="780288"/>
          </a:xfrm>
        </p:grpSpPr>
        <p:sp>
          <p:nvSpPr>
            <p:cNvPr name="Freeform 18" id="18"/>
            <p:cNvSpPr/>
            <p:nvPr/>
          </p:nvSpPr>
          <p:spPr>
            <a:xfrm flipH="false" flipV="false" rot="0">
              <a:off x="0" y="0"/>
              <a:ext cx="3413760" cy="780288"/>
            </a:xfrm>
            <a:custGeom>
              <a:avLst/>
              <a:gdLst/>
              <a:ahLst/>
              <a:cxnLst/>
              <a:rect r="r" b="b" t="t" l="l"/>
              <a:pathLst>
                <a:path h="780288" w="3413760">
                  <a:moveTo>
                    <a:pt x="0" y="0"/>
                  </a:moveTo>
                  <a:lnTo>
                    <a:pt x="3413760" y="0"/>
                  </a:lnTo>
                  <a:lnTo>
                    <a:pt x="3413760" y="780288"/>
                  </a:lnTo>
                  <a:lnTo>
                    <a:pt x="0" y="780288"/>
                  </a:lnTo>
                  <a:close/>
                </a:path>
              </a:pathLst>
            </a:custGeom>
            <a:blipFill>
              <a:blip r:embed="rId3">
                <a:alphaModFix amt="0"/>
              </a:blip>
              <a:stretch>
                <a:fillRect l="0" t="-35247" r="0" b="-35247"/>
              </a:stretch>
            </a:blipFill>
          </p:spPr>
        </p:sp>
        <p:sp>
          <p:nvSpPr>
            <p:cNvPr name="TextBox 19" id="19"/>
            <p:cNvSpPr txBox="true"/>
            <p:nvPr/>
          </p:nvSpPr>
          <p:spPr>
            <a:xfrm>
              <a:off x="0" y="-47625"/>
              <a:ext cx="3413760" cy="827913"/>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ACF lag 1:</a:t>
              </a:r>
            </a:p>
          </p:txBody>
        </p:sp>
      </p:grpSp>
      <p:grpSp>
        <p:nvGrpSpPr>
          <p:cNvPr name="Group 20" id="20"/>
          <p:cNvGrpSpPr/>
          <p:nvPr/>
        </p:nvGrpSpPr>
        <p:grpSpPr>
          <a:xfrm rot="0">
            <a:off x="4191990" y="3783359"/>
            <a:ext cx="3077708" cy="708199"/>
            <a:chOff x="0" y="0"/>
            <a:chExt cx="4103611" cy="944265"/>
          </a:xfrm>
        </p:grpSpPr>
        <p:sp>
          <p:nvSpPr>
            <p:cNvPr name="Freeform 21" id="21"/>
            <p:cNvSpPr/>
            <p:nvPr/>
          </p:nvSpPr>
          <p:spPr>
            <a:xfrm flipH="false" flipV="false" rot="0">
              <a:off x="0" y="0"/>
              <a:ext cx="4103611" cy="944265"/>
            </a:xfrm>
            <a:custGeom>
              <a:avLst/>
              <a:gdLst/>
              <a:ahLst/>
              <a:cxnLst/>
              <a:rect r="r" b="b" t="t" l="l"/>
              <a:pathLst>
                <a:path h="944265" w="4103611">
                  <a:moveTo>
                    <a:pt x="0" y="0"/>
                  </a:moveTo>
                  <a:lnTo>
                    <a:pt x="4103611" y="0"/>
                  </a:lnTo>
                  <a:lnTo>
                    <a:pt x="4103611" y="944265"/>
                  </a:lnTo>
                  <a:lnTo>
                    <a:pt x="0" y="944265"/>
                  </a:lnTo>
                  <a:close/>
                </a:path>
              </a:pathLst>
            </a:custGeom>
            <a:blipFill>
              <a:blip r:embed="rId3">
                <a:alphaModFix amt="0"/>
              </a:blip>
              <a:stretch>
                <a:fillRect l="0" t="-92022" r="-57465" b="-74656"/>
              </a:stretch>
            </a:blipFill>
          </p:spPr>
        </p:sp>
        <p:sp>
          <p:nvSpPr>
            <p:cNvPr name="TextBox 22" id="22"/>
            <p:cNvSpPr txBox="true"/>
            <p:nvPr/>
          </p:nvSpPr>
          <p:spPr>
            <a:xfrm>
              <a:off x="0" y="-38100"/>
              <a:ext cx="4103611"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Significant spike </a:t>
              </a:r>
            </a:p>
            <a:p>
              <a:pPr algn="l">
                <a:lnSpc>
                  <a:spcPts val="2400"/>
                </a:lnSpc>
              </a:pPr>
              <a:r>
                <a:rPr lang="en-US" sz="2000">
                  <a:solidFill>
                    <a:srgbClr val="334155"/>
                  </a:solidFill>
                  <a:latin typeface="Calibri (MS)"/>
                  <a:ea typeface="Calibri (MS)"/>
                  <a:cs typeface="Calibri (MS)"/>
                  <a:sym typeface="Calibri (MS)"/>
                </a:rPr>
                <a:t>→ q = 1 (MA component)</a:t>
              </a:r>
            </a:p>
          </p:txBody>
        </p:sp>
      </p:grpSp>
      <p:grpSp>
        <p:nvGrpSpPr>
          <p:cNvPr name="Group 23" id="23"/>
          <p:cNvGrpSpPr/>
          <p:nvPr/>
        </p:nvGrpSpPr>
        <p:grpSpPr>
          <a:xfrm rot="0">
            <a:off x="1188720" y="4831404"/>
            <a:ext cx="2560320" cy="585216"/>
            <a:chOff x="0" y="0"/>
            <a:chExt cx="3413760" cy="780288"/>
          </a:xfrm>
        </p:grpSpPr>
        <p:sp>
          <p:nvSpPr>
            <p:cNvPr name="Freeform 24" id="24"/>
            <p:cNvSpPr/>
            <p:nvPr/>
          </p:nvSpPr>
          <p:spPr>
            <a:xfrm flipH="false" flipV="false" rot="0">
              <a:off x="0" y="0"/>
              <a:ext cx="3413760" cy="780288"/>
            </a:xfrm>
            <a:custGeom>
              <a:avLst/>
              <a:gdLst/>
              <a:ahLst/>
              <a:cxnLst/>
              <a:rect r="r" b="b" t="t" l="l"/>
              <a:pathLst>
                <a:path h="780288" w="3413760">
                  <a:moveTo>
                    <a:pt x="0" y="0"/>
                  </a:moveTo>
                  <a:lnTo>
                    <a:pt x="3413760" y="0"/>
                  </a:lnTo>
                  <a:lnTo>
                    <a:pt x="3413760" y="780288"/>
                  </a:lnTo>
                  <a:lnTo>
                    <a:pt x="0" y="780288"/>
                  </a:lnTo>
                  <a:close/>
                </a:path>
              </a:pathLst>
            </a:custGeom>
            <a:blipFill>
              <a:blip r:embed="rId3">
                <a:alphaModFix amt="0"/>
              </a:blip>
              <a:stretch>
                <a:fillRect l="0" t="-35247" r="0" b="-35247"/>
              </a:stretch>
            </a:blipFill>
          </p:spPr>
        </p:sp>
        <p:sp>
          <p:nvSpPr>
            <p:cNvPr name="TextBox 25" id="25"/>
            <p:cNvSpPr txBox="true"/>
            <p:nvPr/>
          </p:nvSpPr>
          <p:spPr>
            <a:xfrm>
              <a:off x="0" y="-47625"/>
              <a:ext cx="3413760" cy="827913"/>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PACF lag 1:</a:t>
              </a:r>
            </a:p>
          </p:txBody>
        </p:sp>
      </p:grpSp>
      <p:grpSp>
        <p:nvGrpSpPr>
          <p:cNvPr name="Group 26" id="26"/>
          <p:cNvGrpSpPr/>
          <p:nvPr/>
        </p:nvGrpSpPr>
        <p:grpSpPr>
          <a:xfrm rot="0">
            <a:off x="4191990" y="4791427"/>
            <a:ext cx="3077708" cy="708199"/>
            <a:chOff x="0" y="0"/>
            <a:chExt cx="4103611" cy="944265"/>
          </a:xfrm>
        </p:grpSpPr>
        <p:sp>
          <p:nvSpPr>
            <p:cNvPr name="Freeform 27" id="27"/>
            <p:cNvSpPr/>
            <p:nvPr/>
          </p:nvSpPr>
          <p:spPr>
            <a:xfrm flipH="false" flipV="false" rot="0">
              <a:off x="0" y="0"/>
              <a:ext cx="4103611" cy="944265"/>
            </a:xfrm>
            <a:custGeom>
              <a:avLst/>
              <a:gdLst/>
              <a:ahLst/>
              <a:cxnLst/>
              <a:rect r="r" b="b" t="t" l="l"/>
              <a:pathLst>
                <a:path h="944265" w="4103611">
                  <a:moveTo>
                    <a:pt x="0" y="0"/>
                  </a:moveTo>
                  <a:lnTo>
                    <a:pt x="4103611" y="0"/>
                  </a:lnTo>
                  <a:lnTo>
                    <a:pt x="4103611" y="944265"/>
                  </a:lnTo>
                  <a:lnTo>
                    <a:pt x="0" y="944265"/>
                  </a:lnTo>
                  <a:close/>
                </a:path>
              </a:pathLst>
            </a:custGeom>
            <a:blipFill>
              <a:blip r:embed="rId3">
                <a:alphaModFix amt="0"/>
              </a:blip>
              <a:stretch>
                <a:fillRect l="0" t="-92022" r="-57465" b="-74656"/>
              </a:stretch>
            </a:blipFill>
          </p:spPr>
        </p:sp>
        <p:sp>
          <p:nvSpPr>
            <p:cNvPr name="TextBox 28" id="28"/>
            <p:cNvSpPr txBox="true"/>
            <p:nvPr/>
          </p:nvSpPr>
          <p:spPr>
            <a:xfrm>
              <a:off x="0" y="-38100"/>
              <a:ext cx="4103611"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Significant spike </a:t>
              </a:r>
            </a:p>
            <a:p>
              <a:pPr algn="l">
                <a:lnSpc>
                  <a:spcPts val="2400"/>
                </a:lnSpc>
              </a:pPr>
              <a:r>
                <a:rPr lang="en-US" sz="2000">
                  <a:solidFill>
                    <a:srgbClr val="334155"/>
                  </a:solidFill>
                  <a:latin typeface="Calibri (MS)"/>
                  <a:ea typeface="Calibri (MS)"/>
                  <a:cs typeface="Calibri (MS)"/>
                  <a:sym typeface="Calibri (MS)"/>
                </a:rPr>
                <a:t>→ p = 1 (AR component)</a:t>
              </a:r>
            </a:p>
          </p:txBody>
        </p:sp>
      </p:grpSp>
      <p:grpSp>
        <p:nvGrpSpPr>
          <p:cNvPr name="Group 29" id="29"/>
          <p:cNvGrpSpPr/>
          <p:nvPr/>
        </p:nvGrpSpPr>
        <p:grpSpPr>
          <a:xfrm rot="0">
            <a:off x="1188720" y="5839472"/>
            <a:ext cx="2560320" cy="585216"/>
            <a:chOff x="0" y="0"/>
            <a:chExt cx="3413760" cy="780288"/>
          </a:xfrm>
        </p:grpSpPr>
        <p:sp>
          <p:nvSpPr>
            <p:cNvPr name="Freeform 30" id="30"/>
            <p:cNvSpPr/>
            <p:nvPr/>
          </p:nvSpPr>
          <p:spPr>
            <a:xfrm flipH="false" flipV="false" rot="0">
              <a:off x="0" y="0"/>
              <a:ext cx="3413760" cy="780288"/>
            </a:xfrm>
            <a:custGeom>
              <a:avLst/>
              <a:gdLst/>
              <a:ahLst/>
              <a:cxnLst/>
              <a:rect r="r" b="b" t="t" l="l"/>
              <a:pathLst>
                <a:path h="780288" w="3413760">
                  <a:moveTo>
                    <a:pt x="0" y="0"/>
                  </a:moveTo>
                  <a:lnTo>
                    <a:pt x="3413760" y="0"/>
                  </a:lnTo>
                  <a:lnTo>
                    <a:pt x="3413760" y="780288"/>
                  </a:lnTo>
                  <a:lnTo>
                    <a:pt x="0" y="780288"/>
                  </a:lnTo>
                  <a:close/>
                </a:path>
              </a:pathLst>
            </a:custGeom>
            <a:blipFill>
              <a:blip r:embed="rId3">
                <a:alphaModFix amt="0"/>
              </a:blip>
              <a:stretch>
                <a:fillRect l="0" t="-35247" r="0" b="-35247"/>
              </a:stretch>
            </a:blipFill>
          </p:spPr>
        </p:sp>
        <p:sp>
          <p:nvSpPr>
            <p:cNvPr name="TextBox 31" id="31"/>
            <p:cNvSpPr txBox="true"/>
            <p:nvPr/>
          </p:nvSpPr>
          <p:spPr>
            <a:xfrm>
              <a:off x="0" y="-47625"/>
              <a:ext cx="3413760" cy="827913"/>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Lags 5, 10, 15:</a:t>
              </a:r>
            </a:p>
          </p:txBody>
        </p:sp>
      </p:grpSp>
      <p:grpSp>
        <p:nvGrpSpPr>
          <p:cNvPr name="Group 32" id="32"/>
          <p:cNvGrpSpPr/>
          <p:nvPr/>
        </p:nvGrpSpPr>
        <p:grpSpPr>
          <a:xfrm rot="0">
            <a:off x="4191990" y="5799496"/>
            <a:ext cx="3077708" cy="708199"/>
            <a:chOff x="0" y="0"/>
            <a:chExt cx="4103611" cy="944265"/>
          </a:xfrm>
        </p:grpSpPr>
        <p:sp>
          <p:nvSpPr>
            <p:cNvPr name="Freeform 33" id="33"/>
            <p:cNvSpPr/>
            <p:nvPr/>
          </p:nvSpPr>
          <p:spPr>
            <a:xfrm flipH="false" flipV="false" rot="0">
              <a:off x="0" y="0"/>
              <a:ext cx="4103611" cy="944265"/>
            </a:xfrm>
            <a:custGeom>
              <a:avLst/>
              <a:gdLst/>
              <a:ahLst/>
              <a:cxnLst/>
              <a:rect r="r" b="b" t="t" l="l"/>
              <a:pathLst>
                <a:path h="944265" w="4103611">
                  <a:moveTo>
                    <a:pt x="0" y="0"/>
                  </a:moveTo>
                  <a:lnTo>
                    <a:pt x="4103611" y="0"/>
                  </a:lnTo>
                  <a:lnTo>
                    <a:pt x="4103611" y="944265"/>
                  </a:lnTo>
                  <a:lnTo>
                    <a:pt x="0" y="944265"/>
                  </a:lnTo>
                  <a:close/>
                </a:path>
              </a:pathLst>
            </a:custGeom>
            <a:blipFill>
              <a:blip r:embed="rId3">
                <a:alphaModFix amt="0"/>
              </a:blip>
              <a:stretch>
                <a:fillRect l="0" t="-92022" r="-57465" b="-74656"/>
              </a:stretch>
            </a:blipFill>
          </p:spPr>
        </p:sp>
        <p:sp>
          <p:nvSpPr>
            <p:cNvPr name="TextBox 34" id="34"/>
            <p:cNvSpPr txBox="true"/>
            <p:nvPr/>
          </p:nvSpPr>
          <p:spPr>
            <a:xfrm>
              <a:off x="0" y="-38100"/>
              <a:ext cx="4103611"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Mild recurring spikes </a:t>
              </a:r>
            </a:p>
            <a:p>
              <a:pPr algn="l">
                <a:lnSpc>
                  <a:spcPts val="2400"/>
                </a:lnSpc>
              </a:pPr>
              <a:r>
                <a:rPr lang="en-US" sz="2000">
                  <a:solidFill>
                    <a:srgbClr val="334155"/>
                  </a:solidFill>
                  <a:latin typeface="Calibri (MS)"/>
                  <a:ea typeface="Calibri (MS)"/>
                  <a:cs typeface="Calibri (MS)"/>
                  <a:sym typeface="Calibri (MS)"/>
                </a:rPr>
                <a:t>→ seasonal period m = 5</a:t>
              </a:r>
            </a:p>
          </p:txBody>
        </p:sp>
      </p:grpSp>
      <p:grpSp>
        <p:nvGrpSpPr>
          <p:cNvPr name="Group 35" id="35"/>
          <p:cNvGrpSpPr/>
          <p:nvPr/>
        </p:nvGrpSpPr>
        <p:grpSpPr>
          <a:xfrm rot="0">
            <a:off x="1188720" y="6851090"/>
            <a:ext cx="2560320" cy="585216"/>
            <a:chOff x="0" y="0"/>
            <a:chExt cx="3413760" cy="780288"/>
          </a:xfrm>
        </p:grpSpPr>
        <p:sp>
          <p:nvSpPr>
            <p:cNvPr name="Freeform 36" id="36"/>
            <p:cNvSpPr/>
            <p:nvPr/>
          </p:nvSpPr>
          <p:spPr>
            <a:xfrm flipH="false" flipV="false" rot="0">
              <a:off x="0" y="0"/>
              <a:ext cx="3413760" cy="780288"/>
            </a:xfrm>
            <a:custGeom>
              <a:avLst/>
              <a:gdLst/>
              <a:ahLst/>
              <a:cxnLst/>
              <a:rect r="r" b="b" t="t" l="l"/>
              <a:pathLst>
                <a:path h="780288" w="3413760">
                  <a:moveTo>
                    <a:pt x="0" y="0"/>
                  </a:moveTo>
                  <a:lnTo>
                    <a:pt x="3413760" y="0"/>
                  </a:lnTo>
                  <a:lnTo>
                    <a:pt x="3413760" y="780288"/>
                  </a:lnTo>
                  <a:lnTo>
                    <a:pt x="0" y="780288"/>
                  </a:lnTo>
                  <a:close/>
                </a:path>
              </a:pathLst>
            </a:custGeom>
            <a:blipFill>
              <a:blip r:embed="rId3">
                <a:alphaModFix amt="0"/>
              </a:blip>
              <a:stretch>
                <a:fillRect l="0" t="-35247" r="0" b="-35247"/>
              </a:stretch>
            </a:blipFill>
          </p:spPr>
        </p:sp>
        <p:sp>
          <p:nvSpPr>
            <p:cNvPr name="TextBox 37" id="37"/>
            <p:cNvSpPr txBox="true"/>
            <p:nvPr/>
          </p:nvSpPr>
          <p:spPr>
            <a:xfrm>
              <a:off x="0" y="-47625"/>
              <a:ext cx="3413760" cy="827913"/>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Higher lags:</a:t>
              </a:r>
            </a:p>
          </p:txBody>
        </p:sp>
      </p:grpSp>
      <p:grpSp>
        <p:nvGrpSpPr>
          <p:cNvPr name="Group 38" id="38"/>
          <p:cNvGrpSpPr/>
          <p:nvPr/>
        </p:nvGrpSpPr>
        <p:grpSpPr>
          <a:xfrm rot="0">
            <a:off x="4191990" y="6811114"/>
            <a:ext cx="3077708" cy="708199"/>
            <a:chOff x="0" y="0"/>
            <a:chExt cx="4103611" cy="944265"/>
          </a:xfrm>
        </p:grpSpPr>
        <p:sp>
          <p:nvSpPr>
            <p:cNvPr name="Freeform 39" id="39"/>
            <p:cNvSpPr/>
            <p:nvPr/>
          </p:nvSpPr>
          <p:spPr>
            <a:xfrm flipH="false" flipV="false" rot="0">
              <a:off x="0" y="0"/>
              <a:ext cx="4103611" cy="944265"/>
            </a:xfrm>
            <a:custGeom>
              <a:avLst/>
              <a:gdLst/>
              <a:ahLst/>
              <a:cxnLst/>
              <a:rect r="r" b="b" t="t" l="l"/>
              <a:pathLst>
                <a:path h="944265" w="4103611">
                  <a:moveTo>
                    <a:pt x="0" y="0"/>
                  </a:moveTo>
                  <a:lnTo>
                    <a:pt x="4103611" y="0"/>
                  </a:lnTo>
                  <a:lnTo>
                    <a:pt x="4103611" y="944265"/>
                  </a:lnTo>
                  <a:lnTo>
                    <a:pt x="0" y="944265"/>
                  </a:lnTo>
                  <a:close/>
                </a:path>
              </a:pathLst>
            </a:custGeom>
            <a:blipFill>
              <a:blip r:embed="rId3">
                <a:alphaModFix amt="0"/>
              </a:blip>
              <a:stretch>
                <a:fillRect l="0" t="-92022" r="-57465" b="-74656"/>
              </a:stretch>
            </a:blipFill>
          </p:spPr>
        </p:sp>
        <p:sp>
          <p:nvSpPr>
            <p:cNvPr name="TextBox 40" id="40"/>
            <p:cNvSpPr txBox="true"/>
            <p:nvPr/>
          </p:nvSpPr>
          <p:spPr>
            <a:xfrm>
              <a:off x="0" y="-38100"/>
              <a:ext cx="4103611"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Within 95% confidence bands → no overdifferencing</a:t>
              </a:r>
            </a:p>
          </p:txBody>
        </p:sp>
      </p:grpSp>
      <p:grpSp>
        <p:nvGrpSpPr>
          <p:cNvPr name="Group 41" id="41"/>
          <p:cNvGrpSpPr/>
          <p:nvPr/>
        </p:nvGrpSpPr>
        <p:grpSpPr>
          <a:xfrm rot="0">
            <a:off x="1188720" y="7864931"/>
            <a:ext cx="2560320" cy="585216"/>
            <a:chOff x="0" y="0"/>
            <a:chExt cx="3413760" cy="780288"/>
          </a:xfrm>
        </p:grpSpPr>
        <p:sp>
          <p:nvSpPr>
            <p:cNvPr name="Freeform 42" id="42"/>
            <p:cNvSpPr/>
            <p:nvPr/>
          </p:nvSpPr>
          <p:spPr>
            <a:xfrm flipH="false" flipV="false" rot="0">
              <a:off x="0" y="0"/>
              <a:ext cx="3413760" cy="780288"/>
            </a:xfrm>
            <a:custGeom>
              <a:avLst/>
              <a:gdLst/>
              <a:ahLst/>
              <a:cxnLst/>
              <a:rect r="r" b="b" t="t" l="l"/>
              <a:pathLst>
                <a:path h="780288" w="3413760">
                  <a:moveTo>
                    <a:pt x="0" y="0"/>
                  </a:moveTo>
                  <a:lnTo>
                    <a:pt x="3413760" y="0"/>
                  </a:lnTo>
                  <a:lnTo>
                    <a:pt x="3413760" y="780288"/>
                  </a:lnTo>
                  <a:lnTo>
                    <a:pt x="0" y="780288"/>
                  </a:lnTo>
                  <a:close/>
                </a:path>
              </a:pathLst>
            </a:custGeom>
            <a:blipFill>
              <a:blip r:embed="rId3">
                <a:alphaModFix amt="0"/>
              </a:blip>
              <a:stretch>
                <a:fillRect l="0" t="-35247" r="0" b="-35247"/>
              </a:stretch>
            </a:blipFill>
          </p:spPr>
        </p:sp>
        <p:sp>
          <p:nvSpPr>
            <p:cNvPr name="TextBox 43" id="43"/>
            <p:cNvSpPr txBox="true"/>
            <p:nvPr/>
          </p:nvSpPr>
          <p:spPr>
            <a:xfrm>
              <a:off x="0" y="-47625"/>
              <a:ext cx="3413760" cy="827913"/>
            </a:xfrm>
            <a:prstGeom prst="rect">
              <a:avLst/>
            </a:prstGeom>
          </p:spPr>
          <p:txBody>
            <a:bodyPr anchor="ctr" rtlCol="false" tIns="0" lIns="0" bIns="0" rIns="0"/>
            <a:lstStyle/>
            <a:p>
              <a:pPr algn="l">
                <a:lnSpc>
                  <a:spcPts val="2520"/>
                </a:lnSpc>
              </a:pPr>
              <a:r>
                <a:rPr lang="en-US" sz="2100" b="true">
                  <a:solidFill>
                    <a:srgbClr val="1E2761"/>
                  </a:solidFill>
                  <a:latin typeface="Calibri (MS) Bold"/>
                  <a:ea typeface="Calibri (MS) Bold"/>
                  <a:cs typeface="Calibri (MS) Bold"/>
                  <a:sym typeface="Calibri (MS) Bold"/>
                </a:rPr>
                <a:t>Seasonal m =5:</a:t>
              </a:r>
            </a:p>
          </p:txBody>
        </p:sp>
      </p:grpSp>
      <p:grpSp>
        <p:nvGrpSpPr>
          <p:cNvPr name="Group 44" id="44"/>
          <p:cNvGrpSpPr/>
          <p:nvPr/>
        </p:nvGrpSpPr>
        <p:grpSpPr>
          <a:xfrm rot="0">
            <a:off x="4191990" y="7819182"/>
            <a:ext cx="3077708" cy="708199"/>
            <a:chOff x="0" y="0"/>
            <a:chExt cx="4103611" cy="944265"/>
          </a:xfrm>
        </p:grpSpPr>
        <p:sp>
          <p:nvSpPr>
            <p:cNvPr name="Freeform 45" id="45"/>
            <p:cNvSpPr/>
            <p:nvPr/>
          </p:nvSpPr>
          <p:spPr>
            <a:xfrm flipH="false" flipV="false" rot="0">
              <a:off x="0" y="0"/>
              <a:ext cx="4103611" cy="944265"/>
            </a:xfrm>
            <a:custGeom>
              <a:avLst/>
              <a:gdLst/>
              <a:ahLst/>
              <a:cxnLst/>
              <a:rect r="r" b="b" t="t" l="l"/>
              <a:pathLst>
                <a:path h="944265" w="4103611">
                  <a:moveTo>
                    <a:pt x="0" y="0"/>
                  </a:moveTo>
                  <a:lnTo>
                    <a:pt x="4103611" y="0"/>
                  </a:lnTo>
                  <a:lnTo>
                    <a:pt x="4103611" y="944265"/>
                  </a:lnTo>
                  <a:lnTo>
                    <a:pt x="0" y="944265"/>
                  </a:lnTo>
                  <a:close/>
                </a:path>
              </a:pathLst>
            </a:custGeom>
            <a:blipFill>
              <a:blip r:embed="rId3">
                <a:alphaModFix amt="0"/>
              </a:blip>
              <a:stretch>
                <a:fillRect l="0" t="-92022" r="-57465" b="-74656"/>
              </a:stretch>
            </a:blipFill>
          </p:spPr>
        </p:sp>
        <p:sp>
          <p:nvSpPr>
            <p:cNvPr name="TextBox 46" id="46"/>
            <p:cNvSpPr txBox="true"/>
            <p:nvPr/>
          </p:nvSpPr>
          <p:spPr>
            <a:xfrm>
              <a:off x="0" y="-38100"/>
              <a:ext cx="4103611"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Reflects five-day trading week cycle</a:t>
              </a:r>
            </a:p>
          </p:txBody>
        </p:sp>
      </p:grpSp>
      <p:grpSp>
        <p:nvGrpSpPr>
          <p:cNvPr name="Group 47" id="47"/>
          <p:cNvGrpSpPr/>
          <p:nvPr/>
        </p:nvGrpSpPr>
        <p:grpSpPr>
          <a:xfrm rot="0">
            <a:off x="901703" y="331470"/>
            <a:ext cx="1031243" cy="1031243"/>
            <a:chOff x="0" y="0"/>
            <a:chExt cx="1374991" cy="1374991"/>
          </a:xfrm>
        </p:grpSpPr>
        <p:sp>
          <p:nvSpPr>
            <p:cNvPr name="Freeform 48" id="48"/>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49" id="49"/>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50" id="50"/>
          <p:cNvGrpSpPr/>
          <p:nvPr/>
        </p:nvGrpSpPr>
        <p:grpSpPr>
          <a:xfrm rot="0">
            <a:off x="914400" y="344167"/>
            <a:ext cx="1005840" cy="1005840"/>
            <a:chOff x="0" y="0"/>
            <a:chExt cx="1341120" cy="1341120"/>
          </a:xfrm>
        </p:grpSpPr>
        <p:sp>
          <p:nvSpPr>
            <p:cNvPr name="Freeform 51" id="51"/>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52" id="52"/>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02</a:t>
              </a:r>
            </a:p>
          </p:txBody>
        </p:sp>
      </p:grpSp>
      <p:sp>
        <p:nvSpPr>
          <p:cNvPr name="Freeform 53" id="53"/>
          <p:cNvSpPr/>
          <p:nvPr/>
        </p:nvSpPr>
        <p:spPr>
          <a:xfrm flipH="false" flipV="false" rot="0">
            <a:off x="8184912" y="2620264"/>
            <a:ext cx="9478991" cy="6438417"/>
          </a:xfrm>
          <a:custGeom>
            <a:avLst/>
            <a:gdLst/>
            <a:ahLst/>
            <a:cxnLst/>
            <a:rect r="r" b="b" t="t" l="l"/>
            <a:pathLst>
              <a:path h="6438417" w="9478991">
                <a:moveTo>
                  <a:pt x="0" y="0"/>
                </a:moveTo>
                <a:lnTo>
                  <a:pt x="9478991" y="0"/>
                </a:lnTo>
                <a:lnTo>
                  <a:pt x="9478991" y="6438417"/>
                </a:lnTo>
                <a:lnTo>
                  <a:pt x="0" y="6438417"/>
                </a:lnTo>
                <a:lnTo>
                  <a:pt x="0" y="0"/>
                </a:lnTo>
                <a:close/>
              </a:path>
            </a:pathLst>
          </a:custGeom>
          <a:blipFill>
            <a:blip r:embed="rId4"/>
            <a:stretch>
              <a:fillRect l="0" t="0" r="0" b="0"/>
            </a:stretch>
          </a:blipFill>
          <a:ln w="38100" cap="sq">
            <a:solidFill>
              <a:srgbClr val="000000"/>
            </a:solidFill>
            <a:prstDash val="solid"/>
            <a:miter/>
          </a:ln>
        </p:spPr>
      </p:sp>
      <p:sp>
        <p:nvSpPr>
          <p:cNvPr name="AutoShape 54" id="54"/>
          <p:cNvSpPr/>
          <p:nvPr/>
        </p:nvSpPr>
        <p:spPr>
          <a:xfrm>
            <a:off x="2927791" y="4137458"/>
            <a:ext cx="821249" cy="0"/>
          </a:xfrm>
          <a:prstGeom prst="line">
            <a:avLst/>
          </a:prstGeom>
          <a:ln cap="flat" w="38100">
            <a:solidFill>
              <a:srgbClr val="000000"/>
            </a:solidFill>
            <a:prstDash val="solid"/>
            <a:headEnd type="none" len="sm" w="sm"/>
            <a:tailEnd type="triangle" len="med" w="lg"/>
          </a:ln>
        </p:spPr>
      </p:sp>
      <p:sp>
        <p:nvSpPr>
          <p:cNvPr name="AutoShape 55" id="55"/>
          <p:cNvSpPr/>
          <p:nvPr/>
        </p:nvSpPr>
        <p:spPr>
          <a:xfrm>
            <a:off x="2927791" y="5104962"/>
            <a:ext cx="821249" cy="0"/>
          </a:xfrm>
          <a:prstGeom prst="line">
            <a:avLst/>
          </a:prstGeom>
          <a:ln cap="flat" w="38100">
            <a:solidFill>
              <a:srgbClr val="000000"/>
            </a:solidFill>
            <a:prstDash val="solid"/>
            <a:headEnd type="none" len="sm" w="sm"/>
            <a:tailEnd type="triangle" len="med" w="lg"/>
          </a:ln>
        </p:spPr>
      </p:sp>
      <p:sp>
        <p:nvSpPr>
          <p:cNvPr name="AutoShape 56" id="56"/>
          <p:cNvSpPr/>
          <p:nvPr/>
        </p:nvSpPr>
        <p:spPr>
          <a:xfrm>
            <a:off x="2927791" y="6172645"/>
            <a:ext cx="821249" cy="0"/>
          </a:xfrm>
          <a:prstGeom prst="line">
            <a:avLst/>
          </a:prstGeom>
          <a:ln cap="flat" w="38100">
            <a:solidFill>
              <a:srgbClr val="000000"/>
            </a:solidFill>
            <a:prstDash val="solid"/>
            <a:headEnd type="none" len="sm" w="sm"/>
            <a:tailEnd type="triangle" len="med" w="lg"/>
          </a:ln>
        </p:spPr>
      </p:sp>
      <p:sp>
        <p:nvSpPr>
          <p:cNvPr name="AutoShape 57" id="57"/>
          <p:cNvSpPr/>
          <p:nvPr/>
        </p:nvSpPr>
        <p:spPr>
          <a:xfrm>
            <a:off x="2927791" y="7146163"/>
            <a:ext cx="821249" cy="0"/>
          </a:xfrm>
          <a:prstGeom prst="line">
            <a:avLst/>
          </a:prstGeom>
          <a:ln cap="flat" w="38100">
            <a:solidFill>
              <a:srgbClr val="000000"/>
            </a:solidFill>
            <a:prstDash val="solid"/>
            <a:headEnd type="none" len="sm" w="sm"/>
            <a:tailEnd type="triangle" len="med" w="lg"/>
          </a:ln>
        </p:spPr>
      </p:sp>
      <p:sp>
        <p:nvSpPr>
          <p:cNvPr name="AutoShape 58" id="58"/>
          <p:cNvSpPr/>
          <p:nvPr/>
        </p:nvSpPr>
        <p:spPr>
          <a:xfrm>
            <a:off x="2927791" y="8119680"/>
            <a:ext cx="821249" cy="0"/>
          </a:xfrm>
          <a:prstGeom prst="line">
            <a:avLst/>
          </a:prstGeom>
          <a:ln cap="flat" w="38100">
            <a:solidFill>
              <a:srgbClr val="000000"/>
            </a:solidFill>
            <a:prstDash val="solid"/>
            <a:headEnd type="none" len="sm" w="sm"/>
            <a:tailEnd type="triangle" len="med" w="lg"/>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299968"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312665"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1 · ARIMA</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Model Identification &amp; Selection </a:t>
              </a:r>
            </a:p>
          </p:txBody>
        </p:sp>
      </p:grpSp>
      <p:grpSp>
        <p:nvGrpSpPr>
          <p:cNvPr name="Group 11" id="11"/>
          <p:cNvGrpSpPr/>
          <p:nvPr/>
        </p:nvGrpSpPr>
        <p:grpSpPr>
          <a:xfrm rot="0">
            <a:off x="5029200" y="2526030"/>
            <a:ext cx="8229600" cy="4294063"/>
            <a:chOff x="0" y="0"/>
            <a:chExt cx="2167467" cy="1130947"/>
          </a:xfrm>
        </p:grpSpPr>
        <p:sp>
          <p:nvSpPr>
            <p:cNvPr name="Freeform 12" id="12"/>
            <p:cNvSpPr/>
            <p:nvPr/>
          </p:nvSpPr>
          <p:spPr>
            <a:xfrm flipH="false" flipV="false" rot="0">
              <a:off x="0" y="0"/>
              <a:ext cx="2167467" cy="1130947"/>
            </a:xfrm>
            <a:custGeom>
              <a:avLst/>
              <a:gdLst/>
              <a:ahLst/>
              <a:cxnLst/>
              <a:rect r="r" b="b" t="t" l="l"/>
              <a:pathLst>
                <a:path h="1130947" w="2167467">
                  <a:moveTo>
                    <a:pt x="0" y="0"/>
                  </a:moveTo>
                  <a:lnTo>
                    <a:pt x="2167467" y="0"/>
                  </a:lnTo>
                  <a:lnTo>
                    <a:pt x="2167467" y="1130947"/>
                  </a:lnTo>
                  <a:lnTo>
                    <a:pt x="0" y="1130947"/>
                  </a:lnTo>
                  <a:close/>
                </a:path>
              </a:pathLst>
            </a:custGeom>
            <a:solidFill>
              <a:srgbClr val="FEF3C7"/>
            </a:solidFill>
          </p:spPr>
        </p:sp>
        <p:sp>
          <p:nvSpPr>
            <p:cNvPr name="TextBox 13" id="13"/>
            <p:cNvSpPr txBox="true"/>
            <p:nvPr/>
          </p:nvSpPr>
          <p:spPr>
            <a:xfrm>
              <a:off x="0" y="-38100"/>
              <a:ext cx="2167467" cy="1169047"/>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5486400" y="2679255"/>
            <a:ext cx="7498080" cy="548640"/>
            <a:chOff x="0" y="0"/>
            <a:chExt cx="9997440" cy="731520"/>
          </a:xfrm>
        </p:grpSpPr>
        <p:sp>
          <p:nvSpPr>
            <p:cNvPr name="Freeform 15" id="15"/>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16" id="16"/>
            <p:cNvSpPr txBox="true"/>
            <p:nvPr/>
          </p:nvSpPr>
          <p:spPr>
            <a:xfrm>
              <a:off x="0" y="-47625"/>
              <a:ext cx="9997440" cy="779145"/>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Auto ARIMA</a:t>
              </a:r>
            </a:p>
          </p:txBody>
        </p:sp>
      </p:grpSp>
      <p:graphicFrame>
        <p:nvGraphicFramePr>
          <p:cNvPr name="Table 17" id="17"/>
          <p:cNvGraphicFramePr>
            <a:graphicFrameLocks noGrp="true"/>
          </p:cNvGraphicFramePr>
          <p:nvPr/>
        </p:nvGraphicFramePr>
        <p:xfrm>
          <a:off x="5394960" y="3833685"/>
          <a:ext cx="7442200" cy="1524000"/>
        </p:xfrm>
        <a:graphic>
          <a:graphicData uri="http://schemas.openxmlformats.org/drawingml/2006/table">
            <a:tbl>
              <a:tblPr/>
              <a:tblGrid>
                <a:gridCol w="4157849"/>
                <a:gridCol w="1642176"/>
                <a:gridCol w="1642176"/>
              </a:tblGrid>
              <a:tr h="508000">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Model</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AIC</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BIC</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5080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ARIMA(1,1,1)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15,825.42</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15,848.97</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08000">
                <a:tc>
                  <a:txBody>
                    <a:bodyPr anchor="t" rtlCol="false"/>
                    <a:lstStyle/>
                    <a:p>
                      <a:pPr algn="ctr">
                        <a:lnSpc>
                          <a:spcPts val="2280"/>
                        </a:lnSpc>
                        <a:defRPr/>
                      </a:pPr>
                      <a:r>
                        <a:rPr lang="en-US" sz="1900" b="true">
                          <a:solidFill>
                            <a:srgbClr val="065F46"/>
                          </a:solidFill>
                          <a:latin typeface="Calibri (MS) Bold"/>
                          <a:ea typeface="Calibri (MS) Bold"/>
                          <a:cs typeface="Calibri (MS) Bold"/>
                          <a:sym typeface="Calibri (MS) Bold"/>
                        </a:rPr>
                        <a:t>SARIMA(1,1,1)(0,0,1)₅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c>
                  <a:txBody>
                    <a:bodyPr anchor="t" rtlCol="false"/>
                    <a:lstStyle/>
                    <a:p>
                      <a:pPr algn="ctr">
                        <a:lnSpc>
                          <a:spcPts val="2280"/>
                        </a:lnSpc>
                        <a:defRPr/>
                      </a:pPr>
                      <a:r>
                        <a:rPr lang="en-US" sz="1900" b="true">
                          <a:solidFill>
                            <a:srgbClr val="065F46"/>
                          </a:solidFill>
                          <a:latin typeface="Calibri (MS) Bold"/>
                          <a:ea typeface="Calibri (MS) Bold"/>
                          <a:cs typeface="Calibri (MS) Bold"/>
                          <a:sym typeface="Calibri (MS) Bold"/>
                        </a:rPr>
                        <a:t>15,823.70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c>
                  <a:txBody>
                    <a:bodyPr anchor="t" rtlCol="false"/>
                    <a:lstStyle/>
                    <a:p>
                      <a:pPr algn="ctr">
                        <a:lnSpc>
                          <a:spcPts val="2280"/>
                        </a:lnSpc>
                        <a:defRPr/>
                      </a:pPr>
                      <a:r>
                        <a:rPr lang="en-US" sz="1900" b="true">
                          <a:solidFill>
                            <a:srgbClr val="065F46"/>
                          </a:solidFill>
                          <a:latin typeface="Calibri (MS) Bold"/>
                          <a:ea typeface="Calibri (MS) Bold"/>
                          <a:cs typeface="Calibri (MS) Bold"/>
                          <a:sym typeface="Calibri (MS) Bold"/>
                        </a:rPr>
                        <a:t>15,848.99</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r>
            </a:tbl>
          </a:graphicData>
        </a:graphic>
      </p:graphicFrame>
      <p:grpSp>
        <p:nvGrpSpPr>
          <p:cNvPr name="Group 18" id="18"/>
          <p:cNvGrpSpPr/>
          <p:nvPr/>
        </p:nvGrpSpPr>
        <p:grpSpPr>
          <a:xfrm rot="0">
            <a:off x="5486400" y="5534469"/>
            <a:ext cx="7498080" cy="1012999"/>
            <a:chOff x="0" y="0"/>
            <a:chExt cx="9997440" cy="1350665"/>
          </a:xfrm>
        </p:grpSpPr>
        <p:sp>
          <p:nvSpPr>
            <p:cNvPr name="Freeform 19" id="19"/>
            <p:cNvSpPr/>
            <p:nvPr/>
          </p:nvSpPr>
          <p:spPr>
            <a:xfrm flipH="false" flipV="false" rot="0">
              <a:off x="0" y="0"/>
              <a:ext cx="9997440" cy="1350665"/>
            </a:xfrm>
            <a:custGeom>
              <a:avLst/>
              <a:gdLst/>
              <a:ahLst/>
              <a:cxnLst/>
              <a:rect r="r" b="b" t="t" l="l"/>
              <a:pathLst>
                <a:path h="1350665" w="9997440">
                  <a:moveTo>
                    <a:pt x="0" y="0"/>
                  </a:moveTo>
                  <a:lnTo>
                    <a:pt x="9997440" y="0"/>
                  </a:lnTo>
                  <a:lnTo>
                    <a:pt x="9997440" y="1350665"/>
                  </a:lnTo>
                  <a:lnTo>
                    <a:pt x="0" y="1350665"/>
                  </a:lnTo>
                  <a:close/>
                </a:path>
              </a:pathLst>
            </a:custGeom>
            <a:blipFill>
              <a:blip r:embed="rId3">
                <a:alphaModFix amt="0"/>
              </a:blip>
              <a:stretch>
                <a:fillRect l="0" t="-99092" r="0" b="-89358"/>
              </a:stretch>
            </a:blipFill>
          </p:spPr>
        </p:sp>
        <p:sp>
          <p:nvSpPr>
            <p:cNvPr name="TextBox 20" id="20"/>
            <p:cNvSpPr txBox="true"/>
            <p:nvPr/>
          </p:nvSpPr>
          <p:spPr>
            <a:xfrm>
              <a:off x="0" y="-38100"/>
              <a:ext cx="9997440" cy="1388765"/>
            </a:xfrm>
            <a:prstGeom prst="rect">
              <a:avLst/>
            </a:prstGeom>
          </p:spPr>
          <p:txBody>
            <a:bodyPr anchor="ctr" rtlCol="false" tIns="0" lIns="0" bIns="0" rIns="0"/>
            <a:lstStyle/>
            <a:p>
              <a:pPr algn="l">
                <a:lnSpc>
                  <a:spcPts val="2400"/>
                </a:lnSpc>
              </a:pPr>
              <a:r>
                <a:rPr lang="en-US" sz="2000" b="true">
                  <a:solidFill>
                    <a:srgbClr val="334155"/>
                  </a:solidFill>
                  <a:latin typeface="Calibri (MS) Bold"/>
                  <a:ea typeface="Calibri (MS) Bold"/>
                  <a:cs typeface="Calibri (MS) Bold"/>
                  <a:sym typeface="Calibri (MS) Bold"/>
                </a:rPr>
                <a:t>    </a:t>
              </a:r>
              <a:r>
                <a:rPr lang="en-US" sz="2000" b="true">
                  <a:solidFill>
                    <a:srgbClr val="334155"/>
                  </a:solidFill>
                  <a:latin typeface="Calibri (MS) Bold"/>
                  <a:ea typeface="Calibri (MS) Bold"/>
                  <a:cs typeface="Calibri (MS) Bold"/>
                  <a:sym typeface="Calibri (MS) Bold"/>
                </a:rPr>
                <a:t>SARIMA(1,1,1)(0,0,1)₅ selected</a:t>
              </a:r>
              <a:r>
                <a:rPr lang="en-US" sz="2000">
                  <a:solidFill>
                    <a:srgbClr val="334155"/>
                  </a:solidFill>
                  <a:latin typeface="Calibri (MS)"/>
                  <a:ea typeface="Calibri (MS)"/>
                  <a:cs typeface="Calibri (MS)"/>
                  <a:sym typeface="Calibri (MS)"/>
                </a:rPr>
                <a:t> </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    lowest AIC.</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    Seasonal MA component adds meaningful fit.</a:t>
              </a:r>
            </a:p>
          </p:txBody>
        </p:sp>
      </p:grpSp>
      <p:grpSp>
        <p:nvGrpSpPr>
          <p:cNvPr name="Group 21" id="21"/>
          <p:cNvGrpSpPr/>
          <p:nvPr/>
        </p:nvGrpSpPr>
        <p:grpSpPr>
          <a:xfrm rot="0">
            <a:off x="583208" y="7210618"/>
            <a:ext cx="17121585" cy="2652792"/>
            <a:chOff x="0" y="0"/>
            <a:chExt cx="4509389" cy="698678"/>
          </a:xfrm>
        </p:grpSpPr>
        <p:sp>
          <p:nvSpPr>
            <p:cNvPr name="Freeform 22" id="22"/>
            <p:cNvSpPr/>
            <p:nvPr/>
          </p:nvSpPr>
          <p:spPr>
            <a:xfrm flipH="false" flipV="false" rot="0">
              <a:off x="0" y="0"/>
              <a:ext cx="4509389" cy="698678"/>
            </a:xfrm>
            <a:custGeom>
              <a:avLst/>
              <a:gdLst/>
              <a:ahLst/>
              <a:cxnLst/>
              <a:rect r="r" b="b" t="t" l="l"/>
              <a:pathLst>
                <a:path h="698678" w="4509389">
                  <a:moveTo>
                    <a:pt x="0" y="0"/>
                  </a:moveTo>
                  <a:lnTo>
                    <a:pt x="4509389" y="0"/>
                  </a:lnTo>
                  <a:lnTo>
                    <a:pt x="4509389" y="698678"/>
                  </a:lnTo>
                  <a:lnTo>
                    <a:pt x="0" y="698678"/>
                  </a:lnTo>
                  <a:close/>
                </a:path>
              </a:pathLst>
            </a:custGeom>
            <a:solidFill>
              <a:srgbClr val="FEF3C7"/>
            </a:solidFill>
          </p:spPr>
        </p:sp>
        <p:sp>
          <p:nvSpPr>
            <p:cNvPr name="TextBox 23" id="23"/>
            <p:cNvSpPr txBox="true"/>
            <p:nvPr/>
          </p:nvSpPr>
          <p:spPr>
            <a:xfrm>
              <a:off x="0" y="-38100"/>
              <a:ext cx="4509389" cy="736778"/>
            </a:xfrm>
            <a:prstGeom prst="rect">
              <a:avLst/>
            </a:prstGeom>
          </p:spPr>
          <p:txBody>
            <a:bodyPr anchor="ctr" rtlCol="false" tIns="50800" lIns="50800" bIns="50800" rIns="50800"/>
            <a:lstStyle/>
            <a:p>
              <a:pPr algn="ctr">
                <a:lnSpc>
                  <a:spcPts val="2400"/>
                </a:lnSpc>
              </a:pPr>
            </a:p>
          </p:txBody>
        </p:sp>
      </p:grpSp>
      <p:grpSp>
        <p:nvGrpSpPr>
          <p:cNvPr name="Group 24" id="24"/>
          <p:cNvGrpSpPr/>
          <p:nvPr/>
        </p:nvGrpSpPr>
        <p:grpSpPr>
          <a:xfrm rot="0">
            <a:off x="914400" y="7210618"/>
            <a:ext cx="16459200" cy="512064"/>
            <a:chOff x="0" y="0"/>
            <a:chExt cx="21945600" cy="682752"/>
          </a:xfrm>
        </p:grpSpPr>
        <p:sp>
          <p:nvSpPr>
            <p:cNvPr name="Freeform 25" id="25"/>
            <p:cNvSpPr/>
            <p:nvPr/>
          </p:nvSpPr>
          <p:spPr>
            <a:xfrm flipH="false" flipV="false" rot="0">
              <a:off x="0" y="0"/>
              <a:ext cx="21945600" cy="682752"/>
            </a:xfrm>
            <a:custGeom>
              <a:avLst/>
              <a:gdLst/>
              <a:ahLst/>
              <a:cxnLst/>
              <a:rect r="r" b="b" t="t" l="l"/>
              <a:pathLst>
                <a:path h="682752" w="21945600">
                  <a:moveTo>
                    <a:pt x="0" y="0"/>
                  </a:moveTo>
                  <a:lnTo>
                    <a:pt x="21945600" y="0"/>
                  </a:lnTo>
                  <a:lnTo>
                    <a:pt x="21945600" y="682752"/>
                  </a:lnTo>
                  <a:lnTo>
                    <a:pt x="0" y="682752"/>
                  </a:lnTo>
                  <a:close/>
                </a:path>
              </a:pathLst>
            </a:custGeom>
            <a:blipFill>
              <a:blip r:embed="rId3">
                <a:alphaModFix amt="0"/>
              </a:blip>
              <a:stretch>
                <a:fillRect l="0" t="-576304" r="0" b="-576304"/>
              </a:stretch>
            </a:blipFill>
          </p:spPr>
        </p:sp>
        <p:sp>
          <p:nvSpPr>
            <p:cNvPr name="TextBox 26" id="26"/>
            <p:cNvSpPr txBox="true"/>
            <p:nvPr/>
          </p:nvSpPr>
          <p:spPr>
            <a:xfrm>
              <a:off x="0" y="-47625"/>
              <a:ext cx="2194560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Fitted Model Parameters — SARIMA(1,1,1)(0,0,1)₅</a:t>
              </a:r>
            </a:p>
          </p:txBody>
        </p:sp>
      </p:grpSp>
      <p:graphicFrame>
        <p:nvGraphicFramePr>
          <p:cNvPr name="Table 27" id="27"/>
          <p:cNvGraphicFramePr>
            <a:graphicFrameLocks noGrp="true"/>
          </p:cNvGraphicFramePr>
          <p:nvPr/>
        </p:nvGraphicFramePr>
        <p:xfrm>
          <a:off x="914400" y="7759258"/>
          <a:ext cx="16459200" cy="1944688"/>
        </p:xfrm>
        <a:graphic>
          <a:graphicData uri="http://schemas.openxmlformats.org/drawingml/2006/table">
            <a:tbl>
              <a:tblPr/>
              <a:tblGrid>
                <a:gridCol w="4569195"/>
                <a:gridCol w="3660405"/>
                <a:gridCol w="4569195"/>
                <a:gridCol w="3660405"/>
              </a:tblGrid>
              <a:tr h="457105">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Metric</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Metric</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000000"/>
                      </a:solidFill>
                      <a:prstDash val="solid"/>
                      <a:round/>
                      <a:headEnd type="none" w="med" len="med"/>
                      <a:tailEnd type="none" w="med" len="med"/>
                    </a:lnB>
                    <a:solidFill>
                      <a:srgbClr val="1E2761"/>
                    </a:solidFill>
                  </a:tcPr>
                </a:tc>
              </a:tr>
              <a:tr h="573372">
                <a:tc>
                  <a:txBody>
                    <a:bodyPr anchor="t" rtlCol="false"/>
                    <a:lstStyle/>
                    <a:p>
                      <a:pPr algn="ctr">
                        <a:lnSpc>
                          <a:spcPts val="2280"/>
                        </a:lnSpc>
                        <a:defRPr/>
                      </a:pPr>
                      <a:r>
                        <a:rPr lang="en-US" sz="1900">
                          <a:solidFill>
                            <a:srgbClr val="000000"/>
                          </a:solidFill>
                          <a:latin typeface="Calibri (MS)"/>
                          <a:ea typeface="Calibri (MS)"/>
                          <a:cs typeface="Calibri (MS)"/>
                          <a:sym typeface="Calibri (MS)"/>
                        </a:rPr>
                        <a:t>Log-Likelihood</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-7,908.63</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Ljung-Box p (lag 10)</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0.127 ✓</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r>
              <a:tr h="457105">
                <a:tc>
                  <a:txBody>
                    <a:bodyPr anchor="t" rtlCol="false"/>
                    <a:lstStyle/>
                    <a:p>
                      <a:pPr algn="ctr">
                        <a:lnSpc>
                          <a:spcPts val="2280"/>
                        </a:lnSpc>
                        <a:defRPr/>
                      </a:pPr>
                      <a:r>
                        <a:rPr lang="en-US" sz="1900">
                          <a:solidFill>
                            <a:srgbClr val="000000"/>
                          </a:solidFill>
                          <a:latin typeface="Calibri (MS)"/>
                          <a:ea typeface="Calibri (MS)"/>
                          <a:cs typeface="Calibri (MS)"/>
                          <a:sym typeface="Calibri (MS)"/>
                        </a:rPr>
                        <a:t>AIC</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15,825.27</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Ljung-Box p (lag 20)</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0.067 ✓</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r>
              <a:tr h="457105">
                <a:tc>
                  <a:txBody>
                    <a:bodyPr anchor="t" rtlCol="false"/>
                    <a:lstStyle/>
                    <a:p>
                      <a:pPr algn="ctr">
                        <a:lnSpc>
                          <a:spcPts val="2280"/>
                        </a:lnSpc>
                        <a:defRPr/>
                      </a:pPr>
                      <a:r>
                        <a:rPr lang="en-US" sz="1900">
                          <a:solidFill>
                            <a:srgbClr val="000000"/>
                          </a:solidFill>
                          <a:latin typeface="Calibri (MS)"/>
                          <a:ea typeface="Calibri (MS)"/>
                          <a:cs typeface="Calibri (MS)"/>
                          <a:sym typeface="Calibri (MS)"/>
                        </a:rPr>
                        <a:t>BIC</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15,849.00</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Ljung-Box p (lag 30)</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0.057 ✓</a:t>
                      </a:r>
                      <a:endParaRPr lang="en-US" sz="1100"/>
                    </a:p>
                  </a:txBody>
                  <a:tcPr marL="91440" marR="91440" marT="91440" marB="91440" anchor="ctr">
                    <a:lnL cmpd="sng" algn="ctr" cap="flat" w="6350">
                      <a:solidFill>
                        <a:srgbClr val="000000"/>
                      </a:solidFill>
                      <a:prstDash val="solid"/>
                      <a:round/>
                      <a:headEnd type="none" w="med" len="med"/>
                      <a:tailEnd type="none" w="med" len="med"/>
                    </a:lnL>
                    <a:lnR cmpd="sng" algn="ctr" cap="flat" w="6350">
                      <a:solidFill>
                        <a:srgbClr val="000000"/>
                      </a:solidFill>
                      <a:prstDash val="solid"/>
                      <a:round/>
                      <a:headEnd type="none" w="med" len="med"/>
                      <a:tailEnd type="none" w="med" len="med"/>
                    </a:lnR>
                    <a:lnT cmpd="sng" algn="ctr" cap="flat" w="6350">
                      <a:solidFill>
                        <a:srgbClr val="000000"/>
                      </a:solidFill>
                      <a:prstDash val="solid"/>
                      <a:round/>
                      <a:headEnd type="none" w="med" len="med"/>
                      <a:tailEnd type="none" w="med" len="med"/>
                    </a:lnT>
                    <a:lnB cmpd="sng" algn="ctr" cap="flat" w="6350">
                      <a:solidFill>
                        <a:srgbClr val="000000"/>
                      </a:solidFill>
                      <a:prstDash val="solid"/>
                      <a:round/>
                      <a:headEnd type="none" w="med" len="med"/>
                      <a:tailEnd type="none" w="med" len="med"/>
                    </a:lnB>
                  </a:tcPr>
                </a:tc>
              </a:tr>
            </a:tbl>
          </a:graphicData>
        </a:graphic>
      </p:graphicFrame>
      <p:grpSp>
        <p:nvGrpSpPr>
          <p:cNvPr name="Group 28" id="28"/>
          <p:cNvGrpSpPr/>
          <p:nvPr/>
        </p:nvGrpSpPr>
        <p:grpSpPr>
          <a:xfrm rot="0">
            <a:off x="901703" y="331470"/>
            <a:ext cx="1031243" cy="1031243"/>
            <a:chOff x="0" y="0"/>
            <a:chExt cx="1374991" cy="1374991"/>
          </a:xfrm>
        </p:grpSpPr>
        <p:sp>
          <p:nvSpPr>
            <p:cNvPr name="Freeform 29" id="29"/>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30" id="30"/>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31" id="31"/>
          <p:cNvGrpSpPr/>
          <p:nvPr/>
        </p:nvGrpSpPr>
        <p:grpSpPr>
          <a:xfrm rot="0">
            <a:off x="914400" y="344167"/>
            <a:ext cx="1005840" cy="1005840"/>
            <a:chOff x="0" y="0"/>
            <a:chExt cx="1341120" cy="1341120"/>
          </a:xfrm>
        </p:grpSpPr>
        <p:sp>
          <p:nvSpPr>
            <p:cNvPr name="Freeform 32" id="3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33" id="33"/>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02</a:t>
              </a:r>
            </a:p>
          </p:txBody>
        </p:sp>
      </p:grpSp>
      <p:grpSp>
        <p:nvGrpSpPr>
          <p:cNvPr name="Group 34" id="34"/>
          <p:cNvGrpSpPr/>
          <p:nvPr/>
        </p:nvGrpSpPr>
        <p:grpSpPr>
          <a:xfrm rot="0">
            <a:off x="5486400" y="3227895"/>
            <a:ext cx="7498080" cy="548640"/>
            <a:chOff x="0" y="0"/>
            <a:chExt cx="9997440" cy="731520"/>
          </a:xfrm>
        </p:grpSpPr>
        <p:sp>
          <p:nvSpPr>
            <p:cNvPr name="Freeform 35" id="35"/>
            <p:cNvSpPr/>
            <p:nvPr/>
          </p:nvSpPr>
          <p:spPr>
            <a:xfrm flipH="false" flipV="false" rot="0">
              <a:off x="0" y="0"/>
              <a:ext cx="9997440" cy="731520"/>
            </a:xfrm>
            <a:custGeom>
              <a:avLst/>
              <a:gdLst/>
              <a:ahLst/>
              <a:cxnLst/>
              <a:rect r="r" b="b" t="t" l="l"/>
              <a:pathLst>
                <a:path h="731520" w="9997440">
                  <a:moveTo>
                    <a:pt x="0" y="0"/>
                  </a:moveTo>
                  <a:lnTo>
                    <a:pt x="9997440" y="0"/>
                  </a:lnTo>
                  <a:lnTo>
                    <a:pt x="9997440" y="731520"/>
                  </a:lnTo>
                  <a:lnTo>
                    <a:pt x="0" y="731520"/>
                  </a:lnTo>
                  <a:close/>
                </a:path>
              </a:pathLst>
            </a:custGeom>
            <a:blipFill>
              <a:blip r:embed="rId3">
                <a:alphaModFix amt="0"/>
              </a:blip>
              <a:stretch>
                <a:fillRect l="0" t="-216295" r="0" b="-216295"/>
              </a:stretch>
            </a:blipFill>
          </p:spPr>
        </p:sp>
        <p:sp>
          <p:nvSpPr>
            <p:cNvPr name="TextBox 36" id="36"/>
            <p:cNvSpPr txBox="true"/>
            <p:nvPr/>
          </p:nvSpPr>
          <p:spPr>
            <a:xfrm>
              <a:off x="0" y="-47625"/>
              <a:ext cx="9997440" cy="779145"/>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Model Comparison </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48227"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360924"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1 · ARIMA</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Forecasting &amp; Out-of-Sample Validation</a:t>
              </a:r>
            </a:p>
          </p:txBody>
        </p:sp>
      </p:grpSp>
      <p:grpSp>
        <p:nvGrpSpPr>
          <p:cNvPr name="Group 11" id="11"/>
          <p:cNvGrpSpPr/>
          <p:nvPr/>
        </p:nvGrpSpPr>
        <p:grpSpPr>
          <a:xfrm rot="0">
            <a:off x="947418" y="3217802"/>
            <a:ext cx="3865883" cy="1854203"/>
            <a:chOff x="0" y="0"/>
            <a:chExt cx="5154511" cy="2472271"/>
          </a:xfrm>
        </p:grpSpPr>
        <p:sp>
          <p:nvSpPr>
            <p:cNvPr name="Freeform 12" id="12"/>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CADCFC"/>
            </a:solidFill>
          </p:spPr>
        </p:sp>
        <p:sp>
          <p:nvSpPr>
            <p:cNvPr name="Freeform 13" id="13"/>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CADCFC"/>
            </a:solidFill>
          </p:spPr>
        </p:sp>
      </p:grpSp>
      <p:grpSp>
        <p:nvGrpSpPr>
          <p:cNvPr name="Group 14" id="14"/>
          <p:cNvGrpSpPr/>
          <p:nvPr/>
        </p:nvGrpSpPr>
        <p:grpSpPr>
          <a:xfrm rot="0">
            <a:off x="960115" y="3376803"/>
            <a:ext cx="3840480" cy="1046931"/>
            <a:chOff x="0" y="0"/>
            <a:chExt cx="5120640" cy="1395909"/>
          </a:xfrm>
        </p:grpSpPr>
        <p:sp>
          <p:nvSpPr>
            <p:cNvPr name="Freeform 15" id="15"/>
            <p:cNvSpPr/>
            <p:nvPr/>
          </p:nvSpPr>
          <p:spPr>
            <a:xfrm flipH="false" flipV="false" rot="0">
              <a:off x="0" y="0"/>
              <a:ext cx="5120640" cy="1395909"/>
            </a:xfrm>
            <a:custGeom>
              <a:avLst/>
              <a:gdLst/>
              <a:ahLst/>
              <a:cxnLst/>
              <a:rect r="r" b="b" t="t" l="l"/>
              <a:pathLst>
                <a:path h="1395909" w="5120640">
                  <a:moveTo>
                    <a:pt x="0" y="0"/>
                  </a:moveTo>
                  <a:lnTo>
                    <a:pt x="5120640" y="0"/>
                  </a:lnTo>
                  <a:lnTo>
                    <a:pt x="5120640" y="1395909"/>
                  </a:lnTo>
                  <a:lnTo>
                    <a:pt x="0" y="1395909"/>
                  </a:lnTo>
                  <a:close/>
                </a:path>
              </a:pathLst>
            </a:custGeom>
            <a:blipFill>
              <a:blip r:embed="rId3">
                <a:alphaModFix amt="0"/>
              </a:blip>
              <a:stretch>
                <a:fillRect l="0" t="-23439" r="0" b="-19514"/>
              </a:stretch>
            </a:blipFill>
          </p:spPr>
        </p:sp>
        <p:sp>
          <p:nvSpPr>
            <p:cNvPr name="TextBox 16" id="16"/>
            <p:cNvSpPr txBox="true"/>
            <p:nvPr/>
          </p:nvSpPr>
          <p:spPr>
            <a:xfrm>
              <a:off x="0" y="-104775"/>
              <a:ext cx="5120640" cy="1500684"/>
            </a:xfrm>
            <a:prstGeom prst="rect">
              <a:avLst/>
            </a:prstGeom>
          </p:spPr>
          <p:txBody>
            <a:bodyPr anchor="ctr" rtlCol="false" tIns="0" lIns="0" bIns="0" rIns="0"/>
            <a:lstStyle/>
            <a:p>
              <a:pPr algn="ctr">
                <a:lnSpc>
                  <a:spcPts val="6240"/>
                </a:lnSpc>
              </a:pPr>
              <a:r>
                <a:rPr lang="en-US" sz="5200" b="true">
                  <a:solidFill>
                    <a:srgbClr val="1E2761"/>
                  </a:solidFill>
                  <a:latin typeface="Calibri (MS) Bold"/>
                  <a:ea typeface="Calibri (MS) Bold"/>
                  <a:cs typeface="Calibri (MS) Bold"/>
                  <a:sym typeface="Calibri (MS) Bold"/>
                </a:rPr>
                <a:t>$408.73</a:t>
              </a:r>
            </a:p>
          </p:txBody>
        </p:sp>
      </p:grpSp>
      <p:grpSp>
        <p:nvGrpSpPr>
          <p:cNvPr name="Group 17" id="17"/>
          <p:cNvGrpSpPr/>
          <p:nvPr/>
        </p:nvGrpSpPr>
        <p:grpSpPr>
          <a:xfrm rot="0">
            <a:off x="960115" y="4236339"/>
            <a:ext cx="3840480" cy="731520"/>
            <a:chOff x="0" y="0"/>
            <a:chExt cx="5120640" cy="975360"/>
          </a:xfrm>
        </p:grpSpPr>
        <p:sp>
          <p:nvSpPr>
            <p:cNvPr name="Freeform 18" id="18"/>
            <p:cNvSpPr/>
            <p:nvPr/>
          </p:nvSpPr>
          <p:spPr>
            <a:xfrm flipH="false" flipV="false" rot="0">
              <a:off x="0" y="0"/>
              <a:ext cx="5120640" cy="975360"/>
            </a:xfrm>
            <a:custGeom>
              <a:avLst/>
              <a:gdLst/>
              <a:ahLst/>
              <a:cxnLst/>
              <a:rect r="r" b="b" t="t" l="l"/>
              <a:pathLst>
                <a:path h="975360" w="5120640">
                  <a:moveTo>
                    <a:pt x="0" y="0"/>
                  </a:moveTo>
                  <a:lnTo>
                    <a:pt x="5120640" y="0"/>
                  </a:lnTo>
                  <a:lnTo>
                    <a:pt x="5120640" y="975360"/>
                  </a:lnTo>
                  <a:lnTo>
                    <a:pt x="0" y="975360"/>
                  </a:lnTo>
                  <a:close/>
                </a:path>
              </a:pathLst>
            </a:custGeom>
            <a:blipFill>
              <a:blip r:embed="rId3">
                <a:alphaModFix amt="0"/>
              </a:blip>
              <a:stretch>
                <a:fillRect l="0" t="-52296" r="0" b="-52296"/>
              </a:stretch>
            </a:blipFill>
          </p:spPr>
        </p:sp>
        <p:sp>
          <p:nvSpPr>
            <p:cNvPr name="TextBox 19" id="19"/>
            <p:cNvSpPr txBox="true"/>
            <p:nvPr/>
          </p:nvSpPr>
          <p:spPr>
            <a:xfrm>
              <a:off x="0" y="-38100"/>
              <a:ext cx="5120640" cy="1013460"/>
            </a:xfrm>
            <a:prstGeom prst="rect">
              <a:avLst/>
            </a:prstGeom>
          </p:spPr>
          <p:txBody>
            <a:bodyPr anchor="ctr" rtlCol="false" tIns="0" lIns="0" bIns="0" rIns="0"/>
            <a:lstStyle/>
            <a:p>
              <a:pPr algn="ctr">
                <a:lnSpc>
                  <a:spcPts val="2160"/>
                </a:lnSpc>
              </a:pPr>
              <a:r>
                <a:rPr lang="en-US" sz="1800">
                  <a:solidFill>
                    <a:srgbClr val="334155"/>
                  </a:solidFill>
                  <a:latin typeface="Calibri (MS)"/>
                  <a:ea typeface="Calibri (MS)"/>
                  <a:cs typeface="Calibri (MS)"/>
                  <a:sym typeface="Calibri (MS)"/>
                </a:rPr>
                <a:t>Day-1 Forecast (1 May 2026)</a:t>
              </a:r>
            </a:p>
          </p:txBody>
        </p:sp>
      </p:grpSp>
      <p:grpSp>
        <p:nvGrpSpPr>
          <p:cNvPr name="Group 20" id="20"/>
          <p:cNvGrpSpPr/>
          <p:nvPr/>
        </p:nvGrpSpPr>
        <p:grpSpPr>
          <a:xfrm rot="0">
            <a:off x="5062218" y="3217802"/>
            <a:ext cx="3865883" cy="1854203"/>
            <a:chOff x="0" y="0"/>
            <a:chExt cx="5154511" cy="2472271"/>
          </a:xfrm>
        </p:grpSpPr>
        <p:sp>
          <p:nvSpPr>
            <p:cNvPr name="Freeform 21" id="21"/>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CADCFC"/>
            </a:solidFill>
          </p:spPr>
        </p:sp>
        <p:sp>
          <p:nvSpPr>
            <p:cNvPr name="Freeform 22" id="22"/>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CADCFC"/>
            </a:solidFill>
          </p:spPr>
        </p:sp>
      </p:grpSp>
      <p:grpSp>
        <p:nvGrpSpPr>
          <p:cNvPr name="Group 23" id="23"/>
          <p:cNvGrpSpPr/>
          <p:nvPr/>
        </p:nvGrpSpPr>
        <p:grpSpPr>
          <a:xfrm rot="0">
            <a:off x="5074915" y="3376803"/>
            <a:ext cx="3840480" cy="1005840"/>
            <a:chOff x="0" y="0"/>
            <a:chExt cx="5120640" cy="1341120"/>
          </a:xfrm>
        </p:grpSpPr>
        <p:sp>
          <p:nvSpPr>
            <p:cNvPr name="Freeform 24" id="24"/>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25" id="25"/>
            <p:cNvSpPr txBox="true"/>
            <p:nvPr/>
          </p:nvSpPr>
          <p:spPr>
            <a:xfrm>
              <a:off x="0" y="-104775"/>
              <a:ext cx="5120640" cy="1445895"/>
            </a:xfrm>
            <a:prstGeom prst="rect">
              <a:avLst/>
            </a:prstGeom>
          </p:spPr>
          <p:txBody>
            <a:bodyPr anchor="ctr" rtlCol="false" tIns="0" lIns="0" bIns="0" rIns="0"/>
            <a:lstStyle/>
            <a:p>
              <a:pPr algn="ctr">
                <a:lnSpc>
                  <a:spcPts val="6240"/>
                </a:lnSpc>
              </a:pPr>
              <a:r>
                <a:rPr lang="en-US" sz="5200" b="true">
                  <a:solidFill>
                    <a:srgbClr val="1E2761"/>
                  </a:solidFill>
                  <a:latin typeface="Calibri (MS) Bold"/>
                  <a:ea typeface="Calibri (MS) Bold"/>
                  <a:cs typeface="Calibri (MS) Bold"/>
                  <a:sym typeface="Calibri (MS) Bold"/>
                </a:rPr>
                <a:t>$409.43</a:t>
              </a:r>
            </a:p>
          </p:txBody>
        </p:sp>
      </p:grpSp>
      <p:grpSp>
        <p:nvGrpSpPr>
          <p:cNvPr name="Group 26" id="26"/>
          <p:cNvGrpSpPr/>
          <p:nvPr/>
        </p:nvGrpSpPr>
        <p:grpSpPr>
          <a:xfrm rot="0">
            <a:off x="5074915" y="4236339"/>
            <a:ext cx="3840480" cy="731520"/>
            <a:chOff x="0" y="0"/>
            <a:chExt cx="5120640" cy="975360"/>
          </a:xfrm>
        </p:grpSpPr>
        <p:sp>
          <p:nvSpPr>
            <p:cNvPr name="Freeform 27" id="27"/>
            <p:cNvSpPr/>
            <p:nvPr/>
          </p:nvSpPr>
          <p:spPr>
            <a:xfrm flipH="false" flipV="false" rot="0">
              <a:off x="0" y="0"/>
              <a:ext cx="5120640" cy="975360"/>
            </a:xfrm>
            <a:custGeom>
              <a:avLst/>
              <a:gdLst/>
              <a:ahLst/>
              <a:cxnLst/>
              <a:rect r="r" b="b" t="t" l="l"/>
              <a:pathLst>
                <a:path h="975360" w="5120640">
                  <a:moveTo>
                    <a:pt x="0" y="0"/>
                  </a:moveTo>
                  <a:lnTo>
                    <a:pt x="5120640" y="0"/>
                  </a:lnTo>
                  <a:lnTo>
                    <a:pt x="5120640" y="975360"/>
                  </a:lnTo>
                  <a:lnTo>
                    <a:pt x="0" y="975360"/>
                  </a:lnTo>
                  <a:close/>
                </a:path>
              </a:pathLst>
            </a:custGeom>
            <a:blipFill>
              <a:blip r:embed="rId3">
                <a:alphaModFix amt="0"/>
              </a:blip>
              <a:stretch>
                <a:fillRect l="0" t="-52296" r="0" b="-52296"/>
              </a:stretch>
            </a:blipFill>
          </p:spPr>
        </p:sp>
        <p:sp>
          <p:nvSpPr>
            <p:cNvPr name="TextBox 28" id="28"/>
            <p:cNvSpPr txBox="true"/>
            <p:nvPr/>
          </p:nvSpPr>
          <p:spPr>
            <a:xfrm>
              <a:off x="0" y="-38100"/>
              <a:ext cx="5120640" cy="1013460"/>
            </a:xfrm>
            <a:prstGeom prst="rect">
              <a:avLst/>
            </a:prstGeom>
          </p:spPr>
          <p:txBody>
            <a:bodyPr anchor="ctr" rtlCol="false" tIns="0" lIns="0" bIns="0" rIns="0"/>
            <a:lstStyle/>
            <a:p>
              <a:pPr algn="ctr">
                <a:lnSpc>
                  <a:spcPts val="2160"/>
                </a:lnSpc>
              </a:pPr>
              <a:r>
                <a:rPr lang="en-US" sz="1800">
                  <a:solidFill>
                    <a:srgbClr val="334155"/>
                  </a:solidFill>
                  <a:latin typeface="Calibri (MS)"/>
                  <a:ea typeface="Calibri (MS)"/>
                  <a:cs typeface="Calibri (MS)"/>
                  <a:sym typeface="Calibri (MS)"/>
                </a:rPr>
                <a:t>Converged Forecast (30 days)</a:t>
              </a:r>
            </a:p>
          </p:txBody>
        </p:sp>
      </p:grpSp>
      <p:grpSp>
        <p:nvGrpSpPr>
          <p:cNvPr name="Group 29" id="29"/>
          <p:cNvGrpSpPr/>
          <p:nvPr/>
        </p:nvGrpSpPr>
        <p:grpSpPr>
          <a:xfrm rot="0">
            <a:off x="9359898" y="3217802"/>
            <a:ext cx="3865883" cy="1854203"/>
            <a:chOff x="0" y="0"/>
            <a:chExt cx="5154511" cy="2472271"/>
          </a:xfrm>
        </p:grpSpPr>
        <p:sp>
          <p:nvSpPr>
            <p:cNvPr name="Freeform 30" id="30"/>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D1FAE5"/>
            </a:solidFill>
          </p:spPr>
        </p:sp>
        <p:sp>
          <p:nvSpPr>
            <p:cNvPr name="Freeform 31" id="31"/>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CADCFC"/>
            </a:solidFill>
          </p:spPr>
        </p:sp>
      </p:grpSp>
      <p:grpSp>
        <p:nvGrpSpPr>
          <p:cNvPr name="Group 32" id="32"/>
          <p:cNvGrpSpPr/>
          <p:nvPr/>
        </p:nvGrpSpPr>
        <p:grpSpPr>
          <a:xfrm rot="0">
            <a:off x="9372595" y="3376803"/>
            <a:ext cx="3840480" cy="1005840"/>
            <a:chOff x="0" y="0"/>
            <a:chExt cx="5120640" cy="1341120"/>
          </a:xfrm>
        </p:grpSpPr>
        <p:sp>
          <p:nvSpPr>
            <p:cNvPr name="Freeform 33" id="33"/>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34" id="34"/>
            <p:cNvSpPr txBox="true"/>
            <p:nvPr/>
          </p:nvSpPr>
          <p:spPr>
            <a:xfrm>
              <a:off x="0" y="-104775"/>
              <a:ext cx="5120640" cy="1445895"/>
            </a:xfrm>
            <a:prstGeom prst="rect">
              <a:avLst/>
            </a:prstGeom>
          </p:spPr>
          <p:txBody>
            <a:bodyPr anchor="ctr" rtlCol="false" tIns="0" lIns="0" bIns="0" rIns="0"/>
            <a:lstStyle/>
            <a:p>
              <a:pPr algn="ctr">
                <a:lnSpc>
                  <a:spcPts val="6240"/>
                </a:lnSpc>
              </a:pPr>
              <a:r>
                <a:rPr lang="en-US" sz="5200" b="true">
                  <a:solidFill>
                    <a:srgbClr val="1E2761"/>
                  </a:solidFill>
                  <a:latin typeface="Calibri (MS) Bold"/>
                  <a:ea typeface="Calibri (MS) Bold"/>
                  <a:cs typeface="Calibri (MS) Bold"/>
                  <a:sym typeface="Calibri (MS) Bold"/>
                </a:rPr>
                <a:t>22.60</a:t>
              </a:r>
            </a:p>
          </p:txBody>
        </p:sp>
      </p:grpSp>
      <p:grpSp>
        <p:nvGrpSpPr>
          <p:cNvPr name="Group 35" id="35"/>
          <p:cNvGrpSpPr/>
          <p:nvPr/>
        </p:nvGrpSpPr>
        <p:grpSpPr>
          <a:xfrm rot="0">
            <a:off x="9372595" y="4236339"/>
            <a:ext cx="3840480" cy="731520"/>
            <a:chOff x="0" y="0"/>
            <a:chExt cx="5120640" cy="975360"/>
          </a:xfrm>
        </p:grpSpPr>
        <p:sp>
          <p:nvSpPr>
            <p:cNvPr name="Freeform 36" id="36"/>
            <p:cNvSpPr/>
            <p:nvPr/>
          </p:nvSpPr>
          <p:spPr>
            <a:xfrm flipH="false" flipV="false" rot="0">
              <a:off x="0" y="0"/>
              <a:ext cx="5120640" cy="975360"/>
            </a:xfrm>
            <a:custGeom>
              <a:avLst/>
              <a:gdLst/>
              <a:ahLst/>
              <a:cxnLst/>
              <a:rect r="r" b="b" t="t" l="l"/>
              <a:pathLst>
                <a:path h="975360" w="5120640">
                  <a:moveTo>
                    <a:pt x="0" y="0"/>
                  </a:moveTo>
                  <a:lnTo>
                    <a:pt x="5120640" y="0"/>
                  </a:lnTo>
                  <a:lnTo>
                    <a:pt x="5120640" y="975360"/>
                  </a:lnTo>
                  <a:lnTo>
                    <a:pt x="0" y="975360"/>
                  </a:lnTo>
                  <a:close/>
                </a:path>
              </a:pathLst>
            </a:custGeom>
            <a:blipFill>
              <a:blip r:embed="rId3">
                <a:alphaModFix amt="0"/>
              </a:blip>
              <a:stretch>
                <a:fillRect l="0" t="-52296" r="0" b="-52296"/>
              </a:stretch>
            </a:blipFill>
          </p:spPr>
        </p:sp>
        <p:sp>
          <p:nvSpPr>
            <p:cNvPr name="TextBox 37" id="37"/>
            <p:cNvSpPr txBox="true"/>
            <p:nvPr/>
          </p:nvSpPr>
          <p:spPr>
            <a:xfrm>
              <a:off x="0" y="-38100"/>
              <a:ext cx="5120640" cy="1013460"/>
            </a:xfrm>
            <a:prstGeom prst="rect">
              <a:avLst/>
            </a:prstGeom>
          </p:spPr>
          <p:txBody>
            <a:bodyPr anchor="ctr" rtlCol="false" tIns="0" lIns="0" bIns="0" rIns="0"/>
            <a:lstStyle/>
            <a:p>
              <a:pPr algn="ctr">
                <a:lnSpc>
                  <a:spcPts val="2160"/>
                </a:lnSpc>
              </a:pPr>
              <a:r>
                <a:rPr lang="en-US" sz="1800">
                  <a:solidFill>
                    <a:srgbClr val="334155"/>
                  </a:solidFill>
                  <a:latin typeface="Calibri (MS)"/>
                  <a:ea typeface="Calibri (MS)"/>
                  <a:cs typeface="Calibri (MS)"/>
                  <a:sym typeface="Calibri (MS)"/>
                </a:rPr>
                <a:t>Out-of-Sample MAE ($)</a:t>
              </a:r>
            </a:p>
          </p:txBody>
        </p:sp>
      </p:grpSp>
      <p:grpSp>
        <p:nvGrpSpPr>
          <p:cNvPr name="Group 38" id="38"/>
          <p:cNvGrpSpPr/>
          <p:nvPr/>
        </p:nvGrpSpPr>
        <p:grpSpPr>
          <a:xfrm rot="0">
            <a:off x="13474698" y="3217802"/>
            <a:ext cx="3865883" cy="1854203"/>
            <a:chOff x="0" y="0"/>
            <a:chExt cx="5154511" cy="2472271"/>
          </a:xfrm>
        </p:grpSpPr>
        <p:sp>
          <p:nvSpPr>
            <p:cNvPr name="Freeform 39" id="39"/>
            <p:cNvSpPr/>
            <p:nvPr/>
          </p:nvSpPr>
          <p:spPr>
            <a:xfrm flipH="false" flipV="false" rot="0">
              <a:off x="16891" y="16891"/>
              <a:ext cx="5120640" cy="2438400"/>
            </a:xfrm>
            <a:custGeom>
              <a:avLst/>
              <a:gdLst/>
              <a:ahLst/>
              <a:cxnLst/>
              <a:rect r="r" b="b" t="t" l="l"/>
              <a:pathLst>
                <a:path h="2438400" w="5120640">
                  <a:moveTo>
                    <a:pt x="0" y="0"/>
                  </a:moveTo>
                  <a:lnTo>
                    <a:pt x="5120640" y="0"/>
                  </a:lnTo>
                  <a:lnTo>
                    <a:pt x="5120640" y="2438400"/>
                  </a:lnTo>
                  <a:lnTo>
                    <a:pt x="0" y="2438400"/>
                  </a:lnTo>
                  <a:close/>
                </a:path>
              </a:pathLst>
            </a:custGeom>
            <a:solidFill>
              <a:srgbClr val="D1FAE5"/>
            </a:solidFill>
          </p:spPr>
        </p:sp>
        <p:sp>
          <p:nvSpPr>
            <p:cNvPr name="Freeform 40" id="40"/>
            <p:cNvSpPr/>
            <p:nvPr/>
          </p:nvSpPr>
          <p:spPr>
            <a:xfrm flipH="false" flipV="false" rot="0">
              <a:off x="0" y="0"/>
              <a:ext cx="5154422" cy="2472182"/>
            </a:xfrm>
            <a:custGeom>
              <a:avLst/>
              <a:gdLst/>
              <a:ahLst/>
              <a:cxnLst/>
              <a:rect r="r" b="b" t="t" l="l"/>
              <a:pathLst>
                <a:path h="2472182" w="5154422">
                  <a:moveTo>
                    <a:pt x="16891" y="0"/>
                  </a:moveTo>
                  <a:lnTo>
                    <a:pt x="5137531" y="0"/>
                  </a:lnTo>
                  <a:cubicBezTo>
                    <a:pt x="5146929" y="0"/>
                    <a:pt x="5154422" y="7620"/>
                    <a:pt x="5154422" y="16891"/>
                  </a:cubicBezTo>
                  <a:lnTo>
                    <a:pt x="5154422" y="2455291"/>
                  </a:lnTo>
                  <a:cubicBezTo>
                    <a:pt x="5154422" y="2464689"/>
                    <a:pt x="5146802" y="2472182"/>
                    <a:pt x="5137531" y="2472182"/>
                  </a:cubicBezTo>
                  <a:lnTo>
                    <a:pt x="16891" y="2472182"/>
                  </a:lnTo>
                  <a:cubicBezTo>
                    <a:pt x="7493" y="2472182"/>
                    <a:pt x="0" y="2464562"/>
                    <a:pt x="0" y="2455291"/>
                  </a:cubicBezTo>
                  <a:lnTo>
                    <a:pt x="0" y="16891"/>
                  </a:lnTo>
                  <a:cubicBezTo>
                    <a:pt x="0" y="7620"/>
                    <a:pt x="7620" y="0"/>
                    <a:pt x="16891" y="0"/>
                  </a:cubicBezTo>
                  <a:moveTo>
                    <a:pt x="16891" y="33909"/>
                  </a:moveTo>
                  <a:lnTo>
                    <a:pt x="16891" y="16891"/>
                  </a:lnTo>
                  <a:lnTo>
                    <a:pt x="33909" y="16891"/>
                  </a:lnTo>
                  <a:lnTo>
                    <a:pt x="33909" y="2455291"/>
                  </a:lnTo>
                  <a:lnTo>
                    <a:pt x="16891" y="2455291"/>
                  </a:lnTo>
                  <a:lnTo>
                    <a:pt x="16891" y="2438400"/>
                  </a:lnTo>
                  <a:lnTo>
                    <a:pt x="5137531" y="2438400"/>
                  </a:lnTo>
                  <a:lnTo>
                    <a:pt x="5137531" y="2455291"/>
                  </a:lnTo>
                  <a:lnTo>
                    <a:pt x="5120640" y="2455291"/>
                  </a:lnTo>
                  <a:lnTo>
                    <a:pt x="5120640" y="16891"/>
                  </a:lnTo>
                  <a:lnTo>
                    <a:pt x="5137531" y="16891"/>
                  </a:lnTo>
                  <a:lnTo>
                    <a:pt x="5137531" y="33909"/>
                  </a:lnTo>
                  <a:lnTo>
                    <a:pt x="16891" y="33909"/>
                  </a:lnTo>
                  <a:close/>
                </a:path>
              </a:pathLst>
            </a:custGeom>
            <a:solidFill>
              <a:srgbClr val="CADCFC"/>
            </a:solidFill>
          </p:spPr>
        </p:sp>
      </p:grpSp>
      <p:grpSp>
        <p:nvGrpSpPr>
          <p:cNvPr name="Group 41" id="41"/>
          <p:cNvGrpSpPr/>
          <p:nvPr/>
        </p:nvGrpSpPr>
        <p:grpSpPr>
          <a:xfrm rot="0">
            <a:off x="13487395" y="3376803"/>
            <a:ext cx="3840480" cy="1005840"/>
            <a:chOff x="0" y="0"/>
            <a:chExt cx="5120640" cy="1341120"/>
          </a:xfrm>
        </p:grpSpPr>
        <p:sp>
          <p:nvSpPr>
            <p:cNvPr name="Freeform 42" id="42"/>
            <p:cNvSpPr/>
            <p:nvPr/>
          </p:nvSpPr>
          <p:spPr>
            <a:xfrm flipH="false" flipV="false" rot="0">
              <a:off x="0" y="0"/>
              <a:ext cx="5120640" cy="1341120"/>
            </a:xfrm>
            <a:custGeom>
              <a:avLst/>
              <a:gdLst/>
              <a:ahLst/>
              <a:cxnLst/>
              <a:rect r="r" b="b" t="t" l="l"/>
              <a:pathLst>
                <a:path h="1341120" w="5120640">
                  <a:moveTo>
                    <a:pt x="0" y="0"/>
                  </a:moveTo>
                  <a:lnTo>
                    <a:pt x="5120640" y="0"/>
                  </a:lnTo>
                  <a:lnTo>
                    <a:pt x="5120640" y="1341120"/>
                  </a:lnTo>
                  <a:lnTo>
                    <a:pt x="0" y="1341120"/>
                  </a:lnTo>
                  <a:close/>
                </a:path>
              </a:pathLst>
            </a:custGeom>
            <a:blipFill>
              <a:blip r:embed="rId3">
                <a:alphaModFix amt="0"/>
              </a:blip>
              <a:stretch>
                <a:fillRect l="0" t="-24397" r="0" b="-24397"/>
              </a:stretch>
            </a:blipFill>
          </p:spPr>
        </p:sp>
        <p:sp>
          <p:nvSpPr>
            <p:cNvPr name="TextBox 43" id="43"/>
            <p:cNvSpPr txBox="true"/>
            <p:nvPr/>
          </p:nvSpPr>
          <p:spPr>
            <a:xfrm>
              <a:off x="0" y="-104775"/>
              <a:ext cx="5120640" cy="1445895"/>
            </a:xfrm>
            <a:prstGeom prst="rect">
              <a:avLst/>
            </a:prstGeom>
          </p:spPr>
          <p:txBody>
            <a:bodyPr anchor="ctr" rtlCol="false" tIns="0" lIns="0" bIns="0" rIns="0"/>
            <a:lstStyle/>
            <a:p>
              <a:pPr algn="ctr">
                <a:lnSpc>
                  <a:spcPts val="6240"/>
                </a:lnSpc>
              </a:pPr>
              <a:r>
                <a:rPr lang="en-US" sz="5200" b="true">
                  <a:solidFill>
                    <a:srgbClr val="1E2761"/>
                  </a:solidFill>
                  <a:latin typeface="Calibri (MS) Bold"/>
                  <a:ea typeface="Calibri (MS) Bold"/>
                  <a:cs typeface="Calibri (MS) Bold"/>
                  <a:sym typeface="Calibri (MS) Bold"/>
                </a:rPr>
                <a:t>24.57</a:t>
              </a:r>
            </a:p>
          </p:txBody>
        </p:sp>
      </p:grpSp>
      <p:grpSp>
        <p:nvGrpSpPr>
          <p:cNvPr name="Group 44" id="44"/>
          <p:cNvGrpSpPr/>
          <p:nvPr/>
        </p:nvGrpSpPr>
        <p:grpSpPr>
          <a:xfrm rot="0">
            <a:off x="13487395" y="4236339"/>
            <a:ext cx="3840480" cy="731520"/>
            <a:chOff x="0" y="0"/>
            <a:chExt cx="5120640" cy="975360"/>
          </a:xfrm>
        </p:grpSpPr>
        <p:sp>
          <p:nvSpPr>
            <p:cNvPr name="Freeform 45" id="45"/>
            <p:cNvSpPr/>
            <p:nvPr/>
          </p:nvSpPr>
          <p:spPr>
            <a:xfrm flipH="false" flipV="false" rot="0">
              <a:off x="0" y="0"/>
              <a:ext cx="5120640" cy="975360"/>
            </a:xfrm>
            <a:custGeom>
              <a:avLst/>
              <a:gdLst/>
              <a:ahLst/>
              <a:cxnLst/>
              <a:rect r="r" b="b" t="t" l="l"/>
              <a:pathLst>
                <a:path h="975360" w="5120640">
                  <a:moveTo>
                    <a:pt x="0" y="0"/>
                  </a:moveTo>
                  <a:lnTo>
                    <a:pt x="5120640" y="0"/>
                  </a:lnTo>
                  <a:lnTo>
                    <a:pt x="5120640" y="975360"/>
                  </a:lnTo>
                  <a:lnTo>
                    <a:pt x="0" y="975360"/>
                  </a:lnTo>
                  <a:close/>
                </a:path>
              </a:pathLst>
            </a:custGeom>
            <a:blipFill>
              <a:blip r:embed="rId3">
                <a:alphaModFix amt="0"/>
              </a:blip>
              <a:stretch>
                <a:fillRect l="0" t="-52296" r="0" b="-52296"/>
              </a:stretch>
            </a:blipFill>
          </p:spPr>
        </p:sp>
        <p:sp>
          <p:nvSpPr>
            <p:cNvPr name="TextBox 46" id="46"/>
            <p:cNvSpPr txBox="true"/>
            <p:nvPr/>
          </p:nvSpPr>
          <p:spPr>
            <a:xfrm>
              <a:off x="0" y="-38100"/>
              <a:ext cx="5120640" cy="1013460"/>
            </a:xfrm>
            <a:prstGeom prst="rect">
              <a:avLst/>
            </a:prstGeom>
          </p:spPr>
          <p:txBody>
            <a:bodyPr anchor="ctr" rtlCol="false" tIns="0" lIns="0" bIns="0" rIns="0"/>
            <a:lstStyle/>
            <a:p>
              <a:pPr algn="ctr">
                <a:lnSpc>
                  <a:spcPts val="2160"/>
                </a:lnSpc>
              </a:pPr>
              <a:r>
                <a:rPr lang="en-US" sz="1800">
                  <a:solidFill>
                    <a:srgbClr val="334155"/>
                  </a:solidFill>
                  <a:latin typeface="Calibri (MS)"/>
                  <a:ea typeface="Calibri (MS)"/>
                  <a:cs typeface="Calibri (MS)"/>
                  <a:sym typeface="Calibri (MS)"/>
                </a:rPr>
                <a:t>Out-of-Sample RMSE ($)</a:t>
              </a:r>
            </a:p>
          </p:txBody>
        </p:sp>
      </p:grpSp>
      <p:grpSp>
        <p:nvGrpSpPr>
          <p:cNvPr name="Group 47" id="47"/>
          <p:cNvGrpSpPr/>
          <p:nvPr/>
        </p:nvGrpSpPr>
        <p:grpSpPr>
          <a:xfrm rot="0">
            <a:off x="895350" y="5351145"/>
            <a:ext cx="8084820" cy="3226462"/>
            <a:chOff x="0" y="0"/>
            <a:chExt cx="10779760" cy="4301950"/>
          </a:xfrm>
        </p:grpSpPr>
        <p:sp>
          <p:nvSpPr>
            <p:cNvPr name="Freeform 48" id="48"/>
            <p:cNvSpPr/>
            <p:nvPr/>
          </p:nvSpPr>
          <p:spPr>
            <a:xfrm flipH="false" flipV="false" rot="0">
              <a:off x="25400" y="28528"/>
              <a:ext cx="10728960" cy="4244895"/>
            </a:xfrm>
            <a:custGeom>
              <a:avLst/>
              <a:gdLst/>
              <a:ahLst/>
              <a:cxnLst/>
              <a:rect r="r" b="b" t="t" l="l"/>
              <a:pathLst>
                <a:path h="4244895" w="10728960">
                  <a:moveTo>
                    <a:pt x="0" y="0"/>
                  </a:moveTo>
                  <a:lnTo>
                    <a:pt x="10728960" y="0"/>
                  </a:lnTo>
                  <a:lnTo>
                    <a:pt x="10728960" y="4244894"/>
                  </a:lnTo>
                  <a:lnTo>
                    <a:pt x="0" y="4244894"/>
                  </a:lnTo>
                  <a:close/>
                </a:path>
              </a:pathLst>
            </a:custGeom>
            <a:solidFill>
              <a:srgbClr val="FFFFFF"/>
            </a:solidFill>
          </p:spPr>
        </p:sp>
        <p:sp>
          <p:nvSpPr>
            <p:cNvPr name="Freeform 49" id="49"/>
            <p:cNvSpPr/>
            <p:nvPr/>
          </p:nvSpPr>
          <p:spPr>
            <a:xfrm flipH="false" flipV="false" rot="0">
              <a:off x="0" y="0"/>
              <a:ext cx="10779760" cy="4301950"/>
            </a:xfrm>
            <a:custGeom>
              <a:avLst/>
              <a:gdLst/>
              <a:ahLst/>
              <a:cxnLst/>
              <a:rect r="r" b="b" t="t" l="l"/>
              <a:pathLst>
                <a:path h="4301950" w="10779760">
                  <a:moveTo>
                    <a:pt x="25400" y="0"/>
                  </a:moveTo>
                  <a:lnTo>
                    <a:pt x="10754360" y="0"/>
                  </a:lnTo>
                  <a:cubicBezTo>
                    <a:pt x="10768330" y="0"/>
                    <a:pt x="10779760" y="12837"/>
                    <a:pt x="10779760" y="28528"/>
                  </a:cubicBezTo>
                  <a:lnTo>
                    <a:pt x="10779760" y="4273422"/>
                  </a:lnTo>
                  <a:cubicBezTo>
                    <a:pt x="10779760" y="4289113"/>
                    <a:pt x="10768330" y="4301950"/>
                    <a:pt x="10754360" y="4301950"/>
                  </a:cubicBezTo>
                  <a:lnTo>
                    <a:pt x="25400" y="4301950"/>
                  </a:lnTo>
                  <a:cubicBezTo>
                    <a:pt x="11430" y="4301950"/>
                    <a:pt x="0" y="4289113"/>
                    <a:pt x="0" y="4273422"/>
                  </a:cubicBezTo>
                  <a:lnTo>
                    <a:pt x="0" y="28528"/>
                  </a:lnTo>
                  <a:cubicBezTo>
                    <a:pt x="0" y="12837"/>
                    <a:pt x="11430" y="0"/>
                    <a:pt x="25400" y="0"/>
                  </a:cubicBezTo>
                  <a:moveTo>
                    <a:pt x="25400" y="57055"/>
                  </a:moveTo>
                  <a:lnTo>
                    <a:pt x="25400" y="28528"/>
                  </a:lnTo>
                  <a:lnTo>
                    <a:pt x="50800" y="28528"/>
                  </a:lnTo>
                  <a:lnTo>
                    <a:pt x="50800" y="4273422"/>
                  </a:lnTo>
                  <a:lnTo>
                    <a:pt x="25400" y="4273422"/>
                  </a:lnTo>
                  <a:lnTo>
                    <a:pt x="25400" y="4244895"/>
                  </a:lnTo>
                  <a:lnTo>
                    <a:pt x="10754360" y="4244895"/>
                  </a:lnTo>
                  <a:lnTo>
                    <a:pt x="10754360" y="4273422"/>
                  </a:lnTo>
                  <a:lnTo>
                    <a:pt x="10728960" y="4273422"/>
                  </a:lnTo>
                  <a:lnTo>
                    <a:pt x="10728960" y="28528"/>
                  </a:lnTo>
                  <a:lnTo>
                    <a:pt x="10754360" y="28528"/>
                  </a:lnTo>
                  <a:lnTo>
                    <a:pt x="10754360" y="57055"/>
                  </a:lnTo>
                  <a:lnTo>
                    <a:pt x="25400" y="57055"/>
                  </a:lnTo>
                  <a:close/>
                </a:path>
              </a:pathLst>
            </a:custGeom>
            <a:solidFill>
              <a:srgbClr val="CADCFC"/>
            </a:solidFill>
          </p:spPr>
        </p:sp>
      </p:grpSp>
      <p:grpSp>
        <p:nvGrpSpPr>
          <p:cNvPr name="Group 50" id="50"/>
          <p:cNvGrpSpPr/>
          <p:nvPr/>
        </p:nvGrpSpPr>
        <p:grpSpPr>
          <a:xfrm rot="0">
            <a:off x="1188720" y="5516499"/>
            <a:ext cx="7680960" cy="512064"/>
            <a:chOff x="0" y="0"/>
            <a:chExt cx="10241280" cy="682752"/>
          </a:xfrm>
        </p:grpSpPr>
        <p:sp>
          <p:nvSpPr>
            <p:cNvPr name="Freeform 51" id="51"/>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52" id="52"/>
            <p:cNvSpPr txBox="true"/>
            <p:nvPr/>
          </p:nvSpPr>
          <p:spPr>
            <a:xfrm>
              <a:off x="0" y="-47625"/>
              <a:ext cx="1024128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30-Day Price Forecast</a:t>
              </a:r>
            </a:p>
          </p:txBody>
        </p:sp>
      </p:grpSp>
      <p:sp>
        <p:nvSpPr>
          <p:cNvPr name="TextBox 53" id="53"/>
          <p:cNvSpPr txBox="true"/>
          <p:nvPr/>
        </p:nvSpPr>
        <p:spPr>
          <a:xfrm rot="0">
            <a:off x="1280160" y="6072759"/>
            <a:ext cx="7498080" cy="2324100"/>
          </a:xfrm>
          <a:prstGeom prst="rect">
            <a:avLst/>
          </a:prstGeom>
        </p:spPr>
        <p:txBody>
          <a:bodyPr anchor="t" rtlCol="false" tIns="0" lIns="0" bIns="0" rIns="0">
            <a:spAutoFit/>
          </a:bodyPr>
          <a:lstStyle/>
          <a:p>
            <a:pPr algn="l" marL="410210" indent="-205105" lvl="1">
              <a:lnSpc>
                <a:spcPts val="2280"/>
              </a:lnSpc>
              <a:buFont typeface="Arial"/>
              <a:buChar char="•"/>
            </a:pPr>
            <a:r>
              <a:rPr lang="en-US" sz="1900">
                <a:solidFill>
                  <a:srgbClr val="334155"/>
                </a:solidFill>
                <a:latin typeface="Calibri (MS)"/>
                <a:ea typeface="Calibri (MS)"/>
                <a:cs typeface="Calibri (MS)"/>
                <a:sym typeface="Calibri (MS)"/>
              </a:rPr>
              <a:t>MSFT forecast converges toward ~$409.43 over 30 business days (May–June 2026).</a:t>
            </a:r>
          </a:p>
          <a:p>
            <a:pPr algn="l">
              <a:lnSpc>
                <a:spcPts val="2280"/>
              </a:lnSpc>
            </a:pPr>
          </a:p>
          <a:p>
            <a:pPr algn="l" marL="410210" indent="-205105" lvl="1">
              <a:lnSpc>
                <a:spcPts val="2280"/>
              </a:lnSpc>
              <a:buFont typeface="Arial"/>
              <a:buChar char="•"/>
            </a:pPr>
            <a:r>
              <a:rPr lang="en-US" sz="1900">
                <a:solidFill>
                  <a:srgbClr val="334155"/>
                </a:solidFill>
                <a:latin typeface="Calibri (MS)"/>
                <a:ea typeface="Calibri (MS)"/>
                <a:cs typeface="Calibri (MS)"/>
                <a:sym typeface="Calibri (MS)"/>
              </a:rPr>
              <a:t>95% CI widens from ±$8 on Day 1 to ±$34 by Day 30, reflecting increasing uncertainty.</a:t>
            </a:r>
          </a:p>
          <a:p>
            <a:pPr algn="l">
              <a:lnSpc>
                <a:spcPts val="2280"/>
              </a:lnSpc>
            </a:pPr>
          </a:p>
          <a:p>
            <a:pPr algn="l" marL="410210" indent="-205105" lvl="1">
              <a:lnSpc>
                <a:spcPts val="2280"/>
              </a:lnSpc>
              <a:buFont typeface="Arial"/>
              <a:buChar char="•"/>
            </a:pPr>
            <a:r>
              <a:rPr lang="en-US" sz="1900">
                <a:solidFill>
                  <a:srgbClr val="334155"/>
                </a:solidFill>
                <a:latin typeface="Calibri (MS)"/>
                <a:ea typeface="Calibri (MS)"/>
                <a:cs typeface="Calibri (MS)"/>
                <a:sym typeface="Calibri (MS)"/>
              </a:rPr>
              <a:t>Near-flat trajectory is consistent with the near-random-walk nature of daily stock prices.</a:t>
            </a:r>
          </a:p>
        </p:txBody>
      </p:sp>
      <p:grpSp>
        <p:nvGrpSpPr>
          <p:cNvPr name="Group 54" id="54"/>
          <p:cNvGrpSpPr/>
          <p:nvPr/>
        </p:nvGrpSpPr>
        <p:grpSpPr>
          <a:xfrm rot="0">
            <a:off x="9307830" y="5351145"/>
            <a:ext cx="8084820" cy="3226462"/>
            <a:chOff x="0" y="0"/>
            <a:chExt cx="10779760" cy="4301950"/>
          </a:xfrm>
        </p:grpSpPr>
        <p:sp>
          <p:nvSpPr>
            <p:cNvPr name="Freeform 55" id="55"/>
            <p:cNvSpPr/>
            <p:nvPr/>
          </p:nvSpPr>
          <p:spPr>
            <a:xfrm flipH="false" flipV="false" rot="0">
              <a:off x="25400" y="28528"/>
              <a:ext cx="10728960" cy="4244895"/>
            </a:xfrm>
            <a:custGeom>
              <a:avLst/>
              <a:gdLst/>
              <a:ahLst/>
              <a:cxnLst/>
              <a:rect r="r" b="b" t="t" l="l"/>
              <a:pathLst>
                <a:path h="4244895" w="10728960">
                  <a:moveTo>
                    <a:pt x="0" y="0"/>
                  </a:moveTo>
                  <a:lnTo>
                    <a:pt x="10728960" y="0"/>
                  </a:lnTo>
                  <a:lnTo>
                    <a:pt x="10728960" y="4244894"/>
                  </a:lnTo>
                  <a:lnTo>
                    <a:pt x="0" y="4244894"/>
                  </a:lnTo>
                  <a:close/>
                </a:path>
              </a:pathLst>
            </a:custGeom>
            <a:solidFill>
              <a:srgbClr val="FFFFFF"/>
            </a:solidFill>
          </p:spPr>
        </p:sp>
        <p:sp>
          <p:nvSpPr>
            <p:cNvPr name="Freeform 56" id="56"/>
            <p:cNvSpPr/>
            <p:nvPr/>
          </p:nvSpPr>
          <p:spPr>
            <a:xfrm flipH="false" flipV="false" rot="0">
              <a:off x="0" y="0"/>
              <a:ext cx="10779760" cy="4301950"/>
            </a:xfrm>
            <a:custGeom>
              <a:avLst/>
              <a:gdLst/>
              <a:ahLst/>
              <a:cxnLst/>
              <a:rect r="r" b="b" t="t" l="l"/>
              <a:pathLst>
                <a:path h="4301950" w="10779760">
                  <a:moveTo>
                    <a:pt x="25400" y="0"/>
                  </a:moveTo>
                  <a:lnTo>
                    <a:pt x="10754360" y="0"/>
                  </a:lnTo>
                  <a:cubicBezTo>
                    <a:pt x="10768330" y="0"/>
                    <a:pt x="10779760" y="12837"/>
                    <a:pt x="10779760" y="28528"/>
                  </a:cubicBezTo>
                  <a:lnTo>
                    <a:pt x="10779760" y="4273422"/>
                  </a:lnTo>
                  <a:cubicBezTo>
                    <a:pt x="10779760" y="4289113"/>
                    <a:pt x="10768330" y="4301950"/>
                    <a:pt x="10754360" y="4301950"/>
                  </a:cubicBezTo>
                  <a:lnTo>
                    <a:pt x="25400" y="4301950"/>
                  </a:lnTo>
                  <a:cubicBezTo>
                    <a:pt x="11430" y="4301950"/>
                    <a:pt x="0" y="4289113"/>
                    <a:pt x="0" y="4273422"/>
                  </a:cubicBezTo>
                  <a:lnTo>
                    <a:pt x="0" y="28528"/>
                  </a:lnTo>
                  <a:cubicBezTo>
                    <a:pt x="0" y="12837"/>
                    <a:pt x="11430" y="0"/>
                    <a:pt x="25400" y="0"/>
                  </a:cubicBezTo>
                  <a:moveTo>
                    <a:pt x="25400" y="57055"/>
                  </a:moveTo>
                  <a:lnTo>
                    <a:pt x="25400" y="28528"/>
                  </a:lnTo>
                  <a:lnTo>
                    <a:pt x="50800" y="28528"/>
                  </a:lnTo>
                  <a:lnTo>
                    <a:pt x="50800" y="4273422"/>
                  </a:lnTo>
                  <a:lnTo>
                    <a:pt x="25400" y="4273422"/>
                  </a:lnTo>
                  <a:lnTo>
                    <a:pt x="25400" y="4244895"/>
                  </a:lnTo>
                  <a:lnTo>
                    <a:pt x="10754360" y="4244895"/>
                  </a:lnTo>
                  <a:lnTo>
                    <a:pt x="10754360" y="4273422"/>
                  </a:lnTo>
                  <a:lnTo>
                    <a:pt x="10728960" y="4273422"/>
                  </a:lnTo>
                  <a:lnTo>
                    <a:pt x="10728960" y="28528"/>
                  </a:lnTo>
                  <a:lnTo>
                    <a:pt x="10754360" y="28528"/>
                  </a:lnTo>
                  <a:lnTo>
                    <a:pt x="10754360" y="57055"/>
                  </a:lnTo>
                  <a:lnTo>
                    <a:pt x="25400" y="57055"/>
                  </a:lnTo>
                  <a:close/>
                </a:path>
              </a:pathLst>
            </a:custGeom>
            <a:solidFill>
              <a:srgbClr val="CADCFC"/>
            </a:solidFill>
          </p:spPr>
        </p:sp>
      </p:grpSp>
      <p:grpSp>
        <p:nvGrpSpPr>
          <p:cNvPr name="Group 57" id="57"/>
          <p:cNvGrpSpPr/>
          <p:nvPr/>
        </p:nvGrpSpPr>
        <p:grpSpPr>
          <a:xfrm rot="0">
            <a:off x="9601200" y="5516499"/>
            <a:ext cx="7680960" cy="512064"/>
            <a:chOff x="0" y="0"/>
            <a:chExt cx="10241280" cy="682752"/>
          </a:xfrm>
        </p:grpSpPr>
        <p:sp>
          <p:nvSpPr>
            <p:cNvPr name="Freeform 58" id="58"/>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59" id="59"/>
            <p:cNvSpPr txBox="true"/>
            <p:nvPr/>
          </p:nvSpPr>
          <p:spPr>
            <a:xfrm>
              <a:off x="0" y="-47625"/>
              <a:ext cx="10241280" cy="730377"/>
            </a:xfrm>
            <a:prstGeom prst="rect">
              <a:avLst/>
            </a:prstGeom>
          </p:spPr>
          <p:txBody>
            <a:bodyPr anchor="ctr" rtlCol="false" tIns="0" lIns="0" bIns="0" rIns="0"/>
            <a:lstStyle/>
            <a:p>
              <a:pPr algn="ctr">
                <a:lnSpc>
                  <a:spcPts val="2999"/>
                </a:lnSpc>
              </a:pPr>
              <a:r>
                <a:rPr lang="en-US" sz="2499" b="true">
                  <a:solidFill>
                    <a:srgbClr val="10B981"/>
                  </a:solidFill>
                  <a:latin typeface="Calibri (MS) Bold"/>
                  <a:ea typeface="Calibri (MS) Bold"/>
                  <a:cs typeface="Calibri (MS) Bold"/>
                  <a:sym typeface="Calibri (MS) Bold"/>
                </a:rPr>
                <a:t>Out-of-Sample Validation (Last 30 Days)</a:t>
              </a:r>
            </a:p>
          </p:txBody>
        </p:sp>
      </p:grpSp>
      <p:sp>
        <p:nvSpPr>
          <p:cNvPr name="TextBox 60" id="60"/>
          <p:cNvSpPr txBox="true"/>
          <p:nvPr/>
        </p:nvSpPr>
        <p:spPr>
          <a:xfrm rot="0">
            <a:off x="9692640" y="6072759"/>
            <a:ext cx="7498080" cy="2038350"/>
          </a:xfrm>
          <a:prstGeom prst="rect">
            <a:avLst/>
          </a:prstGeom>
        </p:spPr>
        <p:txBody>
          <a:bodyPr anchor="t" rtlCol="false" tIns="0" lIns="0" bIns="0" rIns="0">
            <a:spAutoFit/>
          </a:bodyPr>
          <a:lstStyle/>
          <a:p>
            <a:pPr algn="l" marL="410210" indent="-205105" lvl="1">
              <a:lnSpc>
                <a:spcPts val="2280"/>
              </a:lnSpc>
              <a:buFont typeface="Arial"/>
              <a:buChar char="•"/>
            </a:pPr>
            <a:r>
              <a:rPr lang="en-US" sz="1900">
                <a:solidFill>
                  <a:srgbClr val="334155"/>
                </a:solidFill>
                <a:latin typeface="Calibri (MS)"/>
                <a:ea typeface="Calibri (MS)"/>
                <a:cs typeface="Calibri (MS)"/>
                <a:sym typeface="Calibri (MS)"/>
              </a:rPr>
              <a:t>RMSE $24.57 ≈ 6% of mean MSFT test price — reasonable short-term accuracy.</a:t>
            </a:r>
          </a:p>
          <a:p>
            <a:pPr algn="l">
              <a:lnSpc>
                <a:spcPts val="2280"/>
              </a:lnSpc>
            </a:pPr>
          </a:p>
          <a:p>
            <a:pPr algn="l" marL="410210" indent="-205105" lvl="1">
              <a:lnSpc>
                <a:spcPts val="2280"/>
              </a:lnSpc>
              <a:buFont typeface="Arial"/>
              <a:buChar char="•"/>
            </a:pPr>
            <a:r>
              <a:rPr lang="en-US" sz="1900">
                <a:solidFill>
                  <a:srgbClr val="334155"/>
                </a:solidFill>
                <a:latin typeface="Calibri (MS)"/>
                <a:ea typeface="Calibri (MS)"/>
                <a:cs typeface="Calibri (MS)"/>
                <a:sym typeface="Calibri (MS)"/>
              </a:rPr>
              <a:t>RMSE slightly &gt; MAE confirms a few larger errors, consistent with high-volatility episodes in the test period.</a:t>
            </a:r>
          </a:p>
          <a:p>
            <a:pPr algn="l">
              <a:lnSpc>
                <a:spcPts val="2280"/>
              </a:lnSpc>
            </a:pPr>
          </a:p>
          <a:p>
            <a:pPr algn="l" marL="410210" indent="-205105" lvl="1">
              <a:lnSpc>
                <a:spcPts val="2280"/>
              </a:lnSpc>
              <a:buFont typeface="Arial"/>
              <a:buChar char="•"/>
            </a:pPr>
            <a:r>
              <a:rPr lang="en-US" sz="1900">
                <a:solidFill>
                  <a:srgbClr val="334155"/>
                </a:solidFill>
                <a:latin typeface="Calibri (MS)"/>
                <a:ea typeface="Calibri (MS)"/>
                <a:cs typeface="Calibri (MS)"/>
                <a:sym typeface="Calibri (MS)"/>
              </a:rPr>
              <a:t>Provides benchmark for comparison with VECM in Task 2.</a:t>
            </a:r>
          </a:p>
        </p:txBody>
      </p:sp>
      <p:grpSp>
        <p:nvGrpSpPr>
          <p:cNvPr name="Group 61" id="61"/>
          <p:cNvGrpSpPr/>
          <p:nvPr/>
        </p:nvGrpSpPr>
        <p:grpSpPr>
          <a:xfrm rot="0">
            <a:off x="895350" y="289055"/>
            <a:ext cx="1031243" cy="1031243"/>
            <a:chOff x="0" y="0"/>
            <a:chExt cx="1374991" cy="1374991"/>
          </a:xfrm>
        </p:grpSpPr>
        <p:sp>
          <p:nvSpPr>
            <p:cNvPr name="Freeform 62" id="62"/>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63" id="63"/>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64" id="64"/>
          <p:cNvGrpSpPr/>
          <p:nvPr/>
        </p:nvGrpSpPr>
        <p:grpSpPr>
          <a:xfrm rot="0">
            <a:off x="908047" y="301752"/>
            <a:ext cx="1005840" cy="1005840"/>
            <a:chOff x="0" y="0"/>
            <a:chExt cx="1341120" cy="1341120"/>
          </a:xfrm>
        </p:grpSpPr>
        <p:sp>
          <p:nvSpPr>
            <p:cNvPr name="Freeform 65" id="6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66" id="6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02</a:t>
              </a:r>
            </a:p>
          </p:txBody>
        </p:sp>
      </p:grpSp>
      <p:sp>
        <p:nvSpPr>
          <p:cNvPr name="AutoShape 67" id="67"/>
          <p:cNvSpPr/>
          <p:nvPr/>
        </p:nvSpPr>
        <p:spPr>
          <a:xfrm flipV="true">
            <a:off x="1014412" y="5351145"/>
            <a:ext cx="14288" cy="3226462"/>
          </a:xfrm>
          <a:prstGeom prst="line">
            <a:avLst/>
          </a:prstGeom>
          <a:ln cap="flat" w="238125">
            <a:solidFill>
              <a:srgbClr val="000000"/>
            </a:solidFill>
            <a:prstDash val="solid"/>
            <a:headEnd type="none" len="sm" w="sm"/>
            <a:tailEnd type="none" len="sm" w="sm"/>
          </a:ln>
        </p:spPr>
      </p:sp>
      <p:sp>
        <p:nvSpPr>
          <p:cNvPr name="AutoShape 68" id="68"/>
          <p:cNvSpPr/>
          <p:nvPr/>
        </p:nvSpPr>
        <p:spPr>
          <a:xfrm flipH="true" flipV="true">
            <a:off x="9426890" y="5322080"/>
            <a:ext cx="0" cy="3254734"/>
          </a:xfrm>
          <a:prstGeom prst="line">
            <a:avLst/>
          </a:prstGeom>
          <a:ln cap="flat" w="238125">
            <a:solidFill>
              <a:srgbClr val="00BF63"/>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348227"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360924"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1 · ARIMA</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Forecasting &amp; Out-of-Sample Validation</a:t>
              </a:r>
            </a:p>
          </p:txBody>
        </p:sp>
      </p:grpSp>
      <p:grpSp>
        <p:nvGrpSpPr>
          <p:cNvPr name="Group 11" id="11"/>
          <p:cNvGrpSpPr/>
          <p:nvPr/>
        </p:nvGrpSpPr>
        <p:grpSpPr>
          <a:xfrm rot="0">
            <a:off x="895350" y="3011805"/>
            <a:ext cx="8084820" cy="793828"/>
            <a:chOff x="0" y="0"/>
            <a:chExt cx="10779760" cy="1058437"/>
          </a:xfrm>
        </p:grpSpPr>
        <p:sp>
          <p:nvSpPr>
            <p:cNvPr name="Freeform 12" id="12"/>
            <p:cNvSpPr/>
            <p:nvPr/>
          </p:nvSpPr>
          <p:spPr>
            <a:xfrm flipH="false" flipV="false" rot="0">
              <a:off x="25400" y="7019"/>
              <a:ext cx="10728960" cy="1044400"/>
            </a:xfrm>
            <a:custGeom>
              <a:avLst/>
              <a:gdLst/>
              <a:ahLst/>
              <a:cxnLst/>
              <a:rect r="r" b="b" t="t" l="l"/>
              <a:pathLst>
                <a:path h="1044400" w="10728960">
                  <a:moveTo>
                    <a:pt x="0" y="0"/>
                  </a:moveTo>
                  <a:lnTo>
                    <a:pt x="10728960" y="0"/>
                  </a:lnTo>
                  <a:lnTo>
                    <a:pt x="10728960" y="1044400"/>
                  </a:lnTo>
                  <a:lnTo>
                    <a:pt x="0" y="1044400"/>
                  </a:lnTo>
                  <a:close/>
                </a:path>
              </a:pathLst>
            </a:custGeom>
            <a:solidFill>
              <a:srgbClr val="FFFFFF"/>
            </a:solidFill>
          </p:spPr>
        </p:sp>
        <p:sp>
          <p:nvSpPr>
            <p:cNvPr name="Freeform 13" id="13"/>
            <p:cNvSpPr/>
            <p:nvPr/>
          </p:nvSpPr>
          <p:spPr>
            <a:xfrm flipH="false" flipV="false" rot="0">
              <a:off x="0" y="0"/>
              <a:ext cx="10779760" cy="1058437"/>
            </a:xfrm>
            <a:custGeom>
              <a:avLst/>
              <a:gdLst/>
              <a:ahLst/>
              <a:cxnLst/>
              <a:rect r="r" b="b" t="t" l="l"/>
              <a:pathLst>
                <a:path h="1058437" w="10779760">
                  <a:moveTo>
                    <a:pt x="25400" y="0"/>
                  </a:moveTo>
                  <a:lnTo>
                    <a:pt x="10754360" y="0"/>
                  </a:lnTo>
                  <a:cubicBezTo>
                    <a:pt x="10768330" y="0"/>
                    <a:pt x="10779760" y="3158"/>
                    <a:pt x="10779760" y="7019"/>
                  </a:cubicBezTo>
                  <a:lnTo>
                    <a:pt x="10779760" y="1051419"/>
                  </a:lnTo>
                  <a:cubicBezTo>
                    <a:pt x="10779760" y="1055279"/>
                    <a:pt x="10768330" y="1058437"/>
                    <a:pt x="10754360" y="1058437"/>
                  </a:cubicBezTo>
                  <a:lnTo>
                    <a:pt x="25400" y="1058437"/>
                  </a:lnTo>
                  <a:cubicBezTo>
                    <a:pt x="11430" y="1058437"/>
                    <a:pt x="0" y="1055279"/>
                    <a:pt x="0" y="1051419"/>
                  </a:cubicBezTo>
                  <a:lnTo>
                    <a:pt x="0" y="7019"/>
                  </a:lnTo>
                  <a:cubicBezTo>
                    <a:pt x="0" y="3158"/>
                    <a:pt x="11430" y="0"/>
                    <a:pt x="25400" y="0"/>
                  </a:cubicBezTo>
                  <a:moveTo>
                    <a:pt x="25400" y="14038"/>
                  </a:moveTo>
                  <a:lnTo>
                    <a:pt x="25400" y="7019"/>
                  </a:lnTo>
                  <a:lnTo>
                    <a:pt x="50800" y="7019"/>
                  </a:lnTo>
                  <a:lnTo>
                    <a:pt x="50800" y="1051419"/>
                  </a:lnTo>
                  <a:lnTo>
                    <a:pt x="25400" y="1051419"/>
                  </a:lnTo>
                  <a:lnTo>
                    <a:pt x="25400" y="1044400"/>
                  </a:lnTo>
                  <a:lnTo>
                    <a:pt x="10754360" y="1044400"/>
                  </a:lnTo>
                  <a:lnTo>
                    <a:pt x="10754360" y="1051419"/>
                  </a:lnTo>
                  <a:lnTo>
                    <a:pt x="10728960" y="1051419"/>
                  </a:lnTo>
                  <a:lnTo>
                    <a:pt x="10728960" y="7019"/>
                  </a:lnTo>
                  <a:lnTo>
                    <a:pt x="10754360" y="7019"/>
                  </a:lnTo>
                  <a:lnTo>
                    <a:pt x="10754360" y="14038"/>
                  </a:lnTo>
                  <a:lnTo>
                    <a:pt x="25400" y="14038"/>
                  </a:lnTo>
                  <a:close/>
                </a:path>
              </a:pathLst>
            </a:custGeom>
            <a:solidFill>
              <a:srgbClr val="CADCFC"/>
            </a:solidFill>
          </p:spPr>
        </p:sp>
      </p:grpSp>
      <p:grpSp>
        <p:nvGrpSpPr>
          <p:cNvPr name="Group 14" id="14"/>
          <p:cNvGrpSpPr/>
          <p:nvPr/>
        </p:nvGrpSpPr>
        <p:grpSpPr>
          <a:xfrm rot="0">
            <a:off x="1188720" y="3177159"/>
            <a:ext cx="7680960" cy="512064"/>
            <a:chOff x="0" y="0"/>
            <a:chExt cx="10241280" cy="682752"/>
          </a:xfrm>
        </p:grpSpPr>
        <p:sp>
          <p:nvSpPr>
            <p:cNvPr name="Freeform 15" id="15"/>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16" id="16"/>
            <p:cNvSpPr txBox="true"/>
            <p:nvPr/>
          </p:nvSpPr>
          <p:spPr>
            <a:xfrm>
              <a:off x="0" y="-47625"/>
              <a:ext cx="1024128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30-Day Price Forecast</a:t>
              </a:r>
            </a:p>
          </p:txBody>
        </p:sp>
      </p:grpSp>
      <p:grpSp>
        <p:nvGrpSpPr>
          <p:cNvPr name="Group 17" id="17"/>
          <p:cNvGrpSpPr/>
          <p:nvPr/>
        </p:nvGrpSpPr>
        <p:grpSpPr>
          <a:xfrm rot="0">
            <a:off x="9307830" y="3011805"/>
            <a:ext cx="8084820" cy="793828"/>
            <a:chOff x="0" y="0"/>
            <a:chExt cx="10779760" cy="1058437"/>
          </a:xfrm>
        </p:grpSpPr>
        <p:sp>
          <p:nvSpPr>
            <p:cNvPr name="Freeform 18" id="18"/>
            <p:cNvSpPr/>
            <p:nvPr/>
          </p:nvSpPr>
          <p:spPr>
            <a:xfrm flipH="false" flipV="false" rot="0">
              <a:off x="25400" y="7019"/>
              <a:ext cx="10728960" cy="1044400"/>
            </a:xfrm>
            <a:custGeom>
              <a:avLst/>
              <a:gdLst/>
              <a:ahLst/>
              <a:cxnLst/>
              <a:rect r="r" b="b" t="t" l="l"/>
              <a:pathLst>
                <a:path h="1044400" w="10728960">
                  <a:moveTo>
                    <a:pt x="0" y="0"/>
                  </a:moveTo>
                  <a:lnTo>
                    <a:pt x="10728960" y="0"/>
                  </a:lnTo>
                  <a:lnTo>
                    <a:pt x="10728960" y="1044400"/>
                  </a:lnTo>
                  <a:lnTo>
                    <a:pt x="0" y="1044400"/>
                  </a:lnTo>
                  <a:close/>
                </a:path>
              </a:pathLst>
            </a:custGeom>
            <a:solidFill>
              <a:srgbClr val="FFFFFF"/>
            </a:solidFill>
          </p:spPr>
        </p:sp>
        <p:sp>
          <p:nvSpPr>
            <p:cNvPr name="Freeform 19" id="19"/>
            <p:cNvSpPr/>
            <p:nvPr/>
          </p:nvSpPr>
          <p:spPr>
            <a:xfrm flipH="false" flipV="false" rot="0">
              <a:off x="0" y="0"/>
              <a:ext cx="10779760" cy="1058437"/>
            </a:xfrm>
            <a:custGeom>
              <a:avLst/>
              <a:gdLst/>
              <a:ahLst/>
              <a:cxnLst/>
              <a:rect r="r" b="b" t="t" l="l"/>
              <a:pathLst>
                <a:path h="1058437" w="10779760">
                  <a:moveTo>
                    <a:pt x="25400" y="0"/>
                  </a:moveTo>
                  <a:lnTo>
                    <a:pt x="10754360" y="0"/>
                  </a:lnTo>
                  <a:cubicBezTo>
                    <a:pt x="10768330" y="0"/>
                    <a:pt x="10779760" y="3158"/>
                    <a:pt x="10779760" y="7019"/>
                  </a:cubicBezTo>
                  <a:lnTo>
                    <a:pt x="10779760" y="1051419"/>
                  </a:lnTo>
                  <a:cubicBezTo>
                    <a:pt x="10779760" y="1055279"/>
                    <a:pt x="10768330" y="1058437"/>
                    <a:pt x="10754360" y="1058437"/>
                  </a:cubicBezTo>
                  <a:lnTo>
                    <a:pt x="25400" y="1058437"/>
                  </a:lnTo>
                  <a:cubicBezTo>
                    <a:pt x="11430" y="1058437"/>
                    <a:pt x="0" y="1055279"/>
                    <a:pt x="0" y="1051419"/>
                  </a:cubicBezTo>
                  <a:lnTo>
                    <a:pt x="0" y="7019"/>
                  </a:lnTo>
                  <a:cubicBezTo>
                    <a:pt x="0" y="3158"/>
                    <a:pt x="11430" y="0"/>
                    <a:pt x="25400" y="0"/>
                  </a:cubicBezTo>
                  <a:moveTo>
                    <a:pt x="25400" y="14038"/>
                  </a:moveTo>
                  <a:lnTo>
                    <a:pt x="25400" y="7019"/>
                  </a:lnTo>
                  <a:lnTo>
                    <a:pt x="50800" y="7019"/>
                  </a:lnTo>
                  <a:lnTo>
                    <a:pt x="50800" y="1051419"/>
                  </a:lnTo>
                  <a:lnTo>
                    <a:pt x="25400" y="1051419"/>
                  </a:lnTo>
                  <a:lnTo>
                    <a:pt x="25400" y="1044400"/>
                  </a:lnTo>
                  <a:lnTo>
                    <a:pt x="10754360" y="1044400"/>
                  </a:lnTo>
                  <a:lnTo>
                    <a:pt x="10754360" y="1051419"/>
                  </a:lnTo>
                  <a:lnTo>
                    <a:pt x="10728960" y="1051419"/>
                  </a:lnTo>
                  <a:lnTo>
                    <a:pt x="10728960" y="7019"/>
                  </a:lnTo>
                  <a:lnTo>
                    <a:pt x="10754360" y="7019"/>
                  </a:lnTo>
                  <a:lnTo>
                    <a:pt x="10754360" y="14038"/>
                  </a:lnTo>
                  <a:lnTo>
                    <a:pt x="25400" y="14038"/>
                  </a:lnTo>
                  <a:close/>
                </a:path>
              </a:pathLst>
            </a:custGeom>
            <a:solidFill>
              <a:srgbClr val="CADCFC"/>
            </a:solidFill>
          </p:spPr>
        </p:sp>
      </p:grpSp>
      <p:grpSp>
        <p:nvGrpSpPr>
          <p:cNvPr name="Group 20" id="20"/>
          <p:cNvGrpSpPr/>
          <p:nvPr/>
        </p:nvGrpSpPr>
        <p:grpSpPr>
          <a:xfrm rot="0">
            <a:off x="9509760" y="3177159"/>
            <a:ext cx="7680960" cy="512064"/>
            <a:chOff x="0" y="0"/>
            <a:chExt cx="10241280" cy="682752"/>
          </a:xfrm>
        </p:grpSpPr>
        <p:sp>
          <p:nvSpPr>
            <p:cNvPr name="Freeform 21" id="21"/>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22" id="22"/>
            <p:cNvSpPr txBox="true"/>
            <p:nvPr/>
          </p:nvSpPr>
          <p:spPr>
            <a:xfrm>
              <a:off x="0" y="-47625"/>
              <a:ext cx="10241280" cy="730377"/>
            </a:xfrm>
            <a:prstGeom prst="rect">
              <a:avLst/>
            </a:prstGeom>
          </p:spPr>
          <p:txBody>
            <a:bodyPr anchor="ctr" rtlCol="false" tIns="0" lIns="0" bIns="0" rIns="0"/>
            <a:lstStyle/>
            <a:p>
              <a:pPr algn="ctr">
                <a:lnSpc>
                  <a:spcPts val="2999"/>
                </a:lnSpc>
              </a:pPr>
              <a:r>
                <a:rPr lang="en-US" sz="2499" b="true">
                  <a:solidFill>
                    <a:srgbClr val="10B981"/>
                  </a:solidFill>
                  <a:latin typeface="Calibri (MS) Bold"/>
                  <a:ea typeface="Calibri (MS) Bold"/>
                  <a:cs typeface="Calibri (MS) Bold"/>
                  <a:sym typeface="Calibri (MS) Bold"/>
                </a:rPr>
                <a:t>Out-of-Sample Validation (Last 30 Days)</a:t>
              </a:r>
            </a:p>
          </p:txBody>
        </p:sp>
      </p:grpSp>
      <p:grpSp>
        <p:nvGrpSpPr>
          <p:cNvPr name="Group 23" id="23"/>
          <p:cNvGrpSpPr/>
          <p:nvPr/>
        </p:nvGrpSpPr>
        <p:grpSpPr>
          <a:xfrm rot="0">
            <a:off x="895350" y="289055"/>
            <a:ext cx="1031243" cy="1031243"/>
            <a:chOff x="0" y="0"/>
            <a:chExt cx="1374991" cy="1374991"/>
          </a:xfrm>
        </p:grpSpPr>
        <p:sp>
          <p:nvSpPr>
            <p:cNvPr name="Freeform 24" id="24"/>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25" id="25"/>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26" id="26"/>
          <p:cNvGrpSpPr/>
          <p:nvPr/>
        </p:nvGrpSpPr>
        <p:grpSpPr>
          <a:xfrm rot="0">
            <a:off x="908047" y="301752"/>
            <a:ext cx="1005840" cy="1005840"/>
            <a:chOff x="0" y="0"/>
            <a:chExt cx="1341120" cy="1341120"/>
          </a:xfrm>
        </p:grpSpPr>
        <p:sp>
          <p:nvSpPr>
            <p:cNvPr name="Freeform 27" id="27"/>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28" id="28"/>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02</a:t>
              </a:r>
            </a:p>
          </p:txBody>
        </p:sp>
      </p:grpSp>
      <p:sp>
        <p:nvSpPr>
          <p:cNvPr name="AutoShape 29" id="29"/>
          <p:cNvSpPr/>
          <p:nvPr/>
        </p:nvSpPr>
        <p:spPr>
          <a:xfrm flipV="true">
            <a:off x="1028700" y="3011805"/>
            <a:ext cx="0" cy="793828"/>
          </a:xfrm>
          <a:prstGeom prst="line">
            <a:avLst/>
          </a:prstGeom>
          <a:ln cap="flat" w="238125">
            <a:solidFill>
              <a:srgbClr val="000000"/>
            </a:solidFill>
            <a:prstDash val="solid"/>
            <a:headEnd type="none" len="sm" w="sm"/>
            <a:tailEnd type="none" len="sm" w="sm"/>
          </a:ln>
        </p:spPr>
      </p:sp>
      <p:sp>
        <p:nvSpPr>
          <p:cNvPr name="AutoShape 30" id="30"/>
          <p:cNvSpPr/>
          <p:nvPr/>
        </p:nvSpPr>
        <p:spPr>
          <a:xfrm flipV="true">
            <a:off x="9426892" y="3011805"/>
            <a:ext cx="0" cy="793828"/>
          </a:xfrm>
          <a:prstGeom prst="line">
            <a:avLst/>
          </a:prstGeom>
          <a:ln cap="flat" w="238125">
            <a:solidFill>
              <a:srgbClr val="00BF63"/>
            </a:solidFill>
            <a:prstDash val="solid"/>
            <a:headEnd type="none" len="sm" w="sm"/>
            <a:tailEnd type="none" len="sm" w="sm"/>
          </a:ln>
        </p:spPr>
      </p:sp>
      <p:sp>
        <p:nvSpPr>
          <p:cNvPr name="Freeform 31" id="31"/>
          <p:cNvSpPr/>
          <p:nvPr/>
        </p:nvSpPr>
        <p:spPr>
          <a:xfrm flipH="false" flipV="false" rot="0">
            <a:off x="895350" y="4301620"/>
            <a:ext cx="8084820" cy="4007380"/>
          </a:xfrm>
          <a:custGeom>
            <a:avLst/>
            <a:gdLst/>
            <a:ahLst/>
            <a:cxnLst/>
            <a:rect r="r" b="b" t="t" l="l"/>
            <a:pathLst>
              <a:path h="4007380" w="8084820">
                <a:moveTo>
                  <a:pt x="0" y="0"/>
                </a:moveTo>
                <a:lnTo>
                  <a:pt x="8084820" y="0"/>
                </a:lnTo>
                <a:lnTo>
                  <a:pt x="8084820" y="4007381"/>
                </a:lnTo>
                <a:lnTo>
                  <a:pt x="0" y="4007381"/>
                </a:lnTo>
                <a:lnTo>
                  <a:pt x="0" y="0"/>
                </a:lnTo>
                <a:close/>
              </a:path>
            </a:pathLst>
          </a:custGeom>
          <a:blipFill>
            <a:blip r:embed="rId4"/>
            <a:stretch>
              <a:fillRect l="0" t="0" r="0" b="0"/>
            </a:stretch>
          </a:blipFill>
          <a:ln w="38100" cap="sq">
            <a:solidFill>
              <a:srgbClr val="000000"/>
            </a:solidFill>
            <a:prstDash val="solid"/>
            <a:miter/>
          </a:ln>
        </p:spPr>
      </p:sp>
      <p:sp>
        <p:nvSpPr>
          <p:cNvPr name="Freeform 32" id="32"/>
          <p:cNvSpPr/>
          <p:nvPr/>
        </p:nvSpPr>
        <p:spPr>
          <a:xfrm flipH="false" flipV="false" rot="0">
            <a:off x="9307830" y="4301620"/>
            <a:ext cx="8084820" cy="3995731"/>
          </a:xfrm>
          <a:custGeom>
            <a:avLst/>
            <a:gdLst/>
            <a:ahLst/>
            <a:cxnLst/>
            <a:rect r="r" b="b" t="t" l="l"/>
            <a:pathLst>
              <a:path h="3995731" w="8084820">
                <a:moveTo>
                  <a:pt x="0" y="0"/>
                </a:moveTo>
                <a:lnTo>
                  <a:pt x="8084820" y="0"/>
                </a:lnTo>
                <a:lnTo>
                  <a:pt x="8084820" y="3995731"/>
                </a:lnTo>
                <a:lnTo>
                  <a:pt x="0" y="3995731"/>
                </a:lnTo>
                <a:lnTo>
                  <a:pt x="0" y="0"/>
                </a:lnTo>
                <a:close/>
              </a:path>
            </a:pathLst>
          </a:custGeom>
          <a:blipFill>
            <a:blip r:embed="rId5"/>
            <a:stretch>
              <a:fillRect l="0" t="0" r="0" b="0"/>
            </a:stretch>
          </a:blipFill>
          <a:ln w="38100" cap="sq">
            <a:solidFill>
              <a:srgbClr val="000000"/>
            </a:solidFill>
            <a:prstDash val="solid"/>
            <a:miter/>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73932"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286629"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2 · VECM</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Stationarity Testing</a:t>
              </a:r>
            </a:p>
          </p:txBody>
        </p:sp>
      </p:grpSp>
      <p:grpSp>
        <p:nvGrpSpPr>
          <p:cNvPr name="Group 11" id="11"/>
          <p:cNvGrpSpPr/>
          <p:nvPr/>
        </p:nvGrpSpPr>
        <p:grpSpPr>
          <a:xfrm rot="0">
            <a:off x="901703" y="2547083"/>
            <a:ext cx="8072123" cy="2727004"/>
            <a:chOff x="0" y="0"/>
            <a:chExt cx="10762831" cy="3636006"/>
          </a:xfrm>
        </p:grpSpPr>
        <p:sp>
          <p:nvSpPr>
            <p:cNvPr name="Freeform 12" id="12"/>
            <p:cNvSpPr/>
            <p:nvPr/>
          </p:nvSpPr>
          <p:spPr>
            <a:xfrm flipH="false" flipV="false" rot="0">
              <a:off x="16891" y="10885"/>
              <a:ext cx="10728960" cy="3614178"/>
            </a:xfrm>
            <a:custGeom>
              <a:avLst/>
              <a:gdLst/>
              <a:ahLst/>
              <a:cxnLst/>
              <a:rect r="r" b="b" t="t" l="l"/>
              <a:pathLst>
                <a:path h="3614178" w="10728960">
                  <a:moveTo>
                    <a:pt x="0" y="0"/>
                  </a:moveTo>
                  <a:lnTo>
                    <a:pt x="10728960" y="0"/>
                  </a:lnTo>
                  <a:lnTo>
                    <a:pt x="10728960" y="3614178"/>
                  </a:lnTo>
                  <a:lnTo>
                    <a:pt x="0" y="3614178"/>
                  </a:lnTo>
                  <a:close/>
                </a:path>
              </a:pathLst>
            </a:custGeom>
            <a:solidFill>
              <a:srgbClr val="E8F0FE"/>
            </a:solidFill>
          </p:spPr>
        </p:sp>
        <p:sp>
          <p:nvSpPr>
            <p:cNvPr name="Freeform 13" id="13"/>
            <p:cNvSpPr/>
            <p:nvPr/>
          </p:nvSpPr>
          <p:spPr>
            <a:xfrm flipH="false" flipV="false" rot="0">
              <a:off x="0" y="0"/>
              <a:ext cx="10762742" cy="3635949"/>
            </a:xfrm>
            <a:custGeom>
              <a:avLst/>
              <a:gdLst/>
              <a:ahLst/>
              <a:cxnLst/>
              <a:rect r="r" b="b" t="t" l="l"/>
              <a:pathLst>
                <a:path h="3635949" w="10762742">
                  <a:moveTo>
                    <a:pt x="16891" y="0"/>
                  </a:moveTo>
                  <a:lnTo>
                    <a:pt x="10745851" y="0"/>
                  </a:lnTo>
                  <a:cubicBezTo>
                    <a:pt x="10755249" y="0"/>
                    <a:pt x="10762742" y="4911"/>
                    <a:pt x="10762742" y="10885"/>
                  </a:cubicBezTo>
                  <a:lnTo>
                    <a:pt x="10762742" y="3625063"/>
                  </a:lnTo>
                  <a:cubicBezTo>
                    <a:pt x="10762742" y="3631120"/>
                    <a:pt x="10755122" y="3635949"/>
                    <a:pt x="10745851" y="3635949"/>
                  </a:cubicBezTo>
                  <a:lnTo>
                    <a:pt x="16891" y="3635949"/>
                  </a:lnTo>
                  <a:cubicBezTo>
                    <a:pt x="7493" y="3635949"/>
                    <a:pt x="0" y="3631038"/>
                    <a:pt x="0" y="3625063"/>
                  </a:cubicBezTo>
                  <a:lnTo>
                    <a:pt x="0" y="10885"/>
                  </a:lnTo>
                  <a:cubicBezTo>
                    <a:pt x="0" y="4911"/>
                    <a:pt x="7620" y="0"/>
                    <a:pt x="16891" y="0"/>
                  </a:cubicBezTo>
                  <a:moveTo>
                    <a:pt x="16891" y="21852"/>
                  </a:moveTo>
                  <a:lnTo>
                    <a:pt x="16891" y="10885"/>
                  </a:lnTo>
                  <a:lnTo>
                    <a:pt x="33909" y="10885"/>
                  </a:lnTo>
                  <a:lnTo>
                    <a:pt x="33909" y="3625063"/>
                  </a:lnTo>
                  <a:lnTo>
                    <a:pt x="16891" y="3625063"/>
                  </a:lnTo>
                  <a:lnTo>
                    <a:pt x="16891" y="3614178"/>
                  </a:lnTo>
                  <a:lnTo>
                    <a:pt x="10745851" y="3614178"/>
                  </a:lnTo>
                  <a:lnTo>
                    <a:pt x="10745851" y="3625063"/>
                  </a:lnTo>
                  <a:lnTo>
                    <a:pt x="10728960" y="3625063"/>
                  </a:lnTo>
                  <a:lnTo>
                    <a:pt x="10728960" y="10885"/>
                  </a:lnTo>
                  <a:lnTo>
                    <a:pt x="10745851" y="10885"/>
                  </a:lnTo>
                  <a:lnTo>
                    <a:pt x="10745851" y="21852"/>
                  </a:lnTo>
                  <a:lnTo>
                    <a:pt x="16891" y="21852"/>
                  </a:lnTo>
                  <a:close/>
                </a:path>
              </a:pathLst>
            </a:custGeom>
            <a:solidFill>
              <a:srgbClr val="CADCFC"/>
            </a:solidFill>
          </p:spPr>
        </p:sp>
      </p:grpSp>
      <p:grpSp>
        <p:nvGrpSpPr>
          <p:cNvPr name="Group 14" id="14"/>
          <p:cNvGrpSpPr/>
          <p:nvPr/>
        </p:nvGrpSpPr>
        <p:grpSpPr>
          <a:xfrm rot="0">
            <a:off x="1179195" y="2668746"/>
            <a:ext cx="7498080" cy="512064"/>
            <a:chOff x="0" y="0"/>
            <a:chExt cx="9997440" cy="682752"/>
          </a:xfrm>
        </p:grpSpPr>
        <p:sp>
          <p:nvSpPr>
            <p:cNvPr name="Freeform 15" id="15"/>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16" id="16"/>
            <p:cNvSpPr txBox="true"/>
            <p:nvPr/>
          </p:nvSpPr>
          <p:spPr>
            <a:xfrm>
              <a:off x="0" y="-47625"/>
              <a:ext cx="9997440" cy="730377"/>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Stationarity — All Three Variables</a:t>
              </a:r>
            </a:p>
          </p:txBody>
        </p:sp>
      </p:grpSp>
      <p:graphicFrame>
        <p:nvGraphicFramePr>
          <p:cNvPr name="Table 17" id="17"/>
          <p:cNvGraphicFramePr>
            <a:graphicFrameLocks noGrp="true"/>
          </p:cNvGraphicFramePr>
          <p:nvPr/>
        </p:nvGraphicFramePr>
        <p:xfrm>
          <a:off x="996315" y="3072225"/>
          <a:ext cx="7848600" cy="2292350"/>
        </p:xfrm>
        <a:graphic>
          <a:graphicData uri="http://schemas.openxmlformats.org/drawingml/2006/table">
            <a:tbl>
              <a:tblPr/>
              <a:tblGrid>
                <a:gridCol w="2736716"/>
                <a:gridCol w="2736716"/>
                <a:gridCol w="2375168"/>
              </a:tblGrid>
              <a:tr h="573087">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Variable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ADF p-value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V</a:t>
                      </a:r>
                      <a:r>
                        <a:rPr lang="en-US" sz="1900" b="true">
                          <a:solidFill>
                            <a:srgbClr val="FFFFFF"/>
                          </a:solidFill>
                          <a:latin typeface="Calibri (MS) Bold"/>
                          <a:ea typeface="Calibri (MS) Bold"/>
                          <a:cs typeface="Calibri (MS) Bold"/>
                          <a:sym typeface="Calibri (MS) Bold"/>
                        </a:rPr>
                        <a:t>erdict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573087">
                <a:tc>
                  <a:txBody>
                    <a:bodyPr anchor="t" rtlCol="false"/>
                    <a:lstStyle/>
                    <a:p>
                      <a:pPr algn="ctr">
                        <a:lnSpc>
                          <a:spcPts val="2659"/>
                        </a:lnSpc>
                        <a:defRPr/>
                      </a:pPr>
                      <a:r>
                        <a:rPr lang="en-US" sz="1899">
                          <a:solidFill>
                            <a:srgbClr val="000000"/>
                          </a:solidFill>
                          <a:latin typeface="Calibri (MS)"/>
                          <a:ea typeface="Calibri (MS)"/>
                          <a:cs typeface="Calibri (MS)"/>
                          <a:sym typeface="Calibri (MS)"/>
                        </a:rPr>
                        <a:t>MSFT (Level)</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p = 0.869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659"/>
                        </a:lnSpc>
                        <a:defRPr/>
                      </a:pPr>
                      <a:r>
                        <a:rPr lang="en-US" sz="1899" b="true">
                          <a:solidFill>
                            <a:srgbClr val="EF4444"/>
                          </a:solidFill>
                          <a:latin typeface="Calibri (MS) Bold"/>
                          <a:ea typeface="Calibri (MS) Bold"/>
                          <a:cs typeface="Calibri (MS) Bold"/>
                          <a:sym typeface="Calibri (MS) Bold"/>
                        </a:rPr>
                        <a:t>Non-Stationary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3087">
                <a:tc>
                  <a:txBody>
                    <a:bodyPr anchor="t" rtlCol="false"/>
                    <a:lstStyle/>
                    <a:p>
                      <a:pPr algn="ctr">
                        <a:lnSpc>
                          <a:spcPts val="2280"/>
                        </a:lnSpc>
                        <a:defRPr/>
                      </a:pPr>
                      <a:r>
                        <a:rPr lang="en-US" sz="1900">
                          <a:solidFill>
                            <a:srgbClr val="000000"/>
                          </a:solidFill>
                          <a:latin typeface="Calibri (MS)"/>
                          <a:ea typeface="Calibri (MS)"/>
                          <a:cs typeface="Calibri (MS)"/>
                          <a:sym typeface="Calibri (MS)"/>
                        </a:rPr>
                        <a:t>SP500 (Level)</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p = 0.996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FF3131"/>
                          </a:solidFill>
                          <a:latin typeface="Calibri (MS) Bold"/>
                          <a:ea typeface="Calibri (MS) Bold"/>
                          <a:cs typeface="Calibri (MS) Bold"/>
                          <a:sym typeface="Calibri (MS) Bold"/>
                        </a:rPr>
                        <a:t>Non-Stationary</a:t>
                      </a:r>
                      <a:r>
                        <a:rPr lang="en-US" sz="1900" b="true">
                          <a:solidFill>
                            <a:srgbClr val="FF3131"/>
                          </a:solidFill>
                          <a:latin typeface="Calibri (MS) Bold"/>
                          <a:ea typeface="Calibri (MS) Bold"/>
                          <a:cs typeface="Calibri (MS) Bold"/>
                          <a:sym typeface="Calibri (MS) Bold"/>
                        </a:rPr>
                        <a:t>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3088">
                <a:tc>
                  <a:txBody>
                    <a:bodyPr anchor="t" rtlCol="false"/>
                    <a:lstStyle/>
                    <a:p>
                      <a:pPr algn="ctr">
                        <a:lnSpc>
                          <a:spcPts val="2280"/>
                        </a:lnSpc>
                        <a:defRPr/>
                      </a:pPr>
                      <a:r>
                        <a:rPr lang="en-US" sz="1900">
                          <a:solidFill>
                            <a:srgbClr val="000000"/>
                          </a:solidFill>
                          <a:latin typeface="Calibri (MS)"/>
                          <a:ea typeface="Calibri (MS)"/>
                          <a:cs typeface="Calibri (MS)"/>
                          <a:sym typeface="Calibri (MS)"/>
                        </a:rPr>
                        <a:t>VIX (Level)</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p = 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64748B"/>
                          </a:solidFill>
                          <a:latin typeface="Calibri (MS)"/>
                          <a:ea typeface="Calibri (MS)"/>
                          <a:cs typeface="Calibri (MS)"/>
                          <a:sym typeface="Calibri (MS)"/>
                        </a:rPr>
                        <a:t>Mixed</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bl>
          </a:graphicData>
        </a:graphic>
      </p:graphicFrame>
      <p:grpSp>
        <p:nvGrpSpPr>
          <p:cNvPr name="Group 18" id="18"/>
          <p:cNvGrpSpPr/>
          <p:nvPr/>
        </p:nvGrpSpPr>
        <p:grpSpPr>
          <a:xfrm rot="0">
            <a:off x="901703" y="8425717"/>
            <a:ext cx="8072123" cy="1188720"/>
            <a:chOff x="0" y="0"/>
            <a:chExt cx="10762831" cy="1584960"/>
          </a:xfrm>
        </p:grpSpPr>
        <p:sp>
          <p:nvSpPr>
            <p:cNvPr name="Freeform 19" id="19"/>
            <p:cNvSpPr/>
            <p:nvPr/>
          </p:nvSpPr>
          <p:spPr>
            <a:xfrm flipH="false" flipV="false" rot="0">
              <a:off x="16891" y="4745"/>
              <a:ext cx="10728960" cy="1575445"/>
            </a:xfrm>
            <a:custGeom>
              <a:avLst/>
              <a:gdLst/>
              <a:ahLst/>
              <a:cxnLst/>
              <a:rect r="r" b="b" t="t" l="l"/>
              <a:pathLst>
                <a:path h="1575445" w="10728960">
                  <a:moveTo>
                    <a:pt x="0" y="0"/>
                  </a:moveTo>
                  <a:lnTo>
                    <a:pt x="10728960" y="0"/>
                  </a:lnTo>
                  <a:lnTo>
                    <a:pt x="10728960" y="1575445"/>
                  </a:lnTo>
                  <a:lnTo>
                    <a:pt x="0" y="1575445"/>
                  </a:lnTo>
                  <a:close/>
                </a:path>
              </a:pathLst>
            </a:custGeom>
            <a:solidFill>
              <a:srgbClr val="E8F0FE"/>
            </a:solidFill>
          </p:spPr>
        </p:sp>
        <p:sp>
          <p:nvSpPr>
            <p:cNvPr name="Freeform 20" id="20"/>
            <p:cNvSpPr/>
            <p:nvPr/>
          </p:nvSpPr>
          <p:spPr>
            <a:xfrm flipH="false" flipV="false" rot="0">
              <a:off x="0" y="0"/>
              <a:ext cx="10762742" cy="1584935"/>
            </a:xfrm>
            <a:custGeom>
              <a:avLst/>
              <a:gdLst/>
              <a:ahLst/>
              <a:cxnLst/>
              <a:rect r="r" b="b" t="t" l="l"/>
              <a:pathLst>
                <a:path h="1584935" w="10762742">
                  <a:moveTo>
                    <a:pt x="16891" y="0"/>
                  </a:moveTo>
                  <a:lnTo>
                    <a:pt x="10745851" y="0"/>
                  </a:lnTo>
                  <a:cubicBezTo>
                    <a:pt x="10755249" y="0"/>
                    <a:pt x="10762742" y="2141"/>
                    <a:pt x="10762742" y="4745"/>
                  </a:cubicBezTo>
                  <a:lnTo>
                    <a:pt x="10762742" y="1580190"/>
                  </a:lnTo>
                  <a:cubicBezTo>
                    <a:pt x="10762742" y="1582830"/>
                    <a:pt x="10755122" y="1584935"/>
                    <a:pt x="10745851" y="1584935"/>
                  </a:cubicBezTo>
                  <a:lnTo>
                    <a:pt x="16891" y="1584935"/>
                  </a:lnTo>
                  <a:cubicBezTo>
                    <a:pt x="7493" y="1584935"/>
                    <a:pt x="0" y="1582794"/>
                    <a:pt x="0" y="1580190"/>
                  </a:cubicBezTo>
                  <a:lnTo>
                    <a:pt x="0" y="4745"/>
                  </a:lnTo>
                  <a:cubicBezTo>
                    <a:pt x="0" y="2141"/>
                    <a:pt x="7620" y="0"/>
                    <a:pt x="16891" y="0"/>
                  </a:cubicBezTo>
                  <a:moveTo>
                    <a:pt x="16891" y="9525"/>
                  </a:moveTo>
                  <a:lnTo>
                    <a:pt x="16891" y="4745"/>
                  </a:lnTo>
                  <a:lnTo>
                    <a:pt x="33909" y="4745"/>
                  </a:lnTo>
                  <a:lnTo>
                    <a:pt x="33909" y="1580190"/>
                  </a:lnTo>
                  <a:lnTo>
                    <a:pt x="16891" y="1580190"/>
                  </a:lnTo>
                  <a:lnTo>
                    <a:pt x="16891" y="1575445"/>
                  </a:lnTo>
                  <a:lnTo>
                    <a:pt x="10745851" y="1575445"/>
                  </a:lnTo>
                  <a:lnTo>
                    <a:pt x="10745851" y="1580190"/>
                  </a:lnTo>
                  <a:lnTo>
                    <a:pt x="10728960" y="1580190"/>
                  </a:lnTo>
                  <a:lnTo>
                    <a:pt x="10728960" y="4745"/>
                  </a:lnTo>
                  <a:lnTo>
                    <a:pt x="10745851" y="4745"/>
                  </a:lnTo>
                  <a:lnTo>
                    <a:pt x="10745851" y="9525"/>
                  </a:lnTo>
                  <a:lnTo>
                    <a:pt x="16891" y="9525"/>
                  </a:lnTo>
                  <a:close/>
                </a:path>
              </a:pathLst>
            </a:custGeom>
            <a:solidFill>
              <a:srgbClr val="CADCFC"/>
            </a:solidFill>
          </p:spPr>
        </p:sp>
      </p:grpSp>
      <p:grpSp>
        <p:nvGrpSpPr>
          <p:cNvPr name="Group 21" id="21"/>
          <p:cNvGrpSpPr/>
          <p:nvPr/>
        </p:nvGrpSpPr>
        <p:grpSpPr>
          <a:xfrm rot="0">
            <a:off x="1188725" y="8425717"/>
            <a:ext cx="7498080" cy="1188720"/>
            <a:chOff x="0" y="0"/>
            <a:chExt cx="9997440" cy="1584960"/>
          </a:xfrm>
        </p:grpSpPr>
        <p:sp>
          <p:nvSpPr>
            <p:cNvPr name="Freeform 22" id="22"/>
            <p:cNvSpPr/>
            <p:nvPr/>
          </p:nvSpPr>
          <p:spPr>
            <a:xfrm flipH="false" flipV="false" rot="0">
              <a:off x="0" y="0"/>
              <a:ext cx="9997440" cy="1584960"/>
            </a:xfrm>
            <a:custGeom>
              <a:avLst/>
              <a:gdLst/>
              <a:ahLst/>
              <a:cxnLst/>
              <a:rect r="r" b="b" t="t" l="l"/>
              <a:pathLst>
                <a:path h="1584960" w="9997440">
                  <a:moveTo>
                    <a:pt x="0" y="0"/>
                  </a:moveTo>
                  <a:lnTo>
                    <a:pt x="9997440" y="0"/>
                  </a:lnTo>
                  <a:lnTo>
                    <a:pt x="9997440" y="1584960"/>
                  </a:lnTo>
                  <a:lnTo>
                    <a:pt x="0" y="1584960"/>
                  </a:lnTo>
                  <a:close/>
                </a:path>
              </a:pathLst>
            </a:custGeom>
            <a:blipFill>
              <a:blip r:embed="rId3">
                <a:alphaModFix amt="0"/>
              </a:blip>
              <a:stretch>
                <a:fillRect l="0" t="-72905" r="0" b="-72905"/>
              </a:stretch>
            </a:blipFill>
          </p:spPr>
        </p:sp>
        <p:sp>
          <p:nvSpPr>
            <p:cNvPr name="TextBox 23" id="23"/>
            <p:cNvSpPr txBox="true"/>
            <p:nvPr/>
          </p:nvSpPr>
          <p:spPr>
            <a:xfrm>
              <a:off x="0" y="-38100"/>
              <a:ext cx="9997440" cy="1623060"/>
            </a:xfrm>
            <a:prstGeom prst="rect">
              <a:avLst/>
            </a:prstGeom>
          </p:spPr>
          <p:txBody>
            <a:bodyPr anchor="ctr" rtlCol="false" tIns="0" lIns="0" bIns="0" rIns="0"/>
            <a:lstStyle/>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All first differences are stationary (ADF p ≈ 0.000, KPSS p = 0.100).</a:t>
              </a:r>
            </a:p>
            <a:p>
              <a:pPr algn="l" marL="431801" indent="-215900" lvl="1">
                <a:lnSpc>
                  <a:spcPts val="2400"/>
                </a:lnSpc>
                <a:buFont typeface="Arial"/>
                <a:buChar char="•"/>
              </a:pPr>
              <a:r>
                <a:rPr lang="en-US" sz="2000">
                  <a:solidFill>
                    <a:srgbClr val="334155"/>
                  </a:solidFill>
                  <a:latin typeface="Calibri (MS)"/>
                  <a:ea typeface="Calibri (MS)"/>
                  <a:cs typeface="Calibri (MS)"/>
                  <a:sym typeface="Calibri (MS)"/>
                </a:rPr>
                <a:t>All series treated as I(1) → cointegration test appropriate.</a:t>
              </a:r>
            </a:p>
          </p:txBody>
        </p:sp>
      </p:grpSp>
      <p:grpSp>
        <p:nvGrpSpPr>
          <p:cNvPr name="Group 24" id="24"/>
          <p:cNvGrpSpPr/>
          <p:nvPr/>
        </p:nvGrpSpPr>
        <p:grpSpPr>
          <a:xfrm rot="0">
            <a:off x="914400" y="289055"/>
            <a:ext cx="1031243" cy="1031243"/>
            <a:chOff x="0" y="0"/>
            <a:chExt cx="1374991" cy="1374991"/>
          </a:xfrm>
        </p:grpSpPr>
        <p:sp>
          <p:nvSpPr>
            <p:cNvPr name="Freeform 25" id="25"/>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26" id="26"/>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27" id="27"/>
          <p:cNvGrpSpPr/>
          <p:nvPr/>
        </p:nvGrpSpPr>
        <p:grpSpPr>
          <a:xfrm rot="0">
            <a:off x="927097" y="301752"/>
            <a:ext cx="1005840" cy="1005840"/>
            <a:chOff x="0" y="0"/>
            <a:chExt cx="1341120" cy="1341120"/>
          </a:xfrm>
        </p:grpSpPr>
        <p:sp>
          <p:nvSpPr>
            <p:cNvPr name="Freeform 28" id="28"/>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29" id="29"/>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03</a:t>
              </a:r>
            </a:p>
          </p:txBody>
        </p:sp>
      </p:grpSp>
      <p:sp>
        <p:nvSpPr>
          <p:cNvPr name="Freeform 30" id="30"/>
          <p:cNvSpPr/>
          <p:nvPr/>
        </p:nvSpPr>
        <p:spPr>
          <a:xfrm flipH="false" flipV="false" rot="0">
            <a:off x="9296593" y="2547083"/>
            <a:ext cx="8519160" cy="7067353"/>
          </a:xfrm>
          <a:custGeom>
            <a:avLst/>
            <a:gdLst/>
            <a:ahLst/>
            <a:cxnLst/>
            <a:rect r="r" b="b" t="t" l="l"/>
            <a:pathLst>
              <a:path h="7067353" w="8519160">
                <a:moveTo>
                  <a:pt x="0" y="0"/>
                </a:moveTo>
                <a:lnTo>
                  <a:pt x="8519160" y="0"/>
                </a:lnTo>
                <a:lnTo>
                  <a:pt x="8519160" y="7067354"/>
                </a:lnTo>
                <a:lnTo>
                  <a:pt x="0" y="7067354"/>
                </a:lnTo>
                <a:lnTo>
                  <a:pt x="0" y="0"/>
                </a:lnTo>
                <a:close/>
              </a:path>
            </a:pathLst>
          </a:custGeom>
          <a:blipFill>
            <a:blip r:embed="rId4"/>
            <a:stretch>
              <a:fillRect l="0" t="0" r="0" b="0"/>
            </a:stretch>
          </a:blipFill>
          <a:ln w="38100" cap="sq">
            <a:solidFill>
              <a:srgbClr val="000000"/>
            </a:solidFill>
            <a:prstDash val="solid"/>
            <a:miter/>
          </a:ln>
        </p:spPr>
      </p:sp>
      <p:grpSp>
        <p:nvGrpSpPr>
          <p:cNvPr name="Group 31" id="31"/>
          <p:cNvGrpSpPr/>
          <p:nvPr/>
        </p:nvGrpSpPr>
        <p:grpSpPr>
          <a:xfrm rot="0">
            <a:off x="914400" y="5474113"/>
            <a:ext cx="8072123" cy="2732310"/>
            <a:chOff x="0" y="0"/>
            <a:chExt cx="10762831" cy="3643080"/>
          </a:xfrm>
        </p:grpSpPr>
        <p:sp>
          <p:nvSpPr>
            <p:cNvPr name="Freeform 32" id="32"/>
            <p:cNvSpPr/>
            <p:nvPr/>
          </p:nvSpPr>
          <p:spPr>
            <a:xfrm flipH="false" flipV="false" rot="0">
              <a:off x="16891" y="10906"/>
              <a:ext cx="10728960" cy="3621210"/>
            </a:xfrm>
            <a:custGeom>
              <a:avLst/>
              <a:gdLst/>
              <a:ahLst/>
              <a:cxnLst/>
              <a:rect r="r" b="b" t="t" l="l"/>
              <a:pathLst>
                <a:path h="3621210" w="10728960">
                  <a:moveTo>
                    <a:pt x="0" y="0"/>
                  </a:moveTo>
                  <a:lnTo>
                    <a:pt x="10728960" y="0"/>
                  </a:lnTo>
                  <a:lnTo>
                    <a:pt x="10728960" y="3621210"/>
                  </a:lnTo>
                  <a:lnTo>
                    <a:pt x="0" y="3621210"/>
                  </a:lnTo>
                  <a:close/>
                </a:path>
              </a:pathLst>
            </a:custGeom>
            <a:solidFill>
              <a:srgbClr val="E8F0FE"/>
            </a:solidFill>
          </p:spPr>
        </p:sp>
        <p:sp>
          <p:nvSpPr>
            <p:cNvPr name="Freeform 33" id="33"/>
            <p:cNvSpPr/>
            <p:nvPr/>
          </p:nvSpPr>
          <p:spPr>
            <a:xfrm flipH="false" flipV="false" rot="0">
              <a:off x="0" y="0"/>
              <a:ext cx="10762742" cy="3643022"/>
            </a:xfrm>
            <a:custGeom>
              <a:avLst/>
              <a:gdLst/>
              <a:ahLst/>
              <a:cxnLst/>
              <a:rect r="r" b="b" t="t" l="l"/>
              <a:pathLst>
                <a:path h="3643022" w="10762742">
                  <a:moveTo>
                    <a:pt x="16891" y="0"/>
                  </a:moveTo>
                  <a:lnTo>
                    <a:pt x="10745851" y="0"/>
                  </a:lnTo>
                  <a:cubicBezTo>
                    <a:pt x="10755249" y="0"/>
                    <a:pt x="10762742" y="4920"/>
                    <a:pt x="10762742" y="10906"/>
                  </a:cubicBezTo>
                  <a:lnTo>
                    <a:pt x="10762742" y="3632116"/>
                  </a:lnTo>
                  <a:cubicBezTo>
                    <a:pt x="10762742" y="3638184"/>
                    <a:pt x="10755122" y="3643022"/>
                    <a:pt x="10745851" y="3643022"/>
                  </a:cubicBezTo>
                  <a:lnTo>
                    <a:pt x="16891" y="3643022"/>
                  </a:lnTo>
                  <a:cubicBezTo>
                    <a:pt x="7493" y="3643022"/>
                    <a:pt x="0" y="3638102"/>
                    <a:pt x="0" y="3632116"/>
                  </a:cubicBezTo>
                  <a:lnTo>
                    <a:pt x="0" y="10906"/>
                  </a:lnTo>
                  <a:cubicBezTo>
                    <a:pt x="0" y="4920"/>
                    <a:pt x="7620" y="0"/>
                    <a:pt x="16891" y="0"/>
                  </a:cubicBezTo>
                  <a:moveTo>
                    <a:pt x="16891" y="21895"/>
                  </a:moveTo>
                  <a:lnTo>
                    <a:pt x="16891" y="10906"/>
                  </a:lnTo>
                  <a:lnTo>
                    <a:pt x="33909" y="10906"/>
                  </a:lnTo>
                  <a:lnTo>
                    <a:pt x="33909" y="3632116"/>
                  </a:lnTo>
                  <a:lnTo>
                    <a:pt x="16891" y="3632116"/>
                  </a:lnTo>
                  <a:lnTo>
                    <a:pt x="16891" y="3621210"/>
                  </a:lnTo>
                  <a:lnTo>
                    <a:pt x="10745851" y="3621210"/>
                  </a:lnTo>
                  <a:lnTo>
                    <a:pt x="10745851" y="3632116"/>
                  </a:lnTo>
                  <a:lnTo>
                    <a:pt x="10728960" y="3632116"/>
                  </a:lnTo>
                  <a:lnTo>
                    <a:pt x="10728960" y="10906"/>
                  </a:lnTo>
                  <a:lnTo>
                    <a:pt x="10745851" y="10906"/>
                  </a:lnTo>
                  <a:lnTo>
                    <a:pt x="10745851" y="21895"/>
                  </a:lnTo>
                  <a:lnTo>
                    <a:pt x="16891" y="21895"/>
                  </a:lnTo>
                  <a:close/>
                </a:path>
              </a:pathLst>
            </a:custGeom>
            <a:solidFill>
              <a:srgbClr val="CADCFC"/>
            </a:solidFill>
          </p:spPr>
        </p:sp>
      </p:grpSp>
      <p:grpSp>
        <p:nvGrpSpPr>
          <p:cNvPr name="Group 34" id="34"/>
          <p:cNvGrpSpPr/>
          <p:nvPr/>
        </p:nvGrpSpPr>
        <p:grpSpPr>
          <a:xfrm rot="0">
            <a:off x="1169665" y="5595776"/>
            <a:ext cx="7498080" cy="512064"/>
            <a:chOff x="0" y="0"/>
            <a:chExt cx="9997440" cy="682752"/>
          </a:xfrm>
        </p:grpSpPr>
        <p:sp>
          <p:nvSpPr>
            <p:cNvPr name="Freeform 35" id="35"/>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36" id="36"/>
            <p:cNvSpPr txBox="true"/>
            <p:nvPr/>
          </p:nvSpPr>
          <p:spPr>
            <a:xfrm>
              <a:off x="0" y="-47625"/>
              <a:ext cx="9997440" cy="730377"/>
            </a:xfrm>
            <a:prstGeom prst="rect">
              <a:avLst/>
            </a:prstGeom>
          </p:spPr>
          <p:txBody>
            <a:bodyPr anchor="ctr" rtlCol="false" tIns="0" lIns="0" bIns="0" rIns="0"/>
            <a:lstStyle/>
            <a:p>
              <a:pPr algn="l">
                <a:lnSpc>
                  <a:spcPts val="2640"/>
                </a:lnSpc>
              </a:pPr>
              <a:r>
                <a:rPr lang="en-US" sz="2200" b="true">
                  <a:solidFill>
                    <a:srgbClr val="1E2761"/>
                  </a:solidFill>
                  <a:latin typeface="Calibri (MS) Bold"/>
                  <a:ea typeface="Calibri (MS) Bold"/>
                  <a:cs typeface="Calibri (MS) Bold"/>
                  <a:sym typeface="Calibri (MS) Bold"/>
                </a:rPr>
                <a:t>Stationarity — All Three Variables</a:t>
              </a:r>
            </a:p>
          </p:txBody>
        </p:sp>
      </p:grpSp>
      <p:graphicFrame>
        <p:nvGraphicFramePr>
          <p:cNvPr name="Table 37" id="37"/>
          <p:cNvGraphicFramePr>
            <a:graphicFrameLocks noGrp="true"/>
          </p:cNvGraphicFramePr>
          <p:nvPr/>
        </p:nvGraphicFramePr>
        <p:xfrm>
          <a:off x="986785" y="6004560"/>
          <a:ext cx="7848600" cy="2292350"/>
        </p:xfrm>
        <a:graphic>
          <a:graphicData uri="http://schemas.openxmlformats.org/drawingml/2006/table">
            <a:tbl>
              <a:tblPr/>
              <a:tblGrid>
                <a:gridCol w="2736716"/>
                <a:gridCol w="2736716"/>
                <a:gridCol w="2375168"/>
              </a:tblGrid>
              <a:tr h="573087">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Variable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ADF p-value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Order</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573088">
                <a:tc>
                  <a:txBody>
                    <a:bodyPr anchor="t" rtlCol="false"/>
                    <a:lstStyle/>
                    <a:p>
                      <a:pPr algn="ctr">
                        <a:lnSpc>
                          <a:spcPts val="2280"/>
                        </a:lnSpc>
                        <a:defRPr/>
                      </a:pPr>
                      <a:r>
                        <a:rPr lang="en-US" sz="1900">
                          <a:solidFill>
                            <a:srgbClr val="000000"/>
                          </a:solidFill>
                          <a:latin typeface="Calibri (MS)"/>
                          <a:ea typeface="Calibri (MS)"/>
                          <a:cs typeface="Calibri (MS)"/>
                          <a:sym typeface="Calibri (MS)"/>
                        </a:rPr>
                        <a:t>MSFT (1</a:t>
                      </a:r>
                      <a:r>
                        <a:rPr lang="en-US" sz="1900">
                          <a:solidFill>
                            <a:srgbClr val="000000"/>
                          </a:solidFill>
                          <a:latin typeface="Calibri (MS)"/>
                          <a:ea typeface="Calibri (MS)"/>
                          <a:cs typeface="Calibri (MS)"/>
                          <a:sym typeface="Calibri (MS)"/>
                        </a:rPr>
                        <a:t>st</a:t>
                      </a:r>
                      <a:r>
                        <a:rPr lang="en-US" sz="1900">
                          <a:solidFill>
                            <a:srgbClr val="000000"/>
                          </a:solidFill>
                          <a:latin typeface="Calibri (MS)"/>
                          <a:ea typeface="Calibri (MS)"/>
                          <a:cs typeface="Calibri (MS)"/>
                          <a:sym typeface="Calibri (MS)"/>
                        </a:rPr>
                        <a:t> Dif)</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P = 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E2761"/>
                          </a:solidFill>
                          <a:latin typeface="Calibri (MS) Bold"/>
                          <a:ea typeface="Calibri (MS) Bold"/>
                          <a:cs typeface="Calibri (MS) Bold"/>
                          <a:sym typeface="Calibri (MS) Bold"/>
                        </a:rPr>
                        <a:t>I(1)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3088">
                <a:tc>
                  <a:txBody>
                    <a:bodyPr anchor="t" rtlCol="false"/>
                    <a:lstStyle/>
                    <a:p>
                      <a:pPr algn="ctr">
                        <a:lnSpc>
                          <a:spcPts val="2280"/>
                        </a:lnSpc>
                        <a:defRPr/>
                      </a:pPr>
                      <a:r>
                        <a:rPr lang="en-US" sz="1900">
                          <a:solidFill>
                            <a:srgbClr val="000000"/>
                          </a:solidFill>
                          <a:latin typeface="Calibri (MS)"/>
                          <a:ea typeface="Calibri (MS)"/>
                          <a:cs typeface="Calibri (MS)"/>
                          <a:sym typeface="Calibri (MS)"/>
                        </a:rPr>
                        <a:t>SP500 (1</a:t>
                      </a:r>
                      <a:r>
                        <a:rPr lang="en-US" sz="1900">
                          <a:solidFill>
                            <a:srgbClr val="000000"/>
                          </a:solidFill>
                          <a:latin typeface="Calibri (MS)"/>
                          <a:ea typeface="Calibri (MS)"/>
                          <a:cs typeface="Calibri (MS)"/>
                          <a:sym typeface="Calibri (MS)"/>
                        </a:rPr>
                        <a:t>st</a:t>
                      </a:r>
                      <a:r>
                        <a:rPr lang="en-US" sz="1900">
                          <a:solidFill>
                            <a:srgbClr val="000000"/>
                          </a:solidFill>
                          <a:latin typeface="Calibri (MS)"/>
                          <a:ea typeface="Calibri (MS)"/>
                          <a:cs typeface="Calibri (MS)"/>
                          <a:sym typeface="Calibri (MS)"/>
                        </a:rPr>
                        <a:t> Dif)</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p = 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E2761"/>
                          </a:solidFill>
                          <a:latin typeface="Calibri (MS) Bold"/>
                          <a:ea typeface="Calibri (MS) Bold"/>
                          <a:cs typeface="Calibri (MS) Bold"/>
                          <a:sym typeface="Calibri (MS) Bold"/>
                        </a:rPr>
                        <a:t>I(1)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3087">
                <a:tc>
                  <a:txBody>
                    <a:bodyPr anchor="t" rtlCol="false"/>
                    <a:lstStyle/>
                    <a:p>
                      <a:pPr algn="ctr">
                        <a:lnSpc>
                          <a:spcPts val="2280"/>
                        </a:lnSpc>
                        <a:defRPr/>
                      </a:pPr>
                      <a:r>
                        <a:rPr lang="en-US" sz="1900">
                          <a:solidFill>
                            <a:srgbClr val="000000"/>
                          </a:solidFill>
                          <a:latin typeface="Calibri (MS)"/>
                          <a:ea typeface="Calibri (MS)"/>
                          <a:cs typeface="Calibri (MS)"/>
                          <a:sym typeface="Calibri (MS)"/>
                        </a:rPr>
                        <a:t>VIX (1</a:t>
                      </a:r>
                      <a:r>
                        <a:rPr lang="en-US" sz="1900">
                          <a:solidFill>
                            <a:srgbClr val="000000"/>
                          </a:solidFill>
                          <a:latin typeface="Calibri (MS)"/>
                          <a:ea typeface="Calibri (MS)"/>
                          <a:cs typeface="Calibri (MS)"/>
                          <a:sym typeface="Calibri (MS)"/>
                        </a:rPr>
                        <a:t>st</a:t>
                      </a:r>
                      <a:r>
                        <a:rPr lang="en-US" sz="1900">
                          <a:solidFill>
                            <a:srgbClr val="000000"/>
                          </a:solidFill>
                          <a:latin typeface="Calibri (MS)"/>
                          <a:ea typeface="Calibri (MS)"/>
                          <a:cs typeface="Calibri (MS)"/>
                          <a:sym typeface="Calibri (MS)"/>
                        </a:rPr>
                        <a:t> Dif)</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p = 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64748B"/>
                          </a:solidFill>
                          <a:latin typeface="Calibri (MS)"/>
                          <a:ea typeface="Calibri (MS)"/>
                          <a:cs typeface="Calibri (MS)"/>
                          <a:sym typeface="Calibri (MS)"/>
                        </a:rPr>
                        <a:t>I(1) treated</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273932"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286629"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2 · VECM</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Cointegration &amp; Model Choice</a:t>
              </a:r>
            </a:p>
          </p:txBody>
        </p:sp>
      </p:grpSp>
      <p:grpSp>
        <p:nvGrpSpPr>
          <p:cNvPr name="Group 11" id="11"/>
          <p:cNvGrpSpPr/>
          <p:nvPr/>
        </p:nvGrpSpPr>
        <p:grpSpPr>
          <a:xfrm rot="0">
            <a:off x="5029200" y="2526030"/>
            <a:ext cx="8229600" cy="4409054"/>
            <a:chOff x="0" y="0"/>
            <a:chExt cx="2167467" cy="1161232"/>
          </a:xfrm>
        </p:grpSpPr>
        <p:sp>
          <p:nvSpPr>
            <p:cNvPr name="Freeform 12" id="12"/>
            <p:cNvSpPr/>
            <p:nvPr/>
          </p:nvSpPr>
          <p:spPr>
            <a:xfrm flipH="false" flipV="false" rot="0">
              <a:off x="0" y="0"/>
              <a:ext cx="2167467" cy="1161232"/>
            </a:xfrm>
            <a:custGeom>
              <a:avLst/>
              <a:gdLst/>
              <a:ahLst/>
              <a:cxnLst/>
              <a:rect r="r" b="b" t="t" l="l"/>
              <a:pathLst>
                <a:path h="1161232" w="2167467">
                  <a:moveTo>
                    <a:pt x="0" y="0"/>
                  </a:moveTo>
                  <a:lnTo>
                    <a:pt x="2167467" y="0"/>
                  </a:lnTo>
                  <a:lnTo>
                    <a:pt x="2167467" y="1161232"/>
                  </a:lnTo>
                  <a:lnTo>
                    <a:pt x="0" y="1161232"/>
                  </a:lnTo>
                  <a:close/>
                </a:path>
              </a:pathLst>
            </a:custGeom>
            <a:solidFill>
              <a:srgbClr val="FEF3C7"/>
            </a:solidFill>
          </p:spPr>
        </p:sp>
        <p:sp>
          <p:nvSpPr>
            <p:cNvPr name="TextBox 13" id="13"/>
            <p:cNvSpPr txBox="true"/>
            <p:nvPr/>
          </p:nvSpPr>
          <p:spPr>
            <a:xfrm>
              <a:off x="0" y="-38100"/>
              <a:ext cx="2167467" cy="1199332"/>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5351140" y="2779776"/>
            <a:ext cx="7498080" cy="512064"/>
            <a:chOff x="0" y="0"/>
            <a:chExt cx="9997440" cy="682752"/>
          </a:xfrm>
        </p:grpSpPr>
        <p:sp>
          <p:nvSpPr>
            <p:cNvPr name="Freeform 15" id="15"/>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16" id="16"/>
            <p:cNvSpPr txBox="true"/>
            <p:nvPr/>
          </p:nvSpPr>
          <p:spPr>
            <a:xfrm>
              <a:off x="0" y="-47625"/>
              <a:ext cx="9997440" cy="730377"/>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Johansen Cointegration Test (95% CV)</a:t>
              </a:r>
            </a:p>
          </p:txBody>
        </p:sp>
      </p:grpSp>
      <p:graphicFrame>
        <p:nvGraphicFramePr>
          <p:cNvPr name="Table 17" id="17"/>
          <p:cNvGraphicFramePr>
            <a:graphicFrameLocks noGrp="true"/>
          </p:cNvGraphicFramePr>
          <p:nvPr/>
        </p:nvGraphicFramePr>
        <p:xfrm>
          <a:off x="5168260" y="3383280"/>
          <a:ext cx="7823200" cy="2438400"/>
        </p:xfrm>
        <a:graphic>
          <a:graphicData uri="http://schemas.openxmlformats.org/drawingml/2006/table">
            <a:tbl>
              <a:tblPr/>
              <a:tblGrid>
                <a:gridCol w="1641475"/>
                <a:gridCol w="2000704"/>
                <a:gridCol w="1821089"/>
                <a:gridCol w="2359932"/>
              </a:tblGrid>
              <a:tr h="609600">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H₀</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Trace Stat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95% CV</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Decision</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6096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r ≤ 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78.391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29.796</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EF4444"/>
                          </a:solidFill>
                          <a:latin typeface="Calibri (MS) Bold"/>
                          <a:ea typeface="Calibri (MS) Bold"/>
                          <a:cs typeface="Calibri (MS) Bold"/>
                          <a:sym typeface="Calibri (MS) Bold"/>
                        </a:rPr>
                        <a:t>REJECT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6096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r ≤ 1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10.137</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15.494</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Fail to Reject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r>
              <a:tr h="6096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r ≤ 2</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2.219</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3.841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Fail to Reject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bl>
          </a:graphicData>
        </a:graphic>
      </p:graphicFrame>
      <p:grpSp>
        <p:nvGrpSpPr>
          <p:cNvPr name="Group 18" id="18"/>
          <p:cNvGrpSpPr/>
          <p:nvPr/>
        </p:nvGrpSpPr>
        <p:grpSpPr>
          <a:xfrm rot="0">
            <a:off x="5351140" y="5943600"/>
            <a:ext cx="7589520" cy="991484"/>
            <a:chOff x="0" y="0"/>
            <a:chExt cx="10119360" cy="1321978"/>
          </a:xfrm>
        </p:grpSpPr>
        <p:sp>
          <p:nvSpPr>
            <p:cNvPr name="Freeform 19" id="19"/>
            <p:cNvSpPr/>
            <p:nvPr/>
          </p:nvSpPr>
          <p:spPr>
            <a:xfrm flipH="false" flipV="false" rot="0">
              <a:off x="0" y="0"/>
              <a:ext cx="10119360" cy="1321978"/>
            </a:xfrm>
            <a:custGeom>
              <a:avLst/>
              <a:gdLst/>
              <a:ahLst/>
              <a:cxnLst/>
              <a:rect r="r" b="b" t="t" l="l"/>
              <a:pathLst>
                <a:path h="1321978" w="10119360">
                  <a:moveTo>
                    <a:pt x="0" y="0"/>
                  </a:moveTo>
                  <a:lnTo>
                    <a:pt x="10119360" y="0"/>
                  </a:lnTo>
                  <a:lnTo>
                    <a:pt x="10119360" y="1321978"/>
                  </a:lnTo>
                  <a:lnTo>
                    <a:pt x="0" y="1321978"/>
                  </a:lnTo>
                  <a:close/>
                </a:path>
              </a:pathLst>
            </a:custGeom>
            <a:blipFill>
              <a:blip r:embed="rId3">
                <a:alphaModFix amt="0"/>
              </a:blip>
              <a:stretch>
                <a:fillRect l="0" t="-107650" r="0" b="-90653"/>
              </a:stretch>
            </a:blipFill>
          </p:spPr>
        </p:sp>
        <p:sp>
          <p:nvSpPr>
            <p:cNvPr name="TextBox 20" id="20"/>
            <p:cNvSpPr txBox="true"/>
            <p:nvPr/>
          </p:nvSpPr>
          <p:spPr>
            <a:xfrm>
              <a:off x="0" y="-38100"/>
              <a:ext cx="10119360" cy="1360078"/>
            </a:xfrm>
            <a:prstGeom prst="rect">
              <a:avLst/>
            </a:prstGeom>
          </p:spPr>
          <p:txBody>
            <a:bodyPr anchor="ctr" rtlCol="false" tIns="0" lIns="0" bIns="0" rIns="0"/>
            <a:lstStyle/>
            <a:p>
              <a:pPr algn="l">
                <a:lnSpc>
                  <a:spcPts val="2400"/>
                </a:lnSpc>
              </a:pPr>
              <a:r>
                <a:rPr lang="en-US" sz="2000" b="true">
                  <a:solidFill>
                    <a:srgbClr val="334155"/>
                  </a:solidFill>
                  <a:latin typeface="Calibri (MS) Bold"/>
                  <a:ea typeface="Calibri (MS) Bold"/>
                  <a:cs typeface="Calibri (MS) Bold"/>
                  <a:sym typeface="Calibri (MS) Bold"/>
                </a:rPr>
                <a:t>Max-Eigen test confirms: </a:t>
              </a:r>
              <a:r>
                <a:rPr lang="en-US" sz="2000">
                  <a:solidFill>
                    <a:srgbClr val="334155"/>
                  </a:solidFill>
                  <a:latin typeface="Calibri (MS)"/>
                  <a:ea typeface="Calibri (MS)"/>
                  <a:cs typeface="Calibri (MS)"/>
                  <a:sym typeface="Calibri (MS)"/>
                </a:rPr>
                <a:t>r = 0 rejected (68.254 &gt;&gt; 21.131); r = 1 not rejected.</a:t>
              </a:r>
            </a:p>
            <a:p>
              <a:pPr algn="l">
                <a:lnSpc>
                  <a:spcPts val="2280"/>
                </a:lnSpc>
              </a:pPr>
              <a:r>
                <a:rPr lang="en-US" sz="1900">
                  <a:solidFill>
                    <a:srgbClr val="334155"/>
                  </a:solidFill>
                  <a:latin typeface="Calibri (MS)"/>
                  <a:ea typeface="Calibri (MS)"/>
                  <a:cs typeface="Calibri (MS)"/>
                  <a:sym typeface="Calibri (MS)"/>
                </a:rPr>
                <a:t>→ Exactly ONE cointegrating vector. VECM preferred over VAR in differences.</a:t>
              </a:r>
            </a:p>
          </p:txBody>
        </p:sp>
      </p:grpSp>
      <p:grpSp>
        <p:nvGrpSpPr>
          <p:cNvPr name="Group 21" id="21"/>
          <p:cNvGrpSpPr/>
          <p:nvPr/>
        </p:nvGrpSpPr>
        <p:grpSpPr>
          <a:xfrm rot="0">
            <a:off x="583208" y="7210618"/>
            <a:ext cx="17121585" cy="1913345"/>
            <a:chOff x="0" y="0"/>
            <a:chExt cx="4509389" cy="503926"/>
          </a:xfrm>
        </p:grpSpPr>
        <p:sp>
          <p:nvSpPr>
            <p:cNvPr name="Freeform 22" id="22"/>
            <p:cNvSpPr/>
            <p:nvPr/>
          </p:nvSpPr>
          <p:spPr>
            <a:xfrm flipH="false" flipV="false" rot="0">
              <a:off x="0" y="0"/>
              <a:ext cx="4509389" cy="503926"/>
            </a:xfrm>
            <a:custGeom>
              <a:avLst/>
              <a:gdLst/>
              <a:ahLst/>
              <a:cxnLst/>
              <a:rect r="r" b="b" t="t" l="l"/>
              <a:pathLst>
                <a:path h="503926" w="4509389">
                  <a:moveTo>
                    <a:pt x="0" y="0"/>
                  </a:moveTo>
                  <a:lnTo>
                    <a:pt x="4509389" y="0"/>
                  </a:lnTo>
                  <a:lnTo>
                    <a:pt x="4509389" y="503926"/>
                  </a:lnTo>
                  <a:lnTo>
                    <a:pt x="0" y="503926"/>
                  </a:lnTo>
                  <a:close/>
                </a:path>
              </a:pathLst>
            </a:custGeom>
            <a:solidFill>
              <a:srgbClr val="FEF3C7"/>
            </a:solidFill>
          </p:spPr>
        </p:sp>
        <p:sp>
          <p:nvSpPr>
            <p:cNvPr name="TextBox 23" id="23"/>
            <p:cNvSpPr txBox="true"/>
            <p:nvPr/>
          </p:nvSpPr>
          <p:spPr>
            <a:xfrm>
              <a:off x="0" y="-38100"/>
              <a:ext cx="4509389" cy="542026"/>
            </a:xfrm>
            <a:prstGeom prst="rect">
              <a:avLst/>
            </a:prstGeom>
          </p:spPr>
          <p:txBody>
            <a:bodyPr anchor="ctr" rtlCol="false" tIns="50800" lIns="50800" bIns="50800" rIns="50800"/>
            <a:lstStyle/>
            <a:p>
              <a:pPr algn="ctr">
                <a:lnSpc>
                  <a:spcPts val="2400"/>
                </a:lnSpc>
              </a:pPr>
            </a:p>
          </p:txBody>
        </p:sp>
      </p:grpSp>
      <p:grpSp>
        <p:nvGrpSpPr>
          <p:cNvPr name="Group 24" id="24"/>
          <p:cNvGrpSpPr/>
          <p:nvPr/>
        </p:nvGrpSpPr>
        <p:grpSpPr>
          <a:xfrm rot="0">
            <a:off x="1223639" y="7422518"/>
            <a:ext cx="10058400" cy="512064"/>
            <a:chOff x="0" y="0"/>
            <a:chExt cx="13411200" cy="682752"/>
          </a:xfrm>
        </p:grpSpPr>
        <p:sp>
          <p:nvSpPr>
            <p:cNvPr name="Freeform 25" id="25"/>
            <p:cNvSpPr/>
            <p:nvPr/>
          </p:nvSpPr>
          <p:spPr>
            <a:xfrm flipH="false" flipV="false" rot="0">
              <a:off x="0" y="0"/>
              <a:ext cx="13411200" cy="682752"/>
            </a:xfrm>
            <a:custGeom>
              <a:avLst/>
              <a:gdLst/>
              <a:ahLst/>
              <a:cxnLst/>
              <a:rect r="r" b="b" t="t" l="l"/>
              <a:pathLst>
                <a:path h="682752" w="13411200">
                  <a:moveTo>
                    <a:pt x="0" y="0"/>
                  </a:moveTo>
                  <a:lnTo>
                    <a:pt x="13411200" y="0"/>
                  </a:lnTo>
                  <a:lnTo>
                    <a:pt x="13411200" y="682752"/>
                  </a:lnTo>
                  <a:lnTo>
                    <a:pt x="0" y="682752"/>
                  </a:lnTo>
                  <a:close/>
                </a:path>
              </a:pathLst>
            </a:custGeom>
            <a:blipFill>
              <a:blip r:embed="rId3">
                <a:alphaModFix amt="0"/>
              </a:blip>
              <a:stretch>
                <a:fillRect l="0" t="-332741" r="0" b="-332741"/>
              </a:stretch>
            </a:blipFill>
          </p:spPr>
        </p:sp>
        <p:sp>
          <p:nvSpPr>
            <p:cNvPr name="TextBox 26" id="26"/>
            <p:cNvSpPr txBox="true"/>
            <p:nvPr/>
          </p:nvSpPr>
          <p:spPr>
            <a:xfrm>
              <a:off x="0" y="-47625"/>
              <a:ext cx="13411200" cy="730377"/>
            </a:xfrm>
            <a:prstGeom prst="rect">
              <a:avLst/>
            </a:prstGeom>
          </p:spPr>
          <p:txBody>
            <a:bodyPr anchor="ctr" rtlCol="false" tIns="0" lIns="0" bIns="0" rIns="0"/>
            <a:lstStyle/>
            <a:p>
              <a:pPr algn="l">
                <a:lnSpc>
                  <a:spcPts val="2760"/>
                </a:lnSpc>
              </a:pPr>
              <a:r>
                <a:rPr lang="en-US" sz="2300" b="true">
                  <a:solidFill>
                    <a:srgbClr val="000000"/>
                  </a:solidFill>
                  <a:latin typeface="Calibri (MS) Bold"/>
                  <a:ea typeface="Calibri (MS) Bold"/>
                  <a:cs typeface="Calibri (MS) Bold"/>
                  <a:sym typeface="Calibri (MS) Bold"/>
                </a:rPr>
                <a:t>Lag Order Selection: k_ar_diff = 8 chosen via residual diagnostic search</a:t>
              </a:r>
            </a:p>
          </p:txBody>
        </p:sp>
      </p:grpSp>
      <p:grpSp>
        <p:nvGrpSpPr>
          <p:cNvPr name="Group 27" id="27"/>
          <p:cNvGrpSpPr/>
          <p:nvPr/>
        </p:nvGrpSpPr>
        <p:grpSpPr>
          <a:xfrm rot="0">
            <a:off x="1119502" y="8031613"/>
            <a:ext cx="3865883" cy="720347"/>
            <a:chOff x="0" y="0"/>
            <a:chExt cx="5154511" cy="960463"/>
          </a:xfrm>
        </p:grpSpPr>
        <p:sp>
          <p:nvSpPr>
            <p:cNvPr name="Freeform 28" id="28"/>
            <p:cNvSpPr/>
            <p:nvPr/>
          </p:nvSpPr>
          <p:spPr>
            <a:xfrm flipH="false" flipV="false" rot="0">
              <a:off x="16891" y="16891"/>
              <a:ext cx="5120640" cy="926592"/>
            </a:xfrm>
            <a:custGeom>
              <a:avLst/>
              <a:gdLst/>
              <a:ahLst/>
              <a:cxnLst/>
              <a:rect r="r" b="b" t="t" l="l"/>
              <a:pathLst>
                <a:path h="926592" w="5120640">
                  <a:moveTo>
                    <a:pt x="0" y="0"/>
                  </a:moveTo>
                  <a:lnTo>
                    <a:pt x="5120640" y="0"/>
                  </a:lnTo>
                  <a:lnTo>
                    <a:pt x="5120640" y="926592"/>
                  </a:lnTo>
                  <a:lnTo>
                    <a:pt x="0" y="926592"/>
                  </a:lnTo>
                  <a:close/>
                </a:path>
              </a:pathLst>
            </a:custGeom>
            <a:solidFill>
              <a:srgbClr val="7F1D1D"/>
            </a:solidFill>
          </p:spPr>
        </p:sp>
        <p:sp>
          <p:nvSpPr>
            <p:cNvPr name="Freeform 29" id="29"/>
            <p:cNvSpPr/>
            <p:nvPr/>
          </p:nvSpPr>
          <p:spPr>
            <a:xfrm flipH="false" flipV="false" rot="0">
              <a:off x="0" y="0"/>
              <a:ext cx="5154422" cy="960376"/>
            </a:xfrm>
            <a:custGeom>
              <a:avLst/>
              <a:gdLst/>
              <a:ahLst/>
              <a:cxnLst/>
              <a:rect r="r" b="b" t="t" l="l"/>
              <a:pathLst>
                <a:path h="960376" w="5154422">
                  <a:moveTo>
                    <a:pt x="16891" y="0"/>
                  </a:moveTo>
                  <a:lnTo>
                    <a:pt x="5137531" y="0"/>
                  </a:lnTo>
                  <a:cubicBezTo>
                    <a:pt x="5146929" y="0"/>
                    <a:pt x="5154422" y="7620"/>
                    <a:pt x="5154422" y="16891"/>
                  </a:cubicBezTo>
                  <a:lnTo>
                    <a:pt x="5154422" y="943483"/>
                  </a:lnTo>
                  <a:cubicBezTo>
                    <a:pt x="5154422" y="952881"/>
                    <a:pt x="5146802" y="960374"/>
                    <a:pt x="513753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5137531" y="926592"/>
                  </a:lnTo>
                  <a:lnTo>
                    <a:pt x="5137531" y="943483"/>
                  </a:lnTo>
                  <a:lnTo>
                    <a:pt x="5120640" y="943483"/>
                  </a:lnTo>
                  <a:lnTo>
                    <a:pt x="5120640" y="16891"/>
                  </a:lnTo>
                  <a:lnTo>
                    <a:pt x="5137531" y="16891"/>
                  </a:lnTo>
                  <a:lnTo>
                    <a:pt x="5137531" y="33909"/>
                  </a:lnTo>
                  <a:lnTo>
                    <a:pt x="16891" y="33909"/>
                  </a:lnTo>
                  <a:close/>
                </a:path>
              </a:pathLst>
            </a:custGeom>
            <a:solidFill>
              <a:srgbClr val="7F1D1D"/>
            </a:solidFill>
          </p:spPr>
        </p:sp>
      </p:grpSp>
      <p:grpSp>
        <p:nvGrpSpPr>
          <p:cNvPr name="Group 30" id="30"/>
          <p:cNvGrpSpPr/>
          <p:nvPr/>
        </p:nvGrpSpPr>
        <p:grpSpPr>
          <a:xfrm rot="0">
            <a:off x="1132199" y="8044310"/>
            <a:ext cx="3840480" cy="694944"/>
            <a:chOff x="0" y="0"/>
            <a:chExt cx="5120640" cy="926592"/>
          </a:xfrm>
        </p:grpSpPr>
        <p:sp>
          <p:nvSpPr>
            <p:cNvPr name="Freeform 31" id="31"/>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80" r="0" b="-57680"/>
              </a:stretch>
            </a:blipFill>
          </p:spPr>
        </p:sp>
        <p:sp>
          <p:nvSpPr>
            <p:cNvPr name="TextBox 32" id="32"/>
            <p:cNvSpPr txBox="true"/>
            <p:nvPr/>
          </p:nvSpPr>
          <p:spPr>
            <a:xfrm>
              <a:off x="0" y="-38100"/>
              <a:ext cx="5120640" cy="96469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k=5: SP500 FAIL</a:t>
              </a:r>
            </a:p>
          </p:txBody>
        </p:sp>
      </p:grpSp>
      <p:grpSp>
        <p:nvGrpSpPr>
          <p:cNvPr name="Group 33" id="33"/>
          <p:cNvGrpSpPr/>
          <p:nvPr/>
        </p:nvGrpSpPr>
        <p:grpSpPr>
          <a:xfrm rot="0">
            <a:off x="5234302" y="8031613"/>
            <a:ext cx="3865883" cy="720347"/>
            <a:chOff x="0" y="0"/>
            <a:chExt cx="5154511" cy="960463"/>
          </a:xfrm>
        </p:grpSpPr>
        <p:sp>
          <p:nvSpPr>
            <p:cNvPr name="Freeform 34" id="34"/>
            <p:cNvSpPr/>
            <p:nvPr/>
          </p:nvSpPr>
          <p:spPr>
            <a:xfrm flipH="false" flipV="false" rot="0">
              <a:off x="16891" y="16891"/>
              <a:ext cx="5120640" cy="926592"/>
            </a:xfrm>
            <a:custGeom>
              <a:avLst/>
              <a:gdLst/>
              <a:ahLst/>
              <a:cxnLst/>
              <a:rect r="r" b="b" t="t" l="l"/>
              <a:pathLst>
                <a:path h="926592" w="5120640">
                  <a:moveTo>
                    <a:pt x="0" y="0"/>
                  </a:moveTo>
                  <a:lnTo>
                    <a:pt x="5120640" y="0"/>
                  </a:lnTo>
                  <a:lnTo>
                    <a:pt x="5120640" y="926592"/>
                  </a:lnTo>
                  <a:lnTo>
                    <a:pt x="0" y="926592"/>
                  </a:lnTo>
                  <a:close/>
                </a:path>
              </a:pathLst>
            </a:custGeom>
            <a:solidFill>
              <a:srgbClr val="7F1D1D"/>
            </a:solidFill>
          </p:spPr>
        </p:sp>
        <p:sp>
          <p:nvSpPr>
            <p:cNvPr name="Freeform 35" id="35"/>
            <p:cNvSpPr/>
            <p:nvPr/>
          </p:nvSpPr>
          <p:spPr>
            <a:xfrm flipH="false" flipV="false" rot="0">
              <a:off x="0" y="0"/>
              <a:ext cx="5154422" cy="960376"/>
            </a:xfrm>
            <a:custGeom>
              <a:avLst/>
              <a:gdLst/>
              <a:ahLst/>
              <a:cxnLst/>
              <a:rect r="r" b="b" t="t" l="l"/>
              <a:pathLst>
                <a:path h="960376" w="5154422">
                  <a:moveTo>
                    <a:pt x="16891" y="0"/>
                  </a:moveTo>
                  <a:lnTo>
                    <a:pt x="5137531" y="0"/>
                  </a:lnTo>
                  <a:cubicBezTo>
                    <a:pt x="5146929" y="0"/>
                    <a:pt x="5154422" y="7620"/>
                    <a:pt x="5154422" y="16891"/>
                  </a:cubicBezTo>
                  <a:lnTo>
                    <a:pt x="5154422" y="943483"/>
                  </a:lnTo>
                  <a:cubicBezTo>
                    <a:pt x="5154422" y="952881"/>
                    <a:pt x="5146802" y="960374"/>
                    <a:pt x="513753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5137531" y="926592"/>
                  </a:lnTo>
                  <a:lnTo>
                    <a:pt x="5137531" y="943483"/>
                  </a:lnTo>
                  <a:lnTo>
                    <a:pt x="5120640" y="943483"/>
                  </a:lnTo>
                  <a:lnTo>
                    <a:pt x="5120640" y="16891"/>
                  </a:lnTo>
                  <a:lnTo>
                    <a:pt x="5137531" y="16891"/>
                  </a:lnTo>
                  <a:lnTo>
                    <a:pt x="5137531" y="33909"/>
                  </a:lnTo>
                  <a:lnTo>
                    <a:pt x="16891" y="33909"/>
                  </a:lnTo>
                  <a:close/>
                </a:path>
              </a:pathLst>
            </a:custGeom>
            <a:solidFill>
              <a:srgbClr val="7F1D1D"/>
            </a:solidFill>
          </p:spPr>
        </p:sp>
      </p:grpSp>
      <p:grpSp>
        <p:nvGrpSpPr>
          <p:cNvPr name="Group 36" id="36"/>
          <p:cNvGrpSpPr/>
          <p:nvPr/>
        </p:nvGrpSpPr>
        <p:grpSpPr>
          <a:xfrm rot="0">
            <a:off x="5246999" y="8044310"/>
            <a:ext cx="3840480" cy="694944"/>
            <a:chOff x="0" y="0"/>
            <a:chExt cx="5120640" cy="926592"/>
          </a:xfrm>
        </p:grpSpPr>
        <p:sp>
          <p:nvSpPr>
            <p:cNvPr name="Freeform 37" id="37"/>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80" r="0" b="-57680"/>
              </a:stretch>
            </a:blipFill>
          </p:spPr>
        </p:sp>
        <p:sp>
          <p:nvSpPr>
            <p:cNvPr name="TextBox 38" id="38"/>
            <p:cNvSpPr txBox="true"/>
            <p:nvPr/>
          </p:nvSpPr>
          <p:spPr>
            <a:xfrm>
              <a:off x="0" y="-38100"/>
              <a:ext cx="5120640" cy="96469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k=6: SP500 FAIL</a:t>
              </a:r>
            </a:p>
          </p:txBody>
        </p:sp>
      </p:grpSp>
      <p:grpSp>
        <p:nvGrpSpPr>
          <p:cNvPr name="Group 39" id="39"/>
          <p:cNvGrpSpPr/>
          <p:nvPr/>
        </p:nvGrpSpPr>
        <p:grpSpPr>
          <a:xfrm rot="0">
            <a:off x="9349102" y="8031613"/>
            <a:ext cx="3865883" cy="720347"/>
            <a:chOff x="0" y="0"/>
            <a:chExt cx="5154511" cy="960463"/>
          </a:xfrm>
        </p:grpSpPr>
        <p:sp>
          <p:nvSpPr>
            <p:cNvPr name="Freeform 40" id="40"/>
            <p:cNvSpPr/>
            <p:nvPr/>
          </p:nvSpPr>
          <p:spPr>
            <a:xfrm flipH="false" flipV="false" rot="0">
              <a:off x="16891" y="16891"/>
              <a:ext cx="5120640" cy="926592"/>
            </a:xfrm>
            <a:custGeom>
              <a:avLst/>
              <a:gdLst/>
              <a:ahLst/>
              <a:cxnLst/>
              <a:rect r="r" b="b" t="t" l="l"/>
              <a:pathLst>
                <a:path h="926592" w="5120640">
                  <a:moveTo>
                    <a:pt x="0" y="0"/>
                  </a:moveTo>
                  <a:lnTo>
                    <a:pt x="5120640" y="0"/>
                  </a:lnTo>
                  <a:lnTo>
                    <a:pt x="5120640" y="926592"/>
                  </a:lnTo>
                  <a:lnTo>
                    <a:pt x="0" y="926592"/>
                  </a:lnTo>
                  <a:close/>
                </a:path>
              </a:pathLst>
            </a:custGeom>
            <a:solidFill>
              <a:srgbClr val="7F1D1D"/>
            </a:solidFill>
          </p:spPr>
        </p:sp>
        <p:sp>
          <p:nvSpPr>
            <p:cNvPr name="Freeform 41" id="41"/>
            <p:cNvSpPr/>
            <p:nvPr/>
          </p:nvSpPr>
          <p:spPr>
            <a:xfrm flipH="false" flipV="false" rot="0">
              <a:off x="0" y="0"/>
              <a:ext cx="5154422" cy="960376"/>
            </a:xfrm>
            <a:custGeom>
              <a:avLst/>
              <a:gdLst/>
              <a:ahLst/>
              <a:cxnLst/>
              <a:rect r="r" b="b" t="t" l="l"/>
              <a:pathLst>
                <a:path h="960376" w="5154422">
                  <a:moveTo>
                    <a:pt x="16891" y="0"/>
                  </a:moveTo>
                  <a:lnTo>
                    <a:pt x="5137531" y="0"/>
                  </a:lnTo>
                  <a:cubicBezTo>
                    <a:pt x="5146929" y="0"/>
                    <a:pt x="5154422" y="7620"/>
                    <a:pt x="5154422" y="16891"/>
                  </a:cubicBezTo>
                  <a:lnTo>
                    <a:pt x="5154422" y="943483"/>
                  </a:lnTo>
                  <a:cubicBezTo>
                    <a:pt x="5154422" y="952881"/>
                    <a:pt x="5146802" y="960374"/>
                    <a:pt x="513753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5137531" y="926592"/>
                  </a:lnTo>
                  <a:lnTo>
                    <a:pt x="5137531" y="943483"/>
                  </a:lnTo>
                  <a:lnTo>
                    <a:pt x="5120640" y="943483"/>
                  </a:lnTo>
                  <a:lnTo>
                    <a:pt x="5120640" y="16891"/>
                  </a:lnTo>
                  <a:lnTo>
                    <a:pt x="5137531" y="16891"/>
                  </a:lnTo>
                  <a:lnTo>
                    <a:pt x="5137531" y="33909"/>
                  </a:lnTo>
                  <a:lnTo>
                    <a:pt x="16891" y="33909"/>
                  </a:lnTo>
                  <a:close/>
                </a:path>
              </a:pathLst>
            </a:custGeom>
            <a:solidFill>
              <a:srgbClr val="7F1D1D"/>
            </a:solidFill>
          </p:spPr>
        </p:sp>
      </p:grpSp>
      <p:grpSp>
        <p:nvGrpSpPr>
          <p:cNvPr name="Group 42" id="42"/>
          <p:cNvGrpSpPr/>
          <p:nvPr/>
        </p:nvGrpSpPr>
        <p:grpSpPr>
          <a:xfrm rot="0">
            <a:off x="9361799" y="8044310"/>
            <a:ext cx="3840480" cy="694944"/>
            <a:chOff x="0" y="0"/>
            <a:chExt cx="5120640" cy="926592"/>
          </a:xfrm>
        </p:grpSpPr>
        <p:sp>
          <p:nvSpPr>
            <p:cNvPr name="Freeform 43" id="43"/>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80" r="0" b="-57680"/>
              </a:stretch>
            </a:blipFill>
          </p:spPr>
        </p:sp>
        <p:sp>
          <p:nvSpPr>
            <p:cNvPr name="TextBox 44" id="44"/>
            <p:cNvSpPr txBox="true"/>
            <p:nvPr/>
          </p:nvSpPr>
          <p:spPr>
            <a:xfrm>
              <a:off x="0" y="-38100"/>
              <a:ext cx="5120640" cy="964692"/>
            </a:xfrm>
            <a:prstGeom prst="rect">
              <a:avLst/>
            </a:prstGeom>
          </p:spPr>
          <p:txBody>
            <a:bodyPr anchor="ctr" rtlCol="false" tIns="0" lIns="0" bIns="0" rIns="0"/>
            <a:lstStyle/>
            <a:p>
              <a:pPr algn="ctr">
                <a:lnSpc>
                  <a:spcPts val="2280"/>
                </a:lnSpc>
              </a:pPr>
              <a:r>
                <a:rPr lang="en-US" sz="1900">
                  <a:solidFill>
                    <a:srgbClr val="FFFFFF"/>
                  </a:solidFill>
                  <a:latin typeface="Calibri (MS)"/>
                  <a:ea typeface="Calibri (MS)"/>
                  <a:cs typeface="Calibri (MS)"/>
                  <a:sym typeface="Calibri (MS)"/>
                </a:rPr>
                <a:t>k=7: VIX FAIL</a:t>
              </a:r>
            </a:p>
          </p:txBody>
        </p:sp>
      </p:grpSp>
      <p:grpSp>
        <p:nvGrpSpPr>
          <p:cNvPr name="Group 45" id="45"/>
          <p:cNvGrpSpPr/>
          <p:nvPr/>
        </p:nvGrpSpPr>
        <p:grpSpPr>
          <a:xfrm rot="0">
            <a:off x="13463902" y="8031613"/>
            <a:ext cx="3865883" cy="720347"/>
            <a:chOff x="0" y="0"/>
            <a:chExt cx="5154511" cy="960463"/>
          </a:xfrm>
        </p:grpSpPr>
        <p:sp>
          <p:nvSpPr>
            <p:cNvPr name="Freeform 46" id="46"/>
            <p:cNvSpPr/>
            <p:nvPr/>
          </p:nvSpPr>
          <p:spPr>
            <a:xfrm flipH="false" flipV="false" rot="0">
              <a:off x="16891" y="16891"/>
              <a:ext cx="5120640" cy="926592"/>
            </a:xfrm>
            <a:custGeom>
              <a:avLst/>
              <a:gdLst/>
              <a:ahLst/>
              <a:cxnLst/>
              <a:rect r="r" b="b" t="t" l="l"/>
              <a:pathLst>
                <a:path h="926592" w="5120640">
                  <a:moveTo>
                    <a:pt x="0" y="0"/>
                  </a:moveTo>
                  <a:lnTo>
                    <a:pt x="5120640" y="0"/>
                  </a:lnTo>
                  <a:lnTo>
                    <a:pt x="5120640" y="926592"/>
                  </a:lnTo>
                  <a:lnTo>
                    <a:pt x="0" y="926592"/>
                  </a:lnTo>
                  <a:close/>
                </a:path>
              </a:pathLst>
            </a:custGeom>
            <a:solidFill>
              <a:srgbClr val="10B981"/>
            </a:solidFill>
          </p:spPr>
        </p:sp>
        <p:sp>
          <p:nvSpPr>
            <p:cNvPr name="Freeform 47" id="47"/>
            <p:cNvSpPr/>
            <p:nvPr/>
          </p:nvSpPr>
          <p:spPr>
            <a:xfrm flipH="false" flipV="false" rot="0">
              <a:off x="0" y="0"/>
              <a:ext cx="5154422" cy="960376"/>
            </a:xfrm>
            <a:custGeom>
              <a:avLst/>
              <a:gdLst/>
              <a:ahLst/>
              <a:cxnLst/>
              <a:rect r="r" b="b" t="t" l="l"/>
              <a:pathLst>
                <a:path h="960376" w="5154422">
                  <a:moveTo>
                    <a:pt x="16891" y="0"/>
                  </a:moveTo>
                  <a:lnTo>
                    <a:pt x="5137531" y="0"/>
                  </a:lnTo>
                  <a:cubicBezTo>
                    <a:pt x="5146929" y="0"/>
                    <a:pt x="5154422" y="7620"/>
                    <a:pt x="5154422" y="16891"/>
                  </a:cubicBezTo>
                  <a:lnTo>
                    <a:pt x="5154422" y="943483"/>
                  </a:lnTo>
                  <a:cubicBezTo>
                    <a:pt x="5154422" y="952881"/>
                    <a:pt x="5146802" y="960374"/>
                    <a:pt x="513753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5137531" y="926592"/>
                  </a:lnTo>
                  <a:lnTo>
                    <a:pt x="5137531" y="943483"/>
                  </a:lnTo>
                  <a:lnTo>
                    <a:pt x="5120640" y="943483"/>
                  </a:lnTo>
                  <a:lnTo>
                    <a:pt x="5120640" y="16891"/>
                  </a:lnTo>
                  <a:lnTo>
                    <a:pt x="5137531" y="16891"/>
                  </a:lnTo>
                  <a:lnTo>
                    <a:pt x="5137531" y="33909"/>
                  </a:lnTo>
                  <a:lnTo>
                    <a:pt x="16891" y="33909"/>
                  </a:lnTo>
                  <a:close/>
                </a:path>
              </a:pathLst>
            </a:custGeom>
            <a:solidFill>
              <a:srgbClr val="10B981"/>
            </a:solidFill>
          </p:spPr>
        </p:sp>
      </p:grpSp>
      <p:grpSp>
        <p:nvGrpSpPr>
          <p:cNvPr name="Group 48" id="48"/>
          <p:cNvGrpSpPr/>
          <p:nvPr/>
        </p:nvGrpSpPr>
        <p:grpSpPr>
          <a:xfrm rot="0">
            <a:off x="13476599" y="8044310"/>
            <a:ext cx="3840480" cy="694944"/>
            <a:chOff x="0" y="0"/>
            <a:chExt cx="5120640" cy="926592"/>
          </a:xfrm>
        </p:grpSpPr>
        <p:sp>
          <p:nvSpPr>
            <p:cNvPr name="Freeform 49" id="49"/>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80" r="0" b="-57680"/>
              </a:stretch>
            </a:blipFill>
          </p:spPr>
        </p:sp>
        <p:sp>
          <p:nvSpPr>
            <p:cNvPr name="TextBox 50" id="50"/>
            <p:cNvSpPr txBox="true"/>
            <p:nvPr/>
          </p:nvSpPr>
          <p:spPr>
            <a:xfrm>
              <a:off x="0" y="-38100"/>
              <a:ext cx="5120640" cy="964692"/>
            </a:xfrm>
            <a:prstGeom prst="rect">
              <a:avLst/>
            </a:prstGeom>
          </p:spPr>
          <p:txBody>
            <a:bodyPr anchor="ctr" rtlCol="false" tIns="0" lIns="0" bIns="0" rIns="0"/>
            <a:lstStyle/>
            <a:p>
              <a:pPr algn="ctr">
                <a:lnSpc>
                  <a:spcPts val="2280"/>
                </a:lnSpc>
              </a:pPr>
              <a:r>
                <a:rPr lang="en-US" sz="1900" b="true">
                  <a:solidFill>
                    <a:srgbClr val="FFFFFF"/>
                  </a:solidFill>
                  <a:latin typeface="Calibri (MS) Bold"/>
                  <a:ea typeface="Calibri (MS) Bold"/>
                  <a:cs typeface="Calibri (MS) Bold"/>
                  <a:sym typeface="Calibri (MS) Bold"/>
                </a:rPr>
                <a:t>k=8: All Pass ✓</a:t>
              </a:r>
            </a:p>
          </p:txBody>
        </p:sp>
      </p:grpSp>
      <p:grpSp>
        <p:nvGrpSpPr>
          <p:cNvPr name="Group 51" id="51"/>
          <p:cNvGrpSpPr/>
          <p:nvPr/>
        </p:nvGrpSpPr>
        <p:grpSpPr>
          <a:xfrm rot="0">
            <a:off x="914400" y="289055"/>
            <a:ext cx="1031243" cy="1031243"/>
            <a:chOff x="0" y="0"/>
            <a:chExt cx="1374991" cy="1374991"/>
          </a:xfrm>
        </p:grpSpPr>
        <p:sp>
          <p:nvSpPr>
            <p:cNvPr name="Freeform 52" id="52"/>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53" id="53"/>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54" id="54"/>
          <p:cNvGrpSpPr/>
          <p:nvPr/>
        </p:nvGrpSpPr>
        <p:grpSpPr>
          <a:xfrm rot="0">
            <a:off x="927097" y="301752"/>
            <a:ext cx="1005840" cy="1005840"/>
            <a:chOff x="0" y="0"/>
            <a:chExt cx="1341120" cy="1341120"/>
          </a:xfrm>
        </p:grpSpPr>
        <p:sp>
          <p:nvSpPr>
            <p:cNvPr name="Freeform 55" id="5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56" id="5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03</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0058"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492754"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2 · VECM</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VECM Results &amp; Diagnostics </a:t>
              </a:r>
            </a:p>
          </p:txBody>
        </p:sp>
      </p:grpSp>
      <p:grpSp>
        <p:nvGrpSpPr>
          <p:cNvPr name="Group 11" id="11"/>
          <p:cNvGrpSpPr/>
          <p:nvPr/>
        </p:nvGrpSpPr>
        <p:grpSpPr>
          <a:xfrm rot="0">
            <a:off x="901703" y="2970528"/>
            <a:ext cx="8072123" cy="3688414"/>
            <a:chOff x="0" y="0"/>
            <a:chExt cx="10762831" cy="4917886"/>
          </a:xfrm>
        </p:grpSpPr>
        <p:sp>
          <p:nvSpPr>
            <p:cNvPr name="Freeform 12" id="12"/>
            <p:cNvSpPr/>
            <p:nvPr/>
          </p:nvSpPr>
          <p:spPr>
            <a:xfrm flipH="false" flipV="false" rot="0">
              <a:off x="16891" y="13287"/>
              <a:ext cx="10728960" cy="4891242"/>
            </a:xfrm>
            <a:custGeom>
              <a:avLst/>
              <a:gdLst/>
              <a:ahLst/>
              <a:cxnLst/>
              <a:rect r="r" b="b" t="t" l="l"/>
              <a:pathLst>
                <a:path h="4891242" w="10728960">
                  <a:moveTo>
                    <a:pt x="0" y="0"/>
                  </a:moveTo>
                  <a:lnTo>
                    <a:pt x="10728960" y="0"/>
                  </a:lnTo>
                  <a:lnTo>
                    <a:pt x="10728960" y="4891242"/>
                  </a:lnTo>
                  <a:lnTo>
                    <a:pt x="0" y="4891242"/>
                  </a:lnTo>
                  <a:close/>
                </a:path>
              </a:pathLst>
            </a:custGeom>
            <a:solidFill>
              <a:srgbClr val="E8F0FE"/>
            </a:solidFill>
          </p:spPr>
        </p:sp>
        <p:sp>
          <p:nvSpPr>
            <p:cNvPr name="Freeform 13" id="13"/>
            <p:cNvSpPr/>
            <p:nvPr/>
          </p:nvSpPr>
          <p:spPr>
            <a:xfrm flipH="false" flipV="false" rot="0">
              <a:off x="0" y="0"/>
              <a:ext cx="10762742" cy="4917816"/>
            </a:xfrm>
            <a:custGeom>
              <a:avLst/>
              <a:gdLst/>
              <a:ahLst/>
              <a:cxnLst/>
              <a:rect r="r" b="b" t="t" l="l"/>
              <a:pathLst>
                <a:path h="4917816" w="10762742">
                  <a:moveTo>
                    <a:pt x="16891" y="0"/>
                  </a:moveTo>
                  <a:lnTo>
                    <a:pt x="10745851" y="0"/>
                  </a:lnTo>
                  <a:cubicBezTo>
                    <a:pt x="10755249" y="0"/>
                    <a:pt x="10762742" y="5994"/>
                    <a:pt x="10762742" y="13287"/>
                  </a:cubicBezTo>
                  <a:lnTo>
                    <a:pt x="10762742" y="4904529"/>
                  </a:lnTo>
                  <a:cubicBezTo>
                    <a:pt x="10762742" y="4911922"/>
                    <a:pt x="10755122" y="4917816"/>
                    <a:pt x="10745851" y="4917816"/>
                  </a:cubicBezTo>
                  <a:lnTo>
                    <a:pt x="16891" y="4917816"/>
                  </a:lnTo>
                  <a:cubicBezTo>
                    <a:pt x="7493" y="4917816"/>
                    <a:pt x="0" y="4911822"/>
                    <a:pt x="0" y="4904529"/>
                  </a:cubicBezTo>
                  <a:lnTo>
                    <a:pt x="0" y="13287"/>
                  </a:lnTo>
                  <a:cubicBezTo>
                    <a:pt x="0" y="5994"/>
                    <a:pt x="7620" y="0"/>
                    <a:pt x="16891" y="0"/>
                  </a:cubicBezTo>
                  <a:moveTo>
                    <a:pt x="16891" y="26674"/>
                  </a:moveTo>
                  <a:lnTo>
                    <a:pt x="16891" y="13287"/>
                  </a:lnTo>
                  <a:lnTo>
                    <a:pt x="33909" y="13287"/>
                  </a:lnTo>
                  <a:lnTo>
                    <a:pt x="33909" y="4904529"/>
                  </a:lnTo>
                  <a:lnTo>
                    <a:pt x="16891" y="4904529"/>
                  </a:lnTo>
                  <a:lnTo>
                    <a:pt x="16891" y="4891242"/>
                  </a:lnTo>
                  <a:lnTo>
                    <a:pt x="10745851" y="4891242"/>
                  </a:lnTo>
                  <a:lnTo>
                    <a:pt x="10745851" y="4904529"/>
                  </a:lnTo>
                  <a:lnTo>
                    <a:pt x="10728960" y="4904529"/>
                  </a:lnTo>
                  <a:lnTo>
                    <a:pt x="10728960" y="13287"/>
                  </a:lnTo>
                  <a:lnTo>
                    <a:pt x="10745851" y="13287"/>
                  </a:lnTo>
                  <a:lnTo>
                    <a:pt x="10745851" y="26674"/>
                  </a:lnTo>
                  <a:lnTo>
                    <a:pt x="16891" y="26674"/>
                  </a:lnTo>
                  <a:close/>
                </a:path>
              </a:pathLst>
            </a:custGeom>
            <a:solidFill>
              <a:srgbClr val="CADCFC"/>
            </a:solidFill>
          </p:spPr>
        </p:sp>
      </p:grpSp>
      <p:grpSp>
        <p:nvGrpSpPr>
          <p:cNvPr name="Group 14" id="14"/>
          <p:cNvGrpSpPr/>
          <p:nvPr/>
        </p:nvGrpSpPr>
        <p:grpSpPr>
          <a:xfrm rot="0">
            <a:off x="1181100" y="3111241"/>
            <a:ext cx="7498080" cy="512064"/>
            <a:chOff x="0" y="0"/>
            <a:chExt cx="9997440" cy="682752"/>
          </a:xfrm>
        </p:grpSpPr>
        <p:sp>
          <p:nvSpPr>
            <p:cNvPr name="Freeform 15" id="15"/>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16" id="16"/>
            <p:cNvSpPr txBox="true"/>
            <p:nvPr/>
          </p:nvSpPr>
          <p:spPr>
            <a:xfrm>
              <a:off x="0" y="-38100"/>
              <a:ext cx="9997440" cy="720852"/>
            </a:xfrm>
            <a:prstGeom prst="rect">
              <a:avLst/>
            </a:prstGeom>
          </p:spPr>
          <p:txBody>
            <a:bodyPr anchor="ctr" rtlCol="false" tIns="0" lIns="0" bIns="0" rIns="0"/>
            <a:lstStyle/>
            <a:p>
              <a:pPr algn="ctr">
                <a:lnSpc>
                  <a:spcPts val="2879"/>
                </a:lnSpc>
              </a:pPr>
              <a:r>
                <a:rPr lang="en-US" sz="2400" b="true">
                  <a:solidFill>
                    <a:srgbClr val="1E2761"/>
                  </a:solidFill>
                  <a:latin typeface="Calibri (MS) Bold"/>
                  <a:ea typeface="Calibri (MS) Bold"/>
                  <a:cs typeface="Calibri (MS) Bold"/>
                  <a:sym typeface="Calibri (MS) Bold"/>
                </a:rPr>
                <a:t>Key VECM Coefficients — MSFT Equation</a:t>
              </a:r>
            </a:p>
          </p:txBody>
        </p:sp>
      </p:grpSp>
      <p:graphicFrame>
        <p:nvGraphicFramePr>
          <p:cNvPr name="Table 17" id="17"/>
          <p:cNvGraphicFramePr>
            <a:graphicFrameLocks noGrp="true"/>
          </p:cNvGraphicFramePr>
          <p:nvPr/>
        </p:nvGraphicFramePr>
        <p:xfrm>
          <a:off x="1005840" y="3769609"/>
          <a:ext cx="7848600" cy="2540000"/>
        </p:xfrm>
        <a:graphic>
          <a:graphicData uri="http://schemas.openxmlformats.org/drawingml/2006/table">
            <a:tbl>
              <a:tblPr/>
              <a:tblGrid>
                <a:gridCol w="2917490"/>
                <a:gridCol w="2194394"/>
                <a:gridCol w="2736716"/>
              </a:tblGrid>
              <a:tr h="508000">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Coefficient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p-value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5080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L1.VIX</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+0.2301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080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L2.MSFT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−0.0785</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0.003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080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L3.SP500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−0.0146</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080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L5.MSFT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+0.0559</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F59E0B"/>
                          </a:solidFill>
                          <a:latin typeface="Calibri (MS) Bold"/>
                          <a:ea typeface="Calibri (MS) Bold"/>
                          <a:cs typeface="Calibri (MS) Bold"/>
                          <a:sym typeface="Calibri (MS) Bold"/>
                        </a:rPr>
                        <a:t>0.037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bl>
          </a:graphicData>
        </a:graphic>
      </p:graphicFrame>
      <p:grpSp>
        <p:nvGrpSpPr>
          <p:cNvPr name="Group 18" id="18"/>
          <p:cNvGrpSpPr/>
          <p:nvPr/>
        </p:nvGrpSpPr>
        <p:grpSpPr>
          <a:xfrm rot="0">
            <a:off x="914400" y="7163768"/>
            <a:ext cx="8059426" cy="1594258"/>
            <a:chOff x="0" y="0"/>
            <a:chExt cx="2122647" cy="419887"/>
          </a:xfrm>
        </p:grpSpPr>
        <p:sp>
          <p:nvSpPr>
            <p:cNvPr name="Freeform 19" id="19"/>
            <p:cNvSpPr/>
            <p:nvPr/>
          </p:nvSpPr>
          <p:spPr>
            <a:xfrm flipH="false" flipV="false" rot="0">
              <a:off x="0" y="0"/>
              <a:ext cx="2122647" cy="419887"/>
            </a:xfrm>
            <a:custGeom>
              <a:avLst/>
              <a:gdLst/>
              <a:ahLst/>
              <a:cxnLst/>
              <a:rect r="r" b="b" t="t" l="l"/>
              <a:pathLst>
                <a:path h="419887" w="2122647">
                  <a:moveTo>
                    <a:pt x="0" y="0"/>
                  </a:moveTo>
                  <a:lnTo>
                    <a:pt x="2122647" y="0"/>
                  </a:lnTo>
                  <a:lnTo>
                    <a:pt x="2122647" y="419887"/>
                  </a:lnTo>
                  <a:lnTo>
                    <a:pt x="0" y="419887"/>
                  </a:lnTo>
                  <a:close/>
                </a:path>
              </a:pathLst>
            </a:custGeom>
            <a:solidFill>
              <a:srgbClr val="FEF3C7"/>
            </a:solidFill>
          </p:spPr>
        </p:sp>
        <p:sp>
          <p:nvSpPr>
            <p:cNvPr name="TextBox 20" id="20"/>
            <p:cNvSpPr txBox="true"/>
            <p:nvPr/>
          </p:nvSpPr>
          <p:spPr>
            <a:xfrm>
              <a:off x="0" y="-38100"/>
              <a:ext cx="2122647" cy="457987"/>
            </a:xfrm>
            <a:prstGeom prst="rect">
              <a:avLst/>
            </a:prstGeom>
          </p:spPr>
          <p:txBody>
            <a:bodyPr anchor="ctr" rtlCol="false" tIns="50800" lIns="50800" bIns="50800" rIns="50800"/>
            <a:lstStyle/>
            <a:p>
              <a:pPr algn="ctr">
                <a:lnSpc>
                  <a:spcPts val="2400"/>
                </a:lnSpc>
              </a:pPr>
            </a:p>
          </p:txBody>
        </p:sp>
      </p:grpSp>
      <p:grpSp>
        <p:nvGrpSpPr>
          <p:cNvPr name="Group 21" id="21"/>
          <p:cNvGrpSpPr/>
          <p:nvPr/>
        </p:nvGrpSpPr>
        <p:grpSpPr>
          <a:xfrm rot="0">
            <a:off x="1195073" y="7326137"/>
            <a:ext cx="7498080" cy="1279698"/>
            <a:chOff x="0" y="0"/>
            <a:chExt cx="9997440" cy="1706265"/>
          </a:xfrm>
        </p:grpSpPr>
        <p:sp>
          <p:nvSpPr>
            <p:cNvPr name="Freeform 22" id="22"/>
            <p:cNvSpPr/>
            <p:nvPr/>
          </p:nvSpPr>
          <p:spPr>
            <a:xfrm flipH="false" flipV="false" rot="0">
              <a:off x="0" y="0"/>
              <a:ext cx="9997440" cy="1706264"/>
            </a:xfrm>
            <a:custGeom>
              <a:avLst/>
              <a:gdLst/>
              <a:ahLst/>
              <a:cxnLst/>
              <a:rect r="r" b="b" t="t" l="l"/>
              <a:pathLst>
                <a:path h="1706264" w="9997440">
                  <a:moveTo>
                    <a:pt x="0" y="0"/>
                  </a:moveTo>
                  <a:lnTo>
                    <a:pt x="9997440" y="0"/>
                  </a:lnTo>
                  <a:lnTo>
                    <a:pt x="9997440" y="1706264"/>
                  </a:lnTo>
                  <a:lnTo>
                    <a:pt x="0" y="1706264"/>
                  </a:lnTo>
                  <a:close/>
                </a:path>
              </a:pathLst>
            </a:custGeom>
            <a:blipFill>
              <a:blip r:embed="rId3">
                <a:alphaModFix amt="0"/>
              </a:blip>
              <a:stretch>
                <a:fillRect l="0" t="-74867" r="0" b="-53467"/>
              </a:stretch>
            </a:blipFill>
          </p:spPr>
        </p:sp>
        <p:sp>
          <p:nvSpPr>
            <p:cNvPr name="TextBox 23" id="23"/>
            <p:cNvSpPr txBox="true"/>
            <p:nvPr/>
          </p:nvSpPr>
          <p:spPr>
            <a:xfrm>
              <a:off x="0" y="-47625"/>
              <a:ext cx="9997440" cy="1753890"/>
            </a:xfrm>
            <a:prstGeom prst="rect">
              <a:avLst/>
            </a:prstGeom>
          </p:spPr>
          <p:txBody>
            <a:bodyPr anchor="ctr" rtlCol="false" tIns="0" lIns="0" bIns="0" rIns="0"/>
            <a:lstStyle/>
            <a:p>
              <a:pPr algn="l">
                <a:lnSpc>
                  <a:spcPts val="2399"/>
                </a:lnSpc>
              </a:pPr>
              <a:r>
                <a:rPr lang="en-US" sz="1999">
                  <a:solidFill>
                    <a:srgbClr val="334155"/>
                  </a:solidFill>
                  <a:latin typeface="Calibri (MS)"/>
                  <a:ea typeface="Calibri (MS)"/>
                  <a:cs typeface="Calibri (MS)"/>
                  <a:sym typeface="Calibri (MS)"/>
                </a:rPr>
                <a:t>L1.VIX: +0.23 → VIX spike leads to short-run MSFT price uptick (mean-reversion)</a:t>
              </a:r>
            </a:p>
            <a:p>
              <a:pPr algn="l">
                <a:lnSpc>
                  <a:spcPts val="2399"/>
                </a:lnSpc>
              </a:pPr>
              <a:r>
                <a:rPr lang="en-US" sz="1999">
                  <a:solidFill>
                    <a:srgbClr val="334155"/>
                  </a:solidFill>
                  <a:latin typeface="Calibri (MS)"/>
                  <a:ea typeface="Calibri (MS)"/>
                  <a:cs typeface="Calibri (MS)"/>
                  <a:sym typeface="Calibri (MS)"/>
                </a:rPr>
                <a:t>L2.MSFT: −0.08 → Mild own-lag mean reversion</a:t>
              </a:r>
            </a:p>
            <a:p>
              <a:pPr algn="l">
                <a:lnSpc>
                  <a:spcPts val="2399"/>
                </a:lnSpc>
              </a:pPr>
              <a:r>
                <a:rPr lang="en-US" sz="1999">
                  <a:solidFill>
                    <a:srgbClr val="334155"/>
                  </a:solidFill>
                  <a:latin typeface="Calibri (MS)"/>
                  <a:ea typeface="Calibri (MS)"/>
                  <a:cs typeface="Calibri (MS)"/>
                  <a:sym typeface="Calibri (MS)"/>
                </a:rPr>
                <a:t>L3.SP500: −0.015 → Short-run SP500 correction feeds into MSFT</a:t>
              </a:r>
            </a:p>
          </p:txBody>
        </p:sp>
      </p:grpSp>
      <p:grpSp>
        <p:nvGrpSpPr>
          <p:cNvPr name="Group 24" id="24"/>
          <p:cNvGrpSpPr/>
          <p:nvPr/>
        </p:nvGrpSpPr>
        <p:grpSpPr>
          <a:xfrm rot="0">
            <a:off x="901703" y="289055"/>
            <a:ext cx="1031243" cy="1031243"/>
            <a:chOff x="0" y="0"/>
            <a:chExt cx="1374991" cy="1374991"/>
          </a:xfrm>
        </p:grpSpPr>
        <p:sp>
          <p:nvSpPr>
            <p:cNvPr name="Freeform 25" id="25"/>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26" id="26"/>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27" id="27"/>
          <p:cNvGrpSpPr/>
          <p:nvPr/>
        </p:nvGrpSpPr>
        <p:grpSpPr>
          <a:xfrm rot="0">
            <a:off x="914400" y="301752"/>
            <a:ext cx="1005840" cy="1005840"/>
            <a:chOff x="0" y="0"/>
            <a:chExt cx="1341120" cy="1341120"/>
          </a:xfrm>
        </p:grpSpPr>
        <p:sp>
          <p:nvSpPr>
            <p:cNvPr name="Freeform 28" id="28"/>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29" id="29"/>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03</a:t>
              </a:r>
            </a:p>
          </p:txBody>
        </p:sp>
      </p:grpSp>
      <p:grpSp>
        <p:nvGrpSpPr>
          <p:cNvPr name="Group 30" id="30"/>
          <p:cNvGrpSpPr/>
          <p:nvPr/>
        </p:nvGrpSpPr>
        <p:grpSpPr>
          <a:xfrm rot="0">
            <a:off x="9288780" y="2980053"/>
            <a:ext cx="8084820" cy="5787498"/>
            <a:chOff x="0" y="0"/>
            <a:chExt cx="10779760" cy="7716664"/>
          </a:xfrm>
        </p:grpSpPr>
        <p:sp>
          <p:nvSpPr>
            <p:cNvPr name="Freeform 31" id="31"/>
            <p:cNvSpPr/>
            <p:nvPr/>
          </p:nvSpPr>
          <p:spPr>
            <a:xfrm flipH="false" flipV="false" rot="0">
              <a:off x="25400" y="51172"/>
              <a:ext cx="10728960" cy="7614321"/>
            </a:xfrm>
            <a:custGeom>
              <a:avLst/>
              <a:gdLst/>
              <a:ahLst/>
              <a:cxnLst/>
              <a:rect r="r" b="b" t="t" l="l"/>
              <a:pathLst>
                <a:path h="7614321" w="10728960">
                  <a:moveTo>
                    <a:pt x="0" y="0"/>
                  </a:moveTo>
                  <a:lnTo>
                    <a:pt x="10728960" y="0"/>
                  </a:lnTo>
                  <a:lnTo>
                    <a:pt x="10728960" y="7614321"/>
                  </a:lnTo>
                  <a:lnTo>
                    <a:pt x="0" y="7614321"/>
                  </a:lnTo>
                  <a:close/>
                </a:path>
              </a:pathLst>
            </a:custGeom>
            <a:solidFill>
              <a:srgbClr val="FFFFFF"/>
            </a:solidFill>
          </p:spPr>
        </p:sp>
        <p:sp>
          <p:nvSpPr>
            <p:cNvPr name="Freeform 32" id="32"/>
            <p:cNvSpPr/>
            <p:nvPr/>
          </p:nvSpPr>
          <p:spPr>
            <a:xfrm flipH="false" flipV="false" rot="0">
              <a:off x="0" y="0"/>
              <a:ext cx="10779760" cy="7716664"/>
            </a:xfrm>
            <a:custGeom>
              <a:avLst/>
              <a:gdLst/>
              <a:ahLst/>
              <a:cxnLst/>
              <a:rect r="r" b="b" t="t" l="l"/>
              <a:pathLst>
                <a:path h="7716664" w="10779760">
                  <a:moveTo>
                    <a:pt x="25400" y="0"/>
                  </a:moveTo>
                  <a:lnTo>
                    <a:pt x="10754360" y="0"/>
                  </a:lnTo>
                  <a:cubicBezTo>
                    <a:pt x="10768330" y="0"/>
                    <a:pt x="10779760" y="23027"/>
                    <a:pt x="10779760" y="51172"/>
                  </a:cubicBezTo>
                  <a:lnTo>
                    <a:pt x="10779760" y="7665493"/>
                  </a:lnTo>
                  <a:cubicBezTo>
                    <a:pt x="10779760" y="7693637"/>
                    <a:pt x="10768330" y="7716664"/>
                    <a:pt x="10754360" y="7716664"/>
                  </a:cubicBezTo>
                  <a:lnTo>
                    <a:pt x="25400" y="7716664"/>
                  </a:lnTo>
                  <a:cubicBezTo>
                    <a:pt x="11430" y="7716664"/>
                    <a:pt x="0" y="7693637"/>
                    <a:pt x="0" y="7665493"/>
                  </a:cubicBezTo>
                  <a:lnTo>
                    <a:pt x="0" y="51172"/>
                  </a:lnTo>
                  <a:cubicBezTo>
                    <a:pt x="0" y="23027"/>
                    <a:pt x="11430" y="0"/>
                    <a:pt x="25400" y="0"/>
                  </a:cubicBezTo>
                  <a:moveTo>
                    <a:pt x="25400" y="102343"/>
                  </a:moveTo>
                  <a:lnTo>
                    <a:pt x="25400" y="51172"/>
                  </a:lnTo>
                  <a:lnTo>
                    <a:pt x="50800" y="51172"/>
                  </a:lnTo>
                  <a:lnTo>
                    <a:pt x="50800" y="7665493"/>
                  </a:lnTo>
                  <a:lnTo>
                    <a:pt x="25400" y="7665493"/>
                  </a:lnTo>
                  <a:lnTo>
                    <a:pt x="25400" y="7614321"/>
                  </a:lnTo>
                  <a:lnTo>
                    <a:pt x="10754360" y="7614321"/>
                  </a:lnTo>
                  <a:lnTo>
                    <a:pt x="10754360" y="7665493"/>
                  </a:lnTo>
                  <a:lnTo>
                    <a:pt x="10728960" y="7665493"/>
                  </a:lnTo>
                  <a:lnTo>
                    <a:pt x="10728960" y="51172"/>
                  </a:lnTo>
                  <a:lnTo>
                    <a:pt x="10754360" y="51172"/>
                  </a:lnTo>
                  <a:lnTo>
                    <a:pt x="10754360" y="102343"/>
                  </a:lnTo>
                  <a:lnTo>
                    <a:pt x="25400" y="102343"/>
                  </a:lnTo>
                  <a:close/>
                </a:path>
              </a:pathLst>
            </a:custGeom>
            <a:solidFill>
              <a:srgbClr val="CADCFC"/>
            </a:solidFill>
          </p:spPr>
        </p:sp>
      </p:grpSp>
      <p:grpSp>
        <p:nvGrpSpPr>
          <p:cNvPr name="Group 33" id="33"/>
          <p:cNvGrpSpPr/>
          <p:nvPr/>
        </p:nvGrpSpPr>
        <p:grpSpPr>
          <a:xfrm rot="0">
            <a:off x="9601200" y="3135882"/>
            <a:ext cx="7680960" cy="512064"/>
            <a:chOff x="0" y="0"/>
            <a:chExt cx="10241280" cy="682752"/>
          </a:xfrm>
        </p:grpSpPr>
        <p:sp>
          <p:nvSpPr>
            <p:cNvPr name="Freeform 34" id="34"/>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35" id="35"/>
            <p:cNvSpPr txBox="true"/>
            <p:nvPr/>
          </p:nvSpPr>
          <p:spPr>
            <a:xfrm>
              <a:off x="0" y="-47625"/>
              <a:ext cx="10241280" cy="730377"/>
            </a:xfrm>
            <a:prstGeom prst="rect">
              <a:avLst/>
            </a:prstGeom>
          </p:spPr>
          <p:txBody>
            <a:bodyPr anchor="ctr" rtlCol="false" tIns="0" lIns="0" bIns="0" rIns="0"/>
            <a:lstStyle/>
            <a:p>
              <a:pPr algn="ctr">
                <a:lnSpc>
                  <a:spcPts val="2999"/>
                </a:lnSpc>
              </a:pPr>
              <a:r>
                <a:rPr lang="en-US" sz="2499" b="true">
                  <a:solidFill>
                    <a:srgbClr val="10B981"/>
                  </a:solidFill>
                  <a:latin typeface="Calibri (MS) Bold"/>
                  <a:ea typeface="Calibri (MS) Bold"/>
                  <a:cs typeface="Calibri (MS) Bold"/>
                  <a:sym typeface="Calibri (MS) Bold"/>
                </a:rPr>
                <a:t>VECM Residual Diagnostics (Ljung-Box Test at Lag 10)</a:t>
              </a:r>
            </a:p>
          </p:txBody>
        </p:sp>
      </p:grpSp>
      <p:sp>
        <p:nvSpPr>
          <p:cNvPr name="AutoShape 36" id="36"/>
          <p:cNvSpPr/>
          <p:nvPr/>
        </p:nvSpPr>
        <p:spPr>
          <a:xfrm flipV="true">
            <a:off x="9426892" y="3005351"/>
            <a:ext cx="0" cy="5752676"/>
          </a:xfrm>
          <a:prstGeom prst="line">
            <a:avLst/>
          </a:prstGeom>
          <a:ln cap="flat" w="238125">
            <a:solidFill>
              <a:srgbClr val="00BF63"/>
            </a:solidFill>
            <a:prstDash val="solid"/>
            <a:headEnd type="none" len="sm" w="sm"/>
            <a:tailEnd type="none" len="sm" w="sm"/>
          </a:ln>
        </p:spPr>
      </p:sp>
      <p:grpSp>
        <p:nvGrpSpPr>
          <p:cNvPr name="Group 37" id="37"/>
          <p:cNvGrpSpPr/>
          <p:nvPr/>
        </p:nvGrpSpPr>
        <p:grpSpPr>
          <a:xfrm rot="0">
            <a:off x="10003155" y="3862355"/>
            <a:ext cx="3134363" cy="1342139"/>
            <a:chOff x="0" y="0"/>
            <a:chExt cx="4179151" cy="1789519"/>
          </a:xfrm>
        </p:grpSpPr>
        <p:sp>
          <p:nvSpPr>
            <p:cNvPr name="Freeform 38" id="38"/>
            <p:cNvSpPr/>
            <p:nvPr/>
          </p:nvSpPr>
          <p:spPr>
            <a:xfrm flipH="false" flipV="false" rot="0">
              <a:off x="16891" y="16891"/>
              <a:ext cx="4145280" cy="1755648"/>
            </a:xfrm>
            <a:custGeom>
              <a:avLst/>
              <a:gdLst/>
              <a:ahLst/>
              <a:cxnLst/>
              <a:rect r="r" b="b" t="t" l="l"/>
              <a:pathLst>
                <a:path h="1755648" w="4145280">
                  <a:moveTo>
                    <a:pt x="0" y="0"/>
                  </a:moveTo>
                  <a:lnTo>
                    <a:pt x="4145280" y="0"/>
                  </a:lnTo>
                  <a:lnTo>
                    <a:pt x="4145280" y="1755648"/>
                  </a:lnTo>
                  <a:lnTo>
                    <a:pt x="0" y="1755648"/>
                  </a:lnTo>
                  <a:close/>
                </a:path>
              </a:pathLst>
            </a:custGeom>
            <a:solidFill>
              <a:srgbClr val="E8F0FE"/>
            </a:solidFill>
          </p:spPr>
        </p:sp>
        <p:sp>
          <p:nvSpPr>
            <p:cNvPr name="Freeform 39" id="39"/>
            <p:cNvSpPr/>
            <p:nvPr/>
          </p:nvSpPr>
          <p:spPr>
            <a:xfrm flipH="false" flipV="false" rot="0">
              <a:off x="0" y="0"/>
              <a:ext cx="4179062" cy="1789430"/>
            </a:xfrm>
            <a:custGeom>
              <a:avLst/>
              <a:gdLst/>
              <a:ahLst/>
              <a:cxnLst/>
              <a:rect r="r" b="b" t="t" l="l"/>
              <a:pathLst>
                <a:path h="1789430" w="4179062">
                  <a:moveTo>
                    <a:pt x="16891" y="0"/>
                  </a:moveTo>
                  <a:lnTo>
                    <a:pt x="4162171" y="0"/>
                  </a:lnTo>
                  <a:cubicBezTo>
                    <a:pt x="4171569" y="0"/>
                    <a:pt x="4179062" y="7620"/>
                    <a:pt x="4179062" y="16891"/>
                  </a:cubicBezTo>
                  <a:lnTo>
                    <a:pt x="4179062" y="1772539"/>
                  </a:lnTo>
                  <a:cubicBezTo>
                    <a:pt x="4179062" y="1781937"/>
                    <a:pt x="4171442" y="1789430"/>
                    <a:pt x="4162171"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4162171" y="1755648"/>
                  </a:lnTo>
                  <a:lnTo>
                    <a:pt x="4162171" y="1772539"/>
                  </a:lnTo>
                  <a:lnTo>
                    <a:pt x="4145280" y="1772539"/>
                  </a:lnTo>
                  <a:lnTo>
                    <a:pt x="4145280" y="16891"/>
                  </a:lnTo>
                  <a:lnTo>
                    <a:pt x="4162171" y="16891"/>
                  </a:lnTo>
                  <a:lnTo>
                    <a:pt x="4162171" y="33909"/>
                  </a:lnTo>
                  <a:lnTo>
                    <a:pt x="16891" y="33909"/>
                  </a:lnTo>
                  <a:close/>
                </a:path>
              </a:pathLst>
            </a:custGeom>
            <a:solidFill>
              <a:srgbClr val="CADCFC"/>
            </a:solidFill>
          </p:spPr>
        </p:sp>
      </p:grpSp>
      <p:grpSp>
        <p:nvGrpSpPr>
          <p:cNvPr name="Group 40" id="40"/>
          <p:cNvGrpSpPr/>
          <p:nvPr/>
        </p:nvGrpSpPr>
        <p:grpSpPr>
          <a:xfrm rot="0">
            <a:off x="10015852" y="3948204"/>
            <a:ext cx="3108960" cy="512064"/>
            <a:chOff x="0" y="0"/>
            <a:chExt cx="4145280" cy="682752"/>
          </a:xfrm>
        </p:grpSpPr>
        <p:sp>
          <p:nvSpPr>
            <p:cNvPr name="Freeform 41" id="41"/>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42" id="42"/>
            <p:cNvSpPr txBox="true"/>
            <p:nvPr/>
          </p:nvSpPr>
          <p:spPr>
            <a:xfrm>
              <a:off x="0" y="-38100"/>
              <a:ext cx="4145280" cy="720852"/>
            </a:xfrm>
            <a:prstGeom prst="rect">
              <a:avLst/>
            </a:prstGeom>
          </p:spPr>
          <p:txBody>
            <a:bodyPr anchor="ctr" rtlCol="false" tIns="0" lIns="0" bIns="0" rIns="0"/>
            <a:lstStyle/>
            <a:p>
              <a:pPr algn="ctr">
                <a:lnSpc>
                  <a:spcPts val="2400"/>
                </a:lnSpc>
              </a:pPr>
              <a:r>
                <a:rPr lang="en-US" sz="2000" b="true">
                  <a:solidFill>
                    <a:srgbClr val="000000"/>
                  </a:solidFill>
                  <a:latin typeface="Calibri (MS) Bold"/>
                  <a:ea typeface="Calibri (MS) Bold"/>
                  <a:cs typeface="Calibri (MS) Bold"/>
                  <a:sym typeface="Calibri (MS) Bold"/>
                </a:rPr>
                <a:t>MSFT Resid</a:t>
              </a:r>
            </a:p>
          </p:txBody>
        </p:sp>
      </p:grpSp>
      <p:grpSp>
        <p:nvGrpSpPr>
          <p:cNvPr name="Group 43" id="43"/>
          <p:cNvGrpSpPr/>
          <p:nvPr/>
        </p:nvGrpSpPr>
        <p:grpSpPr>
          <a:xfrm rot="0">
            <a:off x="10015852" y="4423692"/>
            <a:ext cx="3108960" cy="585216"/>
            <a:chOff x="0" y="0"/>
            <a:chExt cx="4145280" cy="780288"/>
          </a:xfrm>
        </p:grpSpPr>
        <p:sp>
          <p:nvSpPr>
            <p:cNvPr name="Freeform 44" id="44"/>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3">
                <a:alphaModFix amt="0"/>
              </a:blip>
              <a:stretch>
                <a:fillRect l="0" t="-53514" r="0" b="-53514"/>
              </a:stretch>
            </a:blipFill>
          </p:spPr>
        </p:sp>
        <p:sp>
          <p:nvSpPr>
            <p:cNvPr name="TextBox 45" id="45"/>
            <p:cNvSpPr txBox="true"/>
            <p:nvPr/>
          </p:nvSpPr>
          <p:spPr>
            <a:xfrm>
              <a:off x="0" y="-38100"/>
              <a:ext cx="4145280" cy="818388"/>
            </a:xfrm>
            <a:prstGeom prst="rect">
              <a:avLst/>
            </a:prstGeom>
          </p:spPr>
          <p:txBody>
            <a:bodyPr anchor="ctr" rtlCol="false" tIns="0" lIns="0" bIns="0" rIns="0"/>
            <a:lstStyle/>
            <a:p>
              <a:pPr algn="ctr">
                <a:lnSpc>
                  <a:spcPts val="2879"/>
                </a:lnSpc>
              </a:pPr>
              <a:r>
                <a:rPr lang="en-US" sz="2400" b="true">
                  <a:solidFill>
                    <a:srgbClr val="10B981"/>
                  </a:solidFill>
                  <a:latin typeface="Calibri (MS) Bold"/>
                  <a:ea typeface="Calibri (MS) Bold"/>
                  <a:cs typeface="Calibri (MS) Bold"/>
                  <a:sym typeface="Calibri (MS) Bold"/>
                </a:rPr>
                <a:t>LB p = 0.854 ✓</a:t>
              </a:r>
            </a:p>
          </p:txBody>
        </p:sp>
      </p:grpSp>
      <p:grpSp>
        <p:nvGrpSpPr>
          <p:cNvPr name="Group 46" id="46"/>
          <p:cNvGrpSpPr/>
          <p:nvPr/>
        </p:nvGrpSpPr>
        <p:grpSpPr>
          <a:xfrm rot="0">
            <a:off x="13755940" y="3862355"/>
            <a:ext cx="3134363" cy="1342139"/>
            <a:chOff x="0" y="0"/>
            <a:chExt cx="4179151" cy="1789519"/>
          </a:xfrm>
        </p:grpSpPr>
        <p:sp>
          <p:nvSpPr>
            <p:cNvPr name="Freeform 47" id="47"/>
            <p:cNvSpPr/>
            <p:nvPr/>
          </p:nvSpPr>
          <p:spPr>
            <a:xfrm flipH="false" flipV="false" rot="0">
              <a:off x="16891" y="16891"/>
              <a:ext cx="4145280" cy="1755648"/>
            </a:xfrm>
            <a:custGeom>
              <a:avLst/>
              <a:gdLst/>
              <a:ahLst/>
              <a:cxnLst/>
              <a:rect r="r" b="b" t="t" l="l"/>
              <a:pathLst>
                <a:path h="1755648" w="4145280">
                  <a:moveTo>
                    <a:pt x="0" y="0"/>
                  </a:moveTo>
                  <a:lnTo>
                    <a:pt x="4145280" y="0"/>
                  </a:lnTo>
                  <a:lnTo>
                    <a:pt x="4145280" y="1755648"/>
                  </a:lnTo>
                  <a:lnTo>
                    <a:pt x="0" y="1755648"/>
                  </a:lnTo>
                  <a:close/>
                </a:path>
              </a:pathLst>
            </a:custGeom>
            <a:solidFill>
              <a:srgbClr val="E8F0FE"/>
            </a:solidFill>
          </p:spPr>
        </p:sp>
        <p:sp>
          <p:nvSpPr>
            <p:cNvPr name="Freeform 48" id="48"/>
            <p:cNvSpPr/>
            <p:nvPr/>
          </p:nvSpPr>
          <p:spPr>
            <a:xfrm flipH="false" flipV="false" rot="0">
              <a:off x="0" y="0"/>
              <a:ext cx="4179062" cy="1789430"/>
            </a:xfrm>
            <a:custGeom>
              <a:avLst/>
              <a:gdLst/>
              <a:ahLst/>
              <a:cxnLst/>
              <a:rect r="r" b="b" t="t" l="l"/>
              <a:pathLst>
                <a:path h="1789430" w="4179062">
                  <a:moveTo>
                    <a:pt x="16891" y="0"/>
                  </a:moveTo>
                  <a:lnTo>
                    <a:pt x="4162171" y="0"/>
                  </a:lnTo>
                  <a:cubicBezTo>
                    <a:pt x="4171569" y="0"/>
                    <a:pt x="4179062" y="7620"/>
                    <a:pt x="4179062" y="16891"/>
                  </a:cubicBezTo>
                  <a:lnTo>
                    <a:pt x="4179062" y="1772539"/>
                  </a:lnTo>
                  <a:cubicBezTo>
                    <a:pt x="4179062" y="1781937"/>
                    <a:pt x="4171442" y="1789430"/>
                    <a:pt x="4162171"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4162171" y="1755648"/>
                  </a:lnTo>
                  <a:lnTo>
                    <a:pt x="4162171" y="1772539"/>
                  </a:lnTo>
                  <a:lnTo>
                    <a:pt x="4145280" y="1772539"/>
                  </a:lnTo>
                  <a:lnTo>
                    <a:pt x="4145280" y="16891"/>
                  </a:lnTo>
                  <a:lnTo>
                    <a:pt x="4162171" y="16891"/>
                  </a:lnTo>
                  <a:lnTo>
                    <a:pt x="4162171" y="33909"/>
                  </a:lnTo>
                  <a:lnTo>
                    <a:pt x="16891" y="33909"/>
                  </a:lnTo>
                  <a:close/>
                </a:path>
              </a:pathLst>
            </a:custGeom>
            <a:solidFill>
              <a:srgbClr val="CADCFC"/>
            </a:solidFill>
          </p:spPr>
        </p:sp>
      </p:grpSp>
      <p:grpSp>
        <p:nvGrpSpPr>
          <p:cNvPr name="Group 49" id="49"/>
          <p:cNvGrpSpPr/>
          <p:nvPr/>
        </p:nvGrpSpPr>
        <p:grpSpPr>
          <a:xfrm rot="0">
            <a:off x="13768637" y="3948204"/>
            <a:ext cx="3108960" cy="512064"/>
            <a:chOff x="0" y="0"/>
            <a:chExt cx="4145280" cy="682752"/>
          </a:xfrm>
        </p:grpSpPr>
        <p:sp>
          <p:nvSpPr>
            <p:cNvPr name="Freeform 50" id="50"/>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51" id="51"/>
            <p:cNvSpPr txBox="true"/>
            <p:nvPr/>
          </p:nvSpPr>
          <p:spPr>
            <a:xfrm>
              <a:off x="0" y="-47625"/>
              <a:ext cx="4145280" cy="730377"/>
            </a:xfrm>
            <a:prstGeom prst="rect">
              <a:avLst/>
            </a:prstGeom>
          </p:spPr>
          <p:txBody>
            <a:bodyPr anchor="ctr" rtlCol="false" tIns="0" lIns="0" bIns="0" rIns="0"/>
            <a:lstStyle/>
            <a:p>
              <a:pPr algn="ctr">
                <a:lnSpc>
                  <a:spcPts val="2399"/>
                </a:lnSpc>
              </a:pPr>
              <a:r>
                <a:rPr lang="en-US" sz="1999" b="true">
                  <a:solidFill>
                    <a:srgbClr val="000000"/>
                  </a:solidFill>
                  <a:latin typeface="Calibri (MS) Bold"/>
                  <a:ea typeface="Calibri (MS) Bold"/>
                  <a:cs typeface="Calibri (MS) Bold"/>
                  <a:sym typeface="Calibri (MS) Bold"/>
                </a:rPr>
                <a:t>SP500 Resid</a:t>
              </a:r>
            </a:p>
          </p:txBody>
        </p:sp>
      </p:grpSp>
      <p:grpSp>
        <p:nvGrpSpPr>
          <p:cNvPr name="Group 52" id="52"/>
          <p:cNvGrpSpPr/>
          <p:nvPr/>
        </p:nvGrpSpPr>
        <p:grpSpPr>
          <a:xfrm rot="0">
            <a:off x="13768637" y="4423692"/>
            <a:ext cx="3108960" cy="585216"/>
            <a:chOff x="0" y="0"/>
            <a:chExt cx="4145280" cy="780288"/>
          </a:xfrm>
        </p:grpSpPr>
        <p:sp>
          <p:nvSpPr>
            <p:cNvPr name="Freeform 53" id="53"/>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3">
                <a:alphaModFix amt="0"/>
              </a:blip>
              <a:stretch>
                <a:fillRect l="0" t="-53514" r="0" b="-53514"/>
              </a:stretch>
            </a:blipFill>
          </p:spPr>
        </p:sp>
        <p:sp>
          <p:nvSpPr>
            <p:cNvPr name="TextBox 54" id="54"/>
            <p:cNvSpPr txBox="true"/>
            <p:nvPr/>
          </p:nvSpPr>
          <p:spPr>
            <a:xfrm>
              <a:off x="0" y="-38100"/>
              <a:ext cx="4145280" cy="818388"/>
            </a:xfrm>
            <a:prstGeom prst="rect">
              <a:avLst/>
            </a:prstGeom>
          </p:spPr>
          <p:txBody>
            <a:bodyPr anchor="ctr" rtlCol="false" tIns="0" lIns="0" bIns="0" rIns="0"/>
            <a:lstStyle/>
            <a:p>
              <a:pPr algn="ctr">
                <a:lnSpc>
                  <a:spcPts val="2879"/>
                </a:lnSpc>
              </a:pPr>
              <a:r>
                <a:rPr lang="en-US" sz="2400" b="true">
                  <a:solidFill>
                    <a:srgbClr val="10B981"/>
                  </a:solidFill>
                  <a:latin typeface="Calibri (MS) Bold"/>
                  <a:ea typeface="Calibri (MS) Bold"/>
                  <a:cs typeface="Calibri (MS) Bold"/>
                  <a:sym typeface="Calibri (MS) Bold"/>
                </a:rPr>
                <a:t>LB p = 0.443 ✓</a:t>
              </a:r>
            </a:p>
          </p:txBody>
        </p:sp>
      </p:grpSp>
      <p:grpSp>
        <p:nvGrpSpPr>
          <p:cNvPr name="Group 55" id="55"/>
          <p:cNvGrpSpPr/>
          <p:nvPr/>
        </p:nvGrpSpPr>
        <p:grpSpPr>
          <a:xfrm rot="0">
            <a:off x="11874498" y="5540317"/>
            <a:ext cx="3134363" cy="1342139"/>
            <a:chOff x="0" y="0"/>
            <a:chExt cx="4179151" cy="1789519"/>
          </a:xfrm>
        </p:grpSpPr>
        <p:sp>
          <p:nvSpPr>
            <p:cNvPr name="Freeform 56" id="56"/>
            <p:cNvSpPr/>
            <p:nvPr/>
          </p:nvSpPr>
          <p:spPr>
            <a:xfrm flipH="false" flipV="false" rot="0">
              <a:off x="16891" y="16891"/>
              <a:ext cx="4145280" cy="1755648"/>
            </a:xfrm>
            <a:custGeom>
              <a:avLst/>
              <a:gdLst/>
              <a:ahLst/>
              <a:cxnLst/>
              <a:rect r="r" b="b" t="t" l="l"/>
              <a:pathLst>
                <a:path h="1755648" w="4145280">
                  <a:moveTo>
                    <a:pt x="0" y="0"/>
                  </a:moveTo>
                  <a:lnTo>
                    <a:pt x="4145280" y="0"/>
                  </a:lnTo>
                  <a:lnTo>
                    <a:pt x="4145280" y="1755648"/>
                  </a:lnTo>
                  <a:lnTo>
                    <a:pt x="0" y="1755648"/>
                  </a:lnTo>
                  <a:close/>
                </a:path>
              </a:pathLst>
            </a:custGeom>
            <a:solidFill>
              <a:srgbClr val="E8F0FE"/>
            </a:solidFill>
          </p:spPr>
        </p:sp>
        <p:sp>
          <p:nvSpPr>
            <p:cNvPr name="Freeform 57" id="57"/>
            <p:cNvSpPr/>
            <p:nvPr/>
          </p:nvSpPr>
          <p:spPr>
            <a:xfrm flipH="false" flipV="false" rot="0">
              <a:off x="0" y="0"/>
              <a:ext cx="4179062" cy="1789430"/>
            </a:xfrm>
            <a:custGeom>
              <a:avLst/>
              <a:gdLst/>
              <a:ahLst/>
              <a:cxnLst/>
              <a:rect r="r" b="b" t="t" l="l"/>
              <a:pathLst>
                <a:path h="1789430" w="4179062">
                  <a:moveTo>
                    <a:pt x="16891" y="0"/>
                  </a:moveTo>
                  <a:lnTo>
                    <a:pt x="4162171" y="0"/>
                  </a:lnTo>
                  <a:cubicBezTo>
                    <a:pt x="4171569" y="0"/>
                    <a:pt x="4179062" y="7620"/>
                    <a:pt x="4179062" y="16891"/>
                  </a:cubicBezTo>
                  <a:lnTo>
                    <a:pt x="4179062" y="1772539"/>
                  </a:lnTo>
                  <a:cubicBezTo>
                    <a:pt x="4179062" y="1781937"/>
                    <a:pt x="4171442" y="1789430"/>
                    <a:pt x="4162171"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4162171" y="1755648"/>
                  </a:lnTo>
                  <a:lnTo>
                    <a:pt x="4162171" y="1772539"/>
                  </a:lnTo>
                  <a:lnTo>
                    <a:pt x="4145280" y="1772539"/>
                  </a:lnTo>
                  <a:lnTo>
                    <a:pt x="4145280" y="16891"/>
                  </a:lnTo>
                  <a:lnTo>
                    <a:pt x="4162171" y="16891"/>
                  </a:lnTo>
                  <a:lnTo>
                    <a:pt x="4162171" y="33909"/>
                  </a:lnTo>
                  <a:lnTo>
                    <a:pt x="16891" y="33909"/>
                  </a:lnTo>
                  <a:close/>
                </a:path>
              </a:pathLst>
            </a:custGeom>
            <a:solidFill>
              <a:srgbClr val="CADCFC"/>
            </a:solidFill>
          </p:spPr>
        </p:sp>
      </p:grpSp>
      <p:grpSp>
        <p:nvGrpSpPr>
          <p:cNvPr name="Group 58" id="58"/>
          <p:cNvGrpSpPr/>
          <p:nvPr/>
        </p:nvGrpSpPr>
        <p:grpSpPr>
          <a:xfrm rot="0">
            <a:off x="11887195" y="5626166"/>
            <a:ext cx="3108960" cy="512064"/>
            <a:chOff x="0" y="0"/>
            <a:chExt cx="4145280" cy="682752"/>
          </a:xfrm>
        </p:grpSpPr>
        <p:sp>
          <p:nvSpPr>
            <p:cNvPr name="Freeform 59" id="59"/>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60" id="60"/>
            <p:cNvSpPr txBox="true"/>
            <p:nvPr/>
          </p:nvSpPr>
          <p:spPr>
            <a:xfrm>
              <a:off x="0" y="-47625"/>
              <a:ext cx="4145280" cy="730377"/>
            </a:xfrm>
            <a:prstGeom prst="rect">
              <a:avLst/>
            </a:prstGeom>
          </p:spPr>
          <p:txBody>
            <a:bodyPr anchor="ctr" rtlCol="false" tIns="0" lIns="0" bIns="0" rIns="0"/>
            <a:lstStyle/>
            <a:p>
              <a:pPr algn="ctr">
                <a:lnSpc>
                  <a:spcPts val="2399"/>
                </a:lnSpc>
              </a:pPr>
              <a:r>
                <a:rPr lang="en-US" sz="1999" b="true">
                  <a:solidFill>
                    <a:srgbClr val="000000"/>
                  </a:solidFill>
                  <a:latin typeface="Calibri (MS) Bold"/>
                  <a:ea typeface="Calibri (MS) Bold"/>
                  <a:cs typeface="Calibri (MS) Bold"/>
                  <a:sym typeface="Calibri (MS) Bold"/>
                </a:rPr>
                <a:t>VIX Resid</a:t>
              </a:r>
            </a:p>
          </p:txBody>
        </p:sp>
      </p:grpSp>
      <p:grpSp>
        <p:nvGrpSpPr>
          <p:cNvPr name="Group 61" id="61"/>
          <p:cNvGrpSpPr/>
          <p:nvPr/>
        </p:nvGrpSpPr>
        <p:grpSpPr>
          <a:xfrm rot="0">
            <a:off x="11887195" y="6382966"/>
            <a:ext cx="3108960" cy="585216"/>
            <a:chOff x="0" y="0"/>
            <a:chExt cx="4145280" cy="780288"/>
          </a:xfrm>
        </p:grpSpPr>
        <p:sp>
          <p:nvSpPr>
            <p:cNvPr name="Freeform 62" id="62"/>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3">
                <a:alphaModFix amt="0"/>
              </a:blip>
              <a:stretch>
                <a:fillRect l="0" t="-53514" r="0" b="-53514"/>
              </a:stretch>
            </a:blipFill>
          </p:spPr>
        </p:sp>
        <p:sp>
          <p:nvSpPr>
            <p:cNvPr name="TextBox 63" id="63"/>
            <p:cNvSpPr txBox="true"/>
            <p:nvPr/>
          </p:nvSpPr>
          <p:spPr>
            <a:xfrm>
              <a:off x="0" y="-38100"/>
              <a:ext cx="4145280" cy="818388"/>
            </a:xfrm>
            <a:prstGeom prst="rect">
              <a:avLst/>
            </a:prstGeom>
          </p:spPr>
          <p:txBody>
            <a:bodyPr anchor="ctr" rtlCol="false" tIns="0" lIns="0" bIns="0" rIns="0"/>
            <a:lstStyle/>
            <a:p>
              <a:pPr algn="ctr">
                <a:lnSpc>
                  <a:spcPts val="2879"/>
                </a:lnSpc>
              </a:pPr>
              <a:r>
                <a:rPr lang="en-US" sz="2400" b="true">
                  <a:solidFill>
                    <a:srgbClr val="10B981"/>
                  </a:solidFill>
                  <a:latin typeface="Calibri (MS) Bold"/>
                  <a:ea typeface="Calibri (MS) Bold"/>
                  <a:cs typeface="Calibri (MS) Bold"/>
                  <a:sym typeface="Calibri (MS) Bold"/>
                </a:rPr>
                <a:t>LB p = 0.734 ✓</a:t>
              </a:r>
            </a:p>
          </p:txBody>
        </p:sp>
      </p:grpSp>
      <p:grpSp>
        <p:nvGrpSpPr>
          <p:cNvPr name="Group 64" id="64"/>
          <p:cNvGrpSpPr/>
          <p:nvPr/>
        </p:nvGrpSpPr>
        <p:grpSpPr>
          <a:xfrm rot="0">
            <a:off x="9692635" y="7272982"/>
            <a:ext cx="7498080" cy="1005840"/>
            <a:chOff x="0" y="0"/>
            <a:chExt cx="9997440" cy="1341120"/>
          </a:xfrm>
        </p:grpSpPr>
        <p:sp>
          <p:nvSpPr>
            <p:cNvPr name="Freeform 65" id="65"/>
            <p:cNvSpPr/>
            <p:nvPr/>
          </p:nvSpPr>
          <p:spPr>
            <a:xfrm flipH="false" flipV="false" rot="0">
              <a:off x="0" y="0"/>
              <a:ext cx="9997440" cy="1341120"/>
            </a:xfrm>
            <a:custGeom>
              <a:avLst/>
              <a:gdLst/>
              <a:ahLst/>
              <a:cxnLst/>
              <a:rect r="r" b="b" t="t" l="l"/>
              <a:pathLst>
                <a:path h="1341120" w="9997440">
                  <a:moveTo>
                    <a:pt x="0" y="0"/>
                  </a:moveTo>
                  <a:lnTo>
                    <a:pt x="9997440" y="0"/>
                  </a:lnTo>
                  <a:lnTo>
                    <a:pt x="9997440" y="1341120"/>
                  </a:lnTo>
                  <a:lnTo>
                    <a:pt x="0" y="1341120"/>
                  </a:lnTo>
                  <a:close/>
                </a:path>
              </a:pathLst>
            </a:custGeom>
            <a:blipFill>
              <a:blip r:embed="rId3">
                <a:alphaModFix amt="0"/>
              </a:blip>
              <a:stretch>
                <a:fillRect l="0" t="-95252" r="0" b="-95252"/>
              </a:stretch>
            </a:blipFill>
          </p:spPr>
        </p:sp>
        <p:sp>
          <p:nvSpPr>
            <p:cNvPr name="TextBox 66" id="66"/>
            <p:cNvSpPr txBox="true"/>
            <p:nvPr/>
          </p:nvSpPr>
          <p:spPr>
            <a:xfrm>
              <a:off x="0" y="-47625"/>
              <a:ext cx="9997440" cy="1388745"/>
            </a:xfrm>
            <a:prstGeom prst="rect">
              <a:avLst/>
            </a:prstGeom>
          </p:spPr>
          <p:txBody>
            <a:bodyPr anchor="ctr" rtlCol="false" tIns="0" lIns="0" bIns="0" rIns="0"/>
            <a:lstStyle/>
            <a:p>
              <a:pPr algn="l">
                <a:lnSpc>
                  <a:spcPts val="2399"/>
                </a:lnSpc>
              </a:pPr>
              <a:r>
                <a:rPr lang="en-US" sz="1999">
                  <a:solidFill>
                    <a:srgbClr val="334155"/>
                  </a:solidFill>
                  <a:latin typeface="Calibri (MS)"/>
                  <a:ea typeface="Calibri (MS)"/>
                  <a:cs typeface="Calibri (MS)"/>
                  <a:sym typeface="Calibri (MS)"/>
                </a:rPr>
                <a:t>All</a:t>
              </a:r>
              <a:r>
                <a:rPr lang="en-US" sz="1999">
                  <a:solidFill>
                    <a:srgbClr val="334155"/>
                  </a:solidFill>
                  <a:latin typeface="Calibri (MS)"/>
                  <a:ea typeface="Calibri (MS)"/>
                  <a:cs typeface="Calibri (MS)"/>
                  <a:sym typeface="Calibri (MS)"/>
                </a:rPr>
                <a:t> three equations pass the residual autocorrelation test comfortably (p &gt;&gt; 0.05), confirming that the VECM with k_ar_diff = 8 has successfully captured the dynamic structure in all three series.</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480058"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492754"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2 · VECM</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Impulse Responses</a:t>
              </a:r>
            </a:p>
          </p:txBody>
        </p:sp>
      </p:grpSp>
      <p:grpSp>
        <p:nvGrpSpPr>
          <p:cNvPr name="Group 11" id="11"/>
          <p:cNvGrpSpPr/>
          <p:nvPr/>
        </p:nvGrpSpPr>
        <p:grpSpPr>
          <a:xfrm rot="0">
            <a:off x="760808" y="3619457"/>
            <a:ext cx="8033864" cy="4648287"/>
            <a:chOff x="0" y="0"/>
            <a:chExt cx="2115915" cy="1224240"/>
          </a:xfrm>
        </p:grpSpPr>
        <p:sp>
          <p:nvSpPr>
            <p:cNvPr name="Freeform 12" id="12"/>
            <p:cNvSpPr/>
            <p:nvPr/>
          </p:nvSpPr>
          <p:spPr>
            <a:xfrm flipH="false" flipV="false" rot="0">
              <a:off x="0" y="0"/>
              <a:ext cx="2115915" cy="1224240"/>
            </a:xfrm>
            <a:custGeom>
              <a:avLst/>
              <a:gdLst/>
              <a:ahLst/>
              <a:cxnLst/>
              <a:rect r="r" b="b" t="t" l="l"/>
              <a:pathLst>
                <a:path h="1224240" w="2115915">
                  <a:moveTo>
                    <a:pt x="0" y="0"/>
                  </a:moveTo>
                  <a:lnTo>
                    <a:pt x="2115915" y="0"/>
                  </a:lnTo>
                  <a:lnTo>
                    <a:pt x="2115915" y="1224240"/>
                  </a:lnTo>
                  <a:lnTo>
                    <a:pt x="0" y="1224240"/>
                  </a:lnTo>
                  <a:close/>
                </a:path>
              </a:pathLst>
            </a:custGeom>
            <a:solidFill>
              <a:srgbClr val="FEF3C7"/>
            </a:solidFill>
          </p:spPr>
        </p:sp>
        <p:sp>
          <p:nvSpPr>
            <p:cNvPr name="TextBox 13" id="13"/>
            <p:cNvSpPr txBox="true"/>
            <p:nvPr/>
          </p:nvSpPr>
          <p:spPr>
            <a:xfrm>
              <a:off x="0" y="-38100"/>
              <a:ext cx="2115915" cy="1262340"/>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1028700" y="3968727"/>
            <a:ext cx="7498080" cy="512064"/>
            <a:chOff x="0" y="0"/>
            <a:chExt cx="9997440" cy="682752"/>
          </a:xfrm>
        </p:grpSpPr>
        <p:sp>
          <p:nvSpPr>
            <p:cNvPr name="Freeform 15" id="15"/>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16" id="16"/>
            <p:cNvSpPr txBox="true"/>
            <p:nvPr/>
          </p:nvSpPr>
          <p:spPr>
            <a:xfrm>
              <a:off x="0" y="-47625"/>
              <a:ext cx="9997440" cy="730377"/>
            </a:xfrm>
            <a:prstGeom prst="rect">
              <a:avLst/>
            </a:prstGeom>
          </p:spPr>
          <p:txBody>
            <a:bodyPr anchor="ctr" rtlCol="false" tIns="0" lIns="0" bIns="0" rIns="0"/>
            <a:lstStyle/>
            <a:p>
              <a:pPr algn="l">
                <a:lnSpc>
                  <a:spcPts val="2999"/>
                </a:lnSpc>
              </a:pPr>
              <a:r>
                <a:rPr lang="en-US" sz="2499" b="true">
                  <a:solidFill>
                    <a:srgbClr val="1E2761"/>
                  </a:solidFill>
                  <a:latin typeface="Calibri (MS) Bold"/>
                  <a:ea typeface="Calibri (MS) Bold"/>
                  <a:cs typeface="Calibri (MS) Bold"/>
                  <a:sym typeface="Calibri (MS) Bold"/>
                </a:rPr>
                <a:t>Impulse Response Functions (VIX → SP500 → MSFT)</a:t>
              </a:r>
            </a:p>
          </p:txBody>
        </p:sp>
      </p:grpSp>
      <p:grpSp>
        <p:nvGrpSpPr>
          <p:cNvPr name="Group 17" id="17"/>
          <p:cNvGrpSpPr/>
          <p:nvPr/>
        </p:nvGrpSpPr>
        <p:grpSpPr>
          <a:xfrm rot="0">
            <a:off x="1028700" y="4700247"/>
            <a:ext cx="3657600" cy="585216"/>
            <a:chOff x="0" y="0"/>
            <a:chExt cx="4876800" cy="780288"/>
          </a:xfrm>
        </p:grpSpPr>
        <p:sp>
          <p:nvSpPr>
            <p:cNvPr name="Freeform 18" id="18"/>
            <p:cNvSpPr/>
            <p:nvPr/>
          </p:nvSpPr>
          <p:spPr>
            <a:xfrm flipH="false" flipV="false" rot="0">
              <a:off x="0" y="0"/>
              <a:ext cx="4876800" cy="780288"/>
            </a:xfrm>
            <a:custGeom>
              <a:avLst/>
              <a:gdLst/>
              <a:ahLst/>
              <a:cxnLst/>
              <a:rect r="r" b="b" t="t" l="l"/>
              <a:pathLst>
                <a:path h="780288" w="4876800">
                  <a:moveTo>
                    <a:pt x="0" y="0"/>
                  </a:moveTo>
                  <a:lnTo>
                    <a:pt x="4876800" y="0"/>
                  </a:lnTo>
                  <a:lnTo>
                    <a:pt x="4876800" y="780288"/>
                  </a:lnTo>
                  <a:lnTo>
                    <a:pt x="0" y="780288"/>
                  </a:lnTo>
                  <a:close/>
                </a:path>
              </a:pathLst>
            </a:custGeom>
            <a:blipFill>
              <a:blip r:embed="rId3">
                <a:alphaModFix amt="0"/>
              </a:blip>
              <a:stretch>
                <a:fillRect l="0" t="-71781" r="0" b="-71781"/>
              </a:stretch>
            </a:blipFill>
          </p:spPr>
        </p:sp>
        <p:sp>
          <p:nvSpPr>
            <p:cNvPr name="TextBox 19" id="19"/>
            <p:cNvSpPr txBox="true"/>
            <p:nvPr/>
          </p:nvSpPr>
          <p:spPr>
            <a:xfrm>
              <a:off x="0" y="-38100"/>
              <a:ext cx="4876800" cy="818388"/>
            </a:xfrm>
            <a:prstGeom prst="rect">
              <a:avLst/>
            </a:prstGeom>
          </p:spPr>
          <p:txBody>
            <a:bodyPr anchor="ctr" rtlCol="false" tIns="0" lIns="0" bIns="0" rIns="0"/>
            <a:lstStyle/>
            <a:p>
              <a:pPr algn="l">
                <a:lnSpc>
                  <a:spcPts val="2400"/>
                </a:lnSpc>
              </a:pPr>
              <a:r>
                <a:rPr lang="en-US" sz="2000" b="true">
                  <a:solidFill>
                    <a:srgbClr val="1E2761"/>
                  </a:solidFill>
                  <a:latin typeface="Calibri (MS) Bold"/>
                  <a:ea typeface="Calibri (MS) Bold"/>
                  <a:cs typeface="Calibri (MS) Bold"/>
                  <a:sym typeface="Calibri (MS) Bold"/>
                </a:rPr>
                <a:t>VIX shock → MSFT:</a:t>
              </a:r>
            </a:p>
          </p:txBody>
        </p:sp>
      </p:grpSp>
      <p:grpSp>
        <p:nvGrpSpPr>
          <p:cNvPr name="Group 20" id="20"/>
          <p:cNvGrpSpPr/>
          <p:nvPr/>
        </p:nvGrpSpPr>
        <p:grpSpPr>
          <a:xfrm rot="0">
            <a:off x="4777740" y="4700247"/>
            <a:ext cx="3840480" cy="708199"/>
            <a:chOff x="0" y="0"/>
            <a:chExt cx="5120640" cy="944265"/>
          </a:xfrm>
        </p:grpSpPr>
        <p:sp>
          <p:nvSpPr>
            <p:cNvPr name="Freeform 21" id="21"/>
            <p:cNvSpPr/>
            <p:nvPr/>
          </p:nvSpPr>
          <p:spPr>
            <a:xfrm flipH="false" flipV="false" rot="0">
              <a:off x="0" y="0"/>
              <a:ext cx="5120640" cy="944265"/>
            </a:xfrm>
            <a:custGeom>
              <a:avLst/>
              <a:gdLst/>
              <a:ahLst/>
              <a:cxnLst/>
              <a:rect r="r" b="b" t="t" l="l"/>
              <a:pathLst>
                <a:path h="944265" w="5120640">
                  <a:moveTo>
                    <a:pt x="0" y="0"/>
                  </a:moveTo>
                  <a:lnTo>
                    <a:pt x="5120640" y="0"/>
                  </a:lnTo>
                  <a:lnTo>
                    <a:pt x="5120640" y="944265"/>
                  </a:lnTo>
                  <a:lnTo>
                    <a:pt x="0" y="944265"/>
                  </a:lnTo>
                  <a:close/>
                </a:path>
              </a:pathLst>
            </a:custGeom>
            <a:blipFill>
              <a:blip r:embed="rId3">
                <a:alphaModFix amt="0"/>
              </a:blip>
              <a:stretch>
                <a:fillRect l="0" t="-64347" r="0" b="-46982"/>
              </a:stretch>
            </a:blipFill>
          </p:spPr>
        </p:sp>
        <p:sp>
          <p:nvSpPr>
            <p:cNvPr name="TextBox 22" id="22"/>
            <p:cNvSpPr txBox="true"/>
            <p:nvPr/>
          </p:nvSpPr>
          <p:spPr>
            <a:xfrm>
              <a:off x="0" y="-38100"/>
              <a:ext cx="5120640"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Negative short-run response — risk-off behaviour</a:t>
              </a:r>
            </a:p>
          </p:txBody>
        </p:sp>
      </p:grpSp>
      <p:grpSp>
        <p:nvGrpSpPr>
          <p:cNvPr name="Group 23" id="23"/>
          <p:cNvGrpSpPr/>
          <p:nvPr/>
        </p:nvGrpSpPr>
        <p:grpSpPr>
          <a:xfrm rot="0">
            <a:off x="1028700" y="5413479"/>
            <a:ext cx="3657600" cy="585216"/>
            <a:chOff x="0" y="0"/>
            <a:chExt cx="4876800" cy="780288"/>
          </a:xfrm>
        </p:grpSpPr>
        <p:sp>
          <p:nvSpPr>
            <p:cNvPr name="Freeform 24" id="24"/>
            <p:cNvSpPr/>
            <p:nvPr/>
          </p:nvSpPr>
          <p:spPr>
            <a:xfrm flipH="false" flipV="false" rot="0">
              <a:off x="0" y="0"/>
              <a:ext cx="4876800" cy="780288"/>
            </a:xfrm>
            <a:custGeom>
              <a:avLst/>
              <a:gdLst/>
              <a:ahLst/>
              <a:cxnLst/>
              <a:rect r="r" b="b" t="t" l="l"/>
              <a:pathLst>
                <a:path h="780288" w="4876800">
                  <a:moveTo>
                    <a:pt x="0" y="0"/>
                  </a:moveTo>
                  <a:lnTo>
                    <a:pt x="4876800" y="0"/>
                  </a:lnTo>
                  <a:lnTo>
                    <a:pt x="4876800" y="780288"/>
                  </a:lnTo>
                  <a:lnTo>
                    <a:pt x="0" y="780288"/>
                  </a:lnTo>
                  <a:close/>
                </a:path>
              </a:pathLst>
            </a:custGeom>
            <a:blipFill>
              <a:blip r:embed="rId3">
                <a:alphaModFix amt="0"/>
              </a:blip>
              <a:stretch>
                <a:fillRect l="0" t="-71781" r="0" b="-71781"/>
              </a:stretch>
            </a:blipFill>
          </p:spPr>
        </p:sp>
        <p:sp>
          <p:nvSpPr>
            <p:cNvPr name="TextBox 25" id="25"/>
            <p:cNvSpPr txBox="true"/>
            <p:nvPr/>
          </p:nvSpPr>
          <p:spPr>
            <a:xfrm>
              <a:off x="0" y="-38100"/>
              <a:ext cx="4876800" cy="818388"/>
            </a:xfrm>
            <a:prstGeom prst="rect">
              <a:avLst/>
            </a:prstGeom>
          </p:spPr>
          <p:txBody>
            <a:bodyPr anchor="ctr" rtlCol="false" tIns="0" lIns="0" bIns="0" rIns="0"/>
            <a:lstStyle/>
            <a:p>
              <a:pPr algn="l">
                <a:lnSpc>
                  <a:spcPts val="2400"/>
                </a:lnSpc>
              </a:pPr>
              <a:r>
                <a:rPr lang="en-US" sz="2000" b="true">
                  <a:solidFill>
                    <a:srgbClr val="1E2761"/>
                  </a:solidFill>
                  <a:latin typeface="Calibri (MS) Bold"/>
                  <a:ea typeface="Calibri (MS) Bold"/>
                  <a:cs typeface="Calibri (MS) Bold"/>
                  <a:sym typeface="Calibri (MS) Bold"/>
                </a:rPr>
                <a:t>SP500 shock → MSFT:</a:t>
              </a:r>
            </a:p>
          </p:txBody>
        </p:sp>
      </p:grpSp>
      <p:grpSp>
        <p:nvGrpSpPr>
          <p:cNvPr name="Group 26" id="26"/>
          <p:cNvGrpSpPr/>
          <p:nvPr/>
        </p:nvGrpSpPr>
        <p:grpSpPr>
          <a:xfrm rot="0">
            <a:off x="4777740" y="5413479"/>
            <a:ext cx="3840480" cy="708199"/>
            <a:chOff x="0" y="0"/>
            <a:chExt cx="5120640" cy="944265"/>
          </a:xfrm>
        </p:grpSpPr>
        <p:sp>
          <p:nvSpPr>
            <p:cNvPr name="Freeform 27" id="27"/>
            <p:cNvSpPr/>
            <p:nvPr/>
          </p:nvSpPr>
          <p:spPr>
            <a:xfrm flipH="false" flipV="false" rot="0">
              <a:off x="0" y="0"/>
              <a:ext cx="5120640" cy="944265"/>
            </a:xfrm>
            <a:custGeom>
              <a:avLst/>
              <a:gdLst/>
              <a:ahLst/>
              <a:cxnLst/>
              <a:rect r="r" b="b" t="t" l="l"/>
              <a:pathLst>
                <a:path h="944265" w="5120640">
                  <a:moveTo>
                    <a:pt x="0" y="0"/>
                  </a:moveTo>
                  <a:lnTo>
                    <a:pt x="5120640" y="0"/>
                  </a:lnTo>
                  <a:lnTo>
                    <a:pt x="5120640" y="944265"/>
                  </a:lnTo>
                  <a:lnTo>
                    <a:pt x="0" y="944265"/>
                  </a:lnTo>
                  <a:close/>
                </a:path>
              </a:pathLst>
            </a:custGeom>
            <a:blipFill>
              <a:blip r:embed="rId3">
                <a:alphaModFix amt="0"/>
              </a:blip>
              <a:stretch>
                <a:fillRect l="0" t="-64347" r="0" b="-46982"/>
              </a:stretch>
            </a:blipFill>
          </p:spPr>
        </p:sp>
        <p:sp>
          <p:nvSpPr>
            <p:cNvPr name="TextBox 28" id="28"/>
            <p:cNvSpPr txBox="true"/>
            <p:nvPr/>
          </p:nvSpPr>
          <p:spPr>
            <a:xfrm>
              <a:off x="0" y="-38100"/>
              <a:ext cx="5120640"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Positive transmission within 2–3 trading days</a:t>
              </a:r>
            </a:p>
          </p:txBody>
        </p:sp>
      </p:grpSp>
      <p:grpSp>
        <p:nvGrpSpPr>
          <p:cNvPr name="Group 29" id="29"/>
          <p:cNvGrpSpPr/>
          <p:nvPr/>
        </p:nvGrpSpPr>
        <p:grpSpPr>
          <a:xfrm rot="0">
            <a:off x="1028700" y="6126711"/>
            <a:ext cx="3657600" cy="585216"/>
            <a:chOff x="0" y="0"/>
            <a:chExt cx="4876800" cy="780288"/>
          </a:xfrm>
        </p:grpSpPr>
        <p:sp>
          <p:nvSpPr>
            <p:cNvPr name="Freeform 30" id="30"/>
            <p:cNvSpPr/>
            <p:nvPr/>
          </p:nvSpPr>
          <p:spPr>
            <a:xfrm flipH="false" flipV="false" rot="0">
              <a:off x="0" y="0"/>
              <a:ext cx="4876800" cy="780288"/>
            </a:xfrm>
            <a:custGeom>
              <a:avLst/>
              <a:gdLst/>
              <a:ahLst/>
              <a:cxnLst/>
              <a:rect r="r" b="b" t="t" l="l"/>
              <a:pathLst>
                <a:path h="780288" w="4876800">
                  <a:moveTo>
                    <a:pt x="0" y="0"/>
                  </a:moveTo>
                  <a:lnTo>
                    <a:pt x="4876800" y="0"/>
                  </a:lnTo>
                  <a:lnTo>
                    <a:pt x="4876800" y="780288"/>
                  </a:lnTo>
                  <a:lnTo>
                    <a:pt x="0" y="780288"/>
                  </a:lnTo>
                  <a:close/>
                </a:path>
              </a:pathLst>
            </a:custGeom>
            <a:blipFill>
              <a:blip r:embed="rId3">
                <a:alphaModFix amt="0"/>
              </a:blip>
              <a:stretch>
                <a:fillRect l="0" t="-71781" r="0" b="-71781"/>
              </a:stretch>
            </a:blipFill>
          </p:spPr>
        </p:sp>
        <p:sp>
          <p:nvSpPr>
            <p:cNvPr name="TextBox 31" id="31"/>
            <p:cNvSpPr txBox="true"/>
            <p:nvPr/>
          </p:nvSpPr>
          <p:spPr>
            <a:xfrm>
              <a:off x="0" y="-38100"/>
              <a:ext cx="4876800" cy="818388"/>
            </a:xfrm>
            <a:prstGeom prst="rect">
              <a:avLst/>
            </a:prstGeom>
          </p:spPr>
          <p:txBody>
            <a:bodyPr anchor="ctr" rtlCol="false" tIns="0" lIns="0" bIns="0" rIns="0"/>
            <a:lstStyle/>
            <a:p>
              <a:pPr algn="l">
                <a:lnSpc>
                  <a:spcPts val="2400"/>
                </a:lnSpc>
              </a:pPr>
              <a:r>
                <a:rPr lang="en-US" sz="2000" b="true">
                  <a:solidFill>
                    <a:srgbClr val="1E2761"/>
                  </a:solidFill>
                  <a:latin typeface="Calibri (MS) Bold"/>
                  <a:ea typeface="Calibri (MS) Bold"/>
                  <a:cs typeface="Calibri (MS) Bold"/>
                  <a:sym typeface="Calibri (MS) Bold"/>
                </a:rPr>
                <a:t>MSFT shock → SP500/VIX:</a:t>
              </a:r>
            </a:p>
          </p:txBody>
        </p:sp>
      </p:grpSp>
      <p:grpSp>
        <p:nvGrpSpPr>
          <p:cNvPr name="Group 32" id="32"/>
          <p:cNvGrpSpPr/>
          <p:nvPr/>
        </p:nvGrpSpPr>
        <p:grpSpPr>
          <a:xfrm rot="0">
            <a:off x="4777740" y="6126711"/>
            <a:ext cx="3840480" cy="708199"/>
            <a:chOff x="0" y="0"/>
            <a:chExt cx="5120640" cy="944265"/>
          </a:xfrm>
        </p:grpSpPr>
        <p:sp>
          <p:nvSpPr>
            <p:cNvPr name="Freeform 33" id="33"/>
            <p:cNvSpPr/>
            <p:nvPr/>
          </p:nvSpPr>
          <p:spPr>
            <a:xfrm flipH="false" flipV="false" rot="0">
              <a:off x="0" y="0"/>
              <a:ext cx="5120640" cy="944265"/>
            </a:xfrm>
            <a:custGeom>
              <a:avLst/>
              <a:gdLst/>
              <a:ahLst/>
              <a:cxnLst/>
              <a:rect r="r" b="b" t="t" l="l"/>
              <a:pathLst>
                <a:path h="944265" w="5120640">
                  <a:moveTo>
                    <a:pt x="0" y="0"/>
                  </a:moveTo>
                  <a:lnTo>
                    <a:pt x="5120640" y="0"/>
                  </a:lnTo>
                  <a:lnTo>
                    <a:pt x="5120640" y="944265"/>
                  </a:lnTo>
                  <a:lnTo>
                    <a:pt x="0" y="944265"/>
                  </a:lnTo>
                  <a:close/>
                </a:path>
              </a:pathLst>
            </a:custGeom>
            <a:blipFill>
              <a:blip r:embed="rId3">
                <a:alphaModFix amt="0"/>
              </a:blip>
              <a:stretch>
                <a:fillRect l="0" t="-64347" r="0" b="-46982"/>
              </a:stretch>
            </a:blipFill>
          </p:spPr>
        </p:sp>
        <p:sp>
          <p:nvSpPr>
            <p:cNvPr name="TextBox 34" id="34"/>
            <p:cNvSpPr txBox="true"/>
            <p:nvPr/>
          </p:nvSpPr>
          <p:spPr>
            <a:xfrm>
              <a:off x="0" y="-38100"/>
              <a:ext cx="5120640"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Minimal spillback — MSFT is price-taker</a:t>
              </a:r>
            </a:p>
          </p:txBody>
        </p:sp>
      </p:grpSp>
      <p:grpSp>
        <p:nvGrpSpPr>
          <p:cNvPr name="Group 35" id="35"/>
          <p:cNvGrpSpPr/>
          <p:nvPr/>
        </p:nvGrpSpPr>
        <p:grpSpPr>
          <a:xfrm rot="0">
            <a:off x="1028700" y="6839943"/>
            <a:ext cx="3657600" cy="585216"/>
            <a:chOff x="0" y="0"/>
            <a:chExt cx="4876800" cy="780288"/>
          </a:xfrm>
        </p:grpSpPr>
        <p:sp>
          <p:nvSpPr>
            <p:cNvPr name="Freeform 36" id="36"/>
            <p:cNvSpPr/>
            <p:nvPr/>
          </p:nvSpPr>
          <p:spPr>
            <a:xfrm flipH="false" flipV="false" rot="0">
              <a:off x="0" y="0"/>
              <a:ext cx="4876800" cy="780288"/>
            </a:xfrm>
            <a:custGeom>
              <a:avLst/>
              <a:gdLst/>
              <a:ahLst/>
              <a:cxnLst/>
              <a:rect r="r" b="b" t="t" l="l"/>
              <a:pathLst>
                <a:path h="780288" w="4876800">
                  <a:moveTo>
                    <a:pt x="0" y="0"/>
                  </a:moveTo>
                  <a:lnTo>
                    <a:pt x="4876800" y="0"/>
                  </a:lnTo>
                  <a:lnTo>
                    <a:pt x="4876800" y="780288"/>
                  </a:lnTo>
                  <a:lnTo>
                    <a:pt x="0" y="780288"/>
                  </a:lnTo>
                  <a:close/>
                </a:path>
              </a:pathLst>
            </a:custGeom>
            <a:blipFill>
              <a:blip r:embed="rId3">
                <a:alphaModFix amt="0"/>
              </a:blip>
              <a:stretch>
                <a:fillRect l="0" t="-71781" r="0" b="-71781"/>
              </a:stretch>
            </a:blipFill>
          </p:spPr>
        </p:sp>
        <p:sp>
          <p:nvSpPr>
            <p:cNvPr name="TextBox 37" id="37"/>
            <p:cNvSpPr txBox="true"/>
            <p:nvPr/>
          </p:nvSpPr>
          <p:spPr>
            <a:xfrm>
              <a:off x="0" y="-38100"/>
              <a:ext cx="4876800" cy="818388"/>
            </a:xfrm>
            <a:prstGeom prst="rect">
              <a:avLst/>
            </a:prstGeom>
          </p:spPr>
          <p:txBody>
            <a:bodyPr anchor="ctr" rtlCol="false" tIns="0" lIns="0" bIns="0" rIns="0"/>
            <a:lstStyle/>
            <a:p>
              <a:pPr algn="l">
                <a:lnSpc>
                  <a:spcPts val="2400"/>
                </a:lnSpc>
              </a:pPr>
              <a:r>
                <a:rPr lang="en-US" sz="2000" b="true">
                  <a:solidFill>
                    <a:srgbClr val="1E2761"/>
                  </a:solidFill>
                  <a:latin typeface="Calibri (MS) Bold"/>
                  <a:ea typeface="Calibri (MS) Bold"/>
                  <a:cs typeface="Calibri (MS) Bold"/>
                  <a:sym typeface="Calibri (MS) Bold"/>
                </a:rPr>
                <a:t>Decay horizon:</a:t>
              </a:r>
            </a:p>
          </p:txBody>
        </p:sp>
      </p:grpSp>
      <p:grpSp>
        <p:nvGrpSpPr>
          <p:cNvPr name="Group 38" id="38"/>
          <p:cNvGrpSpPr/>
          <p:nvPr/>
        </p:nvGrpSpPr>
        <p:grpSpPr>
          <a:xfrm rot="0">
            <a:off x="4777740" y="6839943"/>
            <a:ext cx="3840480" cy="708199"/>
            <a:chOff x="0" y="0"/>
            <a:chExt cx="5120640" cy="944265"/>
          </a:xfrm>
        </p:grpSpPr>
        <p:sp>
          <p:nvSpPr>
            <p:cNvPr name="Freeform 39" id="39"/>
            <p:cNvSpPr/>
            <p:nvPr/>
          </p:nvSpPr>
          <p:spPr>
            <a:xfrm flipH="false" flipV="false" rot="0">
              <a:off x="0" y="0"/>
              <a:ext cx="5120640" cy="944265"/>
            </a:xfrm>
            <a:custGeom>
              <a:avLst/>
              <a:gdLst/>
              <a:ahLst/>
              <a:cxnLst/>
              <a:rect r="r" b="b" t="t" l="l"/>
              <a:pathLst>
                <a:path h="944265" w="5120640">
                  <a:moveTo>
                    <a:pt x="0" y="0"/>
                  </a:moveTo>
                  <a:lnTo>
                    <a:pt x="5120640" y="0"/>
                  </a:lnTo>
                  <a:lnTo>
                    <a:pt x="5120640" y="944265"/>
                  </a:lnTo>
                  <a:lnTo>
                    <a:pt x="0" y="944265"/>
                  </a:lnTo>
                  <a:close/>
                </a:path>
              </a:pathLst>
            </a:custGeom>
            <a:blipFill>
              <a:blip r:embed="rId3">
                <a:alphaModFix amt="0"/>
              </a:blip>
              <a:stretch>
                <a:fillRect l="0" t="-64347" r="0" b="-46982"/>
              </a:stretch>
            </a:blipFill>
          </p:spPr>
        </p:sp>
        <p:sp>
          <p:nvSpPr>
            <p:cNvPr name="TextBox 40" id="40"/>
            <p:cNvSpPr txBox="true"/>
            <p:nvPr/>
          </p:nvSpPr>
          <p:spPr>
            <a:xfrm>
              <a:off x="0" y="-38100"/>
              <a:ext cx="5120640"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All IRFs converge to zero within 10–15 periods</a:t>
              </a:r>
            </a:p>
          </p:txBody>
        </p:sp>
      </p:grpSp>
      <p:grpSp>
        <p:nvGrpSpPr>
          <p:cNvPr name="Group 41" id="41"/>
          <p:cNvGrpSpPr/>
          <p:nvPr/>
        </p:nvGrpSpPr>
        <p:grpSpPr>
          <a:xfrm rot="0">
            <a:off x="1028700" y="7553175"/>
            <a:ext cx="3657600" cy="585216"/>
            <a:chOff x="0" y="0"/>
            <a:chExt cx="4876800" cy="780288"/>
          </a:xfrm>
        </p:grpSpPr>
        <p:sp>
          <p:nvSpPr>
            <p:cNvPr name="Freeform 42" id="42"/>
            <p:cNvSpPr/>
            <p:nvPr/>
          </p:nvSpPr>
          <p:spPr>
            <a:xfrm flipH="false" flipV="false" rot="0">
              <a:off x="0" y="0"/>
              <a:ext cx="4876800" cy="780288"/>
            </a:xfrm>
            <a:custGeom>
              <a:avLst/>
              <a:gdLst/>
              <a:ahLst/>
              <a:cxnLst/>
              <a:rect r="r" b="b" t="t" l="l"/>
              <a:pathLst>
                <a:path h="780288" w="4876800">
                  <a:moveTo>
                    <a:pt x="0" y="0"/>
                  </a:moveTo>
                  <a:lnTo>
                    <a:pt x="4876800" y="0"/>
                  </a:lnTo>
                  <a:lnTo>
                    <a:pt x="4876800" y="780288"/>
                  </a:lnTo>
                  <a:lnTo>
                    <a:pt x="0" y="780288"/>
                  </a:lnTo>
                  <a:close/>
                </a:path>
              </a:pathLst>
            </a:custGeom>
            <a:blipFill>
              <a:blip r:embed="rId3">
                <a:alphaModFix amt="0"/>
              </a:blip>
              <a:stretch>
                <a:fillRect l="0" t="-71781" r="0" b="-71781"/>
              </a:stretch>
            </a:blipFill>
          </p:spPr>
        </p:sp>
        <p:sp>
          <p:nvSpPr>
            <p:cNvPr name="TextBox 43" id="43"/>
            <p:cNvSpPr txBox="true"/>
            <p:nvPr/>
          </p:nvSpPr>
          <p:spPr>
            <a:xfrm>
              <a:off x="0" y="-38100"/>
              <a:ext cx="4876800" cy="818388"/>
            </a:xfrm>
            <a:prstGeom prst="rect">
              <a:avLst/>
            </a:prstGeom>
          </p:spPr>
          <p:txBody>
            <a:bodyPr anchor="ctr" rtlCol="false" tIns="0" lIns="0" bIns="0" rIns="0"/>
            <a:lstStyle/>
            <a:p>
              <a:pPr algn="l">
                <a:lnSpc>
                  <a:spcPts val="2400"/>
                </a:lnSpc>
              </a:pPr>
              <a:r>
                <a:rPr lang="en-US" sz="2000" b="true">
                  <a:solidFill>
                    <a:srgbClr val="1E2761"/>
                  </a:solidFill>
                  <a:latin typeface="Calibri (MS) Bold"/>
                  <a:ea typeface="Calibri (MS) Bold"/>
                  <a:cs typeface="Calibri (MS) Bold"/>
                  <a:sym typeface="Calibri (MS) Bold"/>
                </a:rPr>
                <a:t>Cholesky ordering:</a:t>
              </a:r>
            </a:p>
          </p:txBody>
        </p:sp>
      </p:grpSp>
      <p:grpSp>
        <p:nvGrpSpPr>
          <p:cNvPr name="Group 44" id="44"/>
          <p:cNvGrpSpPr/>
          <p:nvPr/>
        </p:nvGrpSpPr>
        <p:grpSpPr>
          <a:xfrm rot="0">
            <a:off x="4777740" y="7553175"/>
            <a:ext cx="3840480" cy="708199"/>
            <a:chOff x="0" y="0"/>
            <a:chExt cx="5120640" cy="944265"/>
          </a:xfrm>
        </p:grpSpPr>
        <p:sp>
          <p:nvSpPr>
            <p:cNvPr name="Freeform 45" id="45"/>
            <p:cNvSpPr/>
            <p:nvPr/>
          </p:nvSpPr>
          <p:spPr>
            <a:xfrm flipH="false" flipV="false" rot="0">
              <a:off x="0" y="0"/>
              <a:ext cx="5120640" cy="944265"/>
            </a:xfrm>
            <a:custGeom>
              <a:avLst/>
              <a:gdLst/>
              <a:ahLst/>
              <a:cxnLst/>
              <a:rect r="r" b="b" t="t" l="l"/>
              <a:pathLst>
                <a:path h="944265" w="5120640">
                  <a:moveTo>
                    <a:pt x="0" y="0"/>
                  </a:moveTo>
                  <a:lnTo>
                    <a:pt x="5120640" y="0"/>
                  </a:lnTo>
                  <a:lnTo>
                    <a:pt x="5120640" y="944265"/>
                  </a:lnTo>
                  <a:lnTo>
                    <a:pt x="0" y="944265"/>
                  </a:lnTo>
                  <a:close/>
                </a:path>
              </a:pathLst>
            </a:custGeom>
            <a:blipFill>
              <a:blip r:embed="rId3">
                <a:alphaModFix amt="0"/>
              </a:blip>
              <a:stretch>
                <a:fillRect l="0" t="-64347" r="0" b="-46982"/>
              </a:stretch>
            </a:blipFill>
          </p:spPr>
        </p:sp>
        <p:sp>
          <p:nvSpPr>
            <p:cNvPr name="TextBox 46" id="46"/>
            <p:cNvSpPr txBox="true"/>
            <p:nvPr/>
          </p:nvSpPr>
          <p:spPr>
            <a:xfrm>
              <a:off x="0" y="-38100"/>
              <a:ext cx="5120640" cy="982365"/>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VIX (exogenous) → SP500 → MSFT (firm-level)</a:t>
              </a:r>
            </a:p>
          </p:txBody>
        </p:sp>
      </p:grpSp>
      <p:grpSp>
        <p:nvGrpSpPr>
          <p:cNvPr name="Group 47" id="47"/>
          <p:cNvGrpSpPr/>
          <p:nvPr/>
        </p:nvGrpSpPr>
        <p:grpSpPr>
          <a:xfrm rot="0">
            <a:off x="901703" y="289055"/>
            <a:ext cx="1031243" cy="1031243"/>
            <a:chOff x="0" y="0"/>
            <a:chExt cx="1374991" cy="1374991"/>
          </a:xfrm>
        </p:grpSpPr>
        <p:sp>
          <p:nvSpPr>
            <p:cNvPr name="Freeform 48" id="48"/>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49" id="49"/>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50" id="50"/>
          <p:cNvGrpSpPr/>
          <p:nvPr/>
        </p:nvGrpSpPr>
        <p:grpSpPr>
          <a:xfrm rot="0">
            <a:off x="914400" y="301752"/>
            <a:ext cx="1005840" cy="1005840"/>
            <a:chOff x="0" y="0"/>
            <a:chExt cx="1341120" cy="1341120"/>
          </a:xfrm>
        </p:grpSpPr>
        <p:sp>
          <p:nvSpPr>
            <p:cNvPr name="Freeform 51" id="51"/>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52" id="52"/>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03</a:t>
              </a:r>
            </a:p>
          </p:txBody>
        </p:sp>
      </p:grpSp>
      <p:sp>
        <p:nvSpPr>
          <p:cNvPr name="AutoShape 53" id="53"/>
          <p:cNvSpPr/>
          <p:nvPr/>
        </p:nvSpPr>
        <p:spPr>
          <a:xfrm>
            <a:off x="3865051" y="4946754"/>
            <a:ext cx="821249" cy="0"/>
          </a:xfrm>
          <a:prstGeom prst="line">
            <a:avLst/>
          </a:prstGeom>
          <a:ln cap="flat" w="38100">
            <a:solidFill>
              <a:srgbClr val="000000"/>
            </a:solidFill>
            <a:prstDash val="solid"/>
            <a:headEnd type="none" len="sm" w="sm"/>
            <a:tailEnd type="triangle" len="med" w="lg"/>
          </a:ln>
        </p:spPr>
      </p:sp>
      <p:sp>
        <p:nvSpPr>
          <p:cNvPr name="AutoShape 54" id="54"/>
          <p:cNvSpPr/>
          <p:nvPr/>
        </p:nvSpPr>
        <p:spPr>
          <a:xfrm>
            <a:off x="3829015" y="5767578"/>
            <a:ext cx="821249" cy="0"/>
          </a:xfrm>
          <a:prstGeom prst="line">
            <a:avLst/>
          </a:prstGeom>
          <a:ln cap="flat" w="38100">
            <a:solidFill>
              <a:srgbClr val="000000"/>
            </a:solidFill>
            <a:prstDash val="solid"/>
            <a:headEnd type="none" len="sm" w="sm"/>
            <a:tailEnd type="triangle" len="med" w="lg"/>
          </a:ln>
        </p:spPr>
      </p:sp>
      <p:sp>
        <p:nvSpPr>
          <p:cNvPr name="AutoShape 55" id="55"/>
          <p:cNvSpPr/>
          <p:nvPr/>
        </p:nvSpPr>
        <p:spPr>
          <a:xfrm>
            <a:off x="3865051" y="6400269"/>
            <a:ext cx="821249" cy="0"/>
          </a:xfrm>
          <a:prstGeom prst="line">
            <a:avLst/>
          </a:prstGeom>
          <a:ln cap="flat" w="38100">
            <a:solidFill>
              <a:srgbClr val="000000"/>
            </a:solidFill>
            <a:prstDash val="solid"/>
            <a:headEnd type="none" len="sm" w="sm"/>
            <a:tailEnd type="triangle" len="med" w="lg"/>
          </a:ln>
        </p:spPr>
      </p:sp>
      <p:sp>
        <p:nvSpPr>
          <p:cNvPr name="AutoShape 56" id="56"/>
          <p:cNvSpPr/>
          <p:nvPr/>
        </p:nvSpPr>
        <p:spPr>
          <a:xfrm>
            <a:off x="3865051" y="7151601"/>
            <a:ext cx="821249" cy="0"/>
          </a:xfrm>
          <a:prstGeom prst="line">
            <a:avLst/>
          </a:prstGeom>
          <a:ln cap="flat" w="38100">
            <a:solidFill>
              <a:srgbClr val="000000"/>
            </a:solidFill>
            <a:prstDash val="solid"/>
            <a:headEnd type="none" len="sm" w="sm"/>
            <a:tailEnd type="triangle" len="med" w="lg"/>
          </a:ln>
        </p:spPr>
      </p:sp>
      <p:sp>
        <p:nvSpPr>
          <p:cNvPr name="AutoShape 57" id="57"/>
          <p:cNvSpPr/>
          <p:nvPr/>
        </p:nvSpPr>
        <p:spPr>
          <a:xfrm>
            <a:off x="3865051" y="7888224"/>
            <a:ext cx="821249" cy="0"/>
          </a:xfrm>
          <a:prstGeom prst="line">
            <a:avLst/>
          </a:prstGeom>
          <a:ln cap="flat" w="38100">
            <a:solidFill>
              <a:srgbClr val="000000"/>
            </a:solidFill>
            <a:prstDash val="solid"/>
            <a:headEnd type="none" len="sm" w="sm"/>
            <a:tailEnd type="triangle" len="med" w="lg"/>
          </a:ln>
        </p:spPr>
      </p:sp>
      <p:sp>
        <p:nvSpPr>
          <p:cNvPr name="Freeform 58" id="58"/>
          <p:cNvSpPr/>
          <p:nvPr/>
        </p:nvSpPr>
        <p:spPr>
          <a:xfrm flipH="false" flipV="false" rot="0">
            <a:off x="9206534" y="1716947"/>
            <a:ext cx="7966352" cy="2540477"/>
          </a:xfrm>
          <a:custGeom>
            <a:avLst/>
            <a:gdLst/>
            <a:ahLst/>
            <a:cxnLst/>
            <a:rect r="r" b="b" t="t" l="l"/>
            <a:pathLst>
              <a:path h="2540477" w="7966352">
                <a:moveTo>
                  <a:pt x="0" y="0"/>
                </a:moveTo>
                <a:lnTo>
                  <a:pt x="7966352" y="0"/>
                </a:lnTo>
                <a:lnTo>
                  <a:pt x="7966352" y="2540477"/>
                </a:lnTo>
                <a:lnTo>
                  <a:pt x="0" y="2540477"/>
                </a:lnTo>
                <a:lnTo>
                  <a:pt x="0" y="0"/>
                </a:lnTo>
                <a:close/>
              </a:path>
            </a:pathLst>
          </a:custGeom>
          <a:blipFill>
            <a:blip r:embed="rId4"/>
            <a:stretch>
              <a:fillRect l="0" t="0" r="0" b="0"/>
            </a:stretch>
          </a:blipFill>
          <a:ln w="38100" cap="sq">
            <a:solidFill>
              <a:srgbClr val="000000"/>
            </a:solidFill>
            <a:prstDash val="solid"/>
            <a:miter/>
          </a:ln>
        </p:spPr>
      </p:sp>
      <p:sp>
        <p:nvSpPr>
          <p:cNvPr name="Freeform 59" id="59"/>
          <p:cNvSpPr/>
          <p:nvPr/>
        </p:nvSpPr>
        <p:spPr>
          <a:xfrm flipH="false" flipV="false" rot="0">
            <a:off x="9206534" y="4349114"/>
            <a:ext cx="7966352" cy="2546566"/>
          </a:xfrm>
          <a:custGeom>
            <a:avLst/>
            <a:gdLst/>
            <a:ahLst/>
            <a:cxnLst/>
            <a:rect r="r" b="b" t="t" l="l"/>
            <a:pathLst>
              <a:path h="2546566" w="7966352">
                <a:moveTo>
                  <a:pt x="0" y="0"/>
                </a:moveTo>
                <a:lnTo>
                  <a:pt x="7966352" y="0"/>
                </a:lnTo>
                <a:lnTo>
                  <a:pt x="7966352" y="2546566"/>
                </a:lnTo>
                <a:lnTo>
                  <a:pt x="0" y="2546566"/>
                </a:lnTo>
                <a:lnTo>
                  <a:pt x="0" y="0"/>
                </a:lnTo>
                <a:close/>
              </a:path>
            </a:pathLst>
          </a:custGeom>
          <a:blipFill>
            <a:blip r:embed="rId5"/>
            <a:stretch>
              <a:fillRect l="0" t="0" r="0" b="0"/>
            </a:stretch>
          </a:blipFill>
          <a:ln w="38100" cap="sq">
            <a:solidFill>
              <a:srgbClr val="000000"/>
            </a:solidFill>
            <a:prstDash val="solid"/>
            <a:miter/>
          </a:ln>
        </p:spPr>
      </p:sp>
      <p:sp>
        <p:nvSpPr>
          <p:cNvPr name="Freeform 60" id="60"/>
          <p:cNvSpPr/>
          <p:nvPr/>
        </p:nvSpPr>
        <p:spPr>
          <a:xfrm flipH="false" flipV="false" rot="0">
            <a:off x="9206534" y="6990930"/>
            <a:ext cx="7966352" cy="2704297"/>
          </a:xfrm>
          <a:custGeom>
            <a:avLst/>
            <a:gdLst/>
            <a:ahLst/>
            <a:cxnLst/>
            <a:rect r="r" b="b" t="t" l="l"/>
            <a:pathLst>
              <a:path h="2704297" w="7966352">
                <a:moveTo>
                  <a:pt x="0" y="0"/>
                </a:moveTo>
                <a:lnTo>
                  <a:pt x="7966352" y="0"/>
                </a:lnTo>
                <a:lnTo>
                  <a:pt x="7966352" y="2704296"/>
                </a:lnTo>
                <a:lnTo>
                  <a:pt x="0" y="2704296"/>
                </a:lnTo>
                <a:lnTo>
                  <a:pt x="0" y="0"/>
                </a:lnTo>
                <a:close/>
              </a:path>
            </a:pathLst>
          </a:custGeom>
          <a:blipFill>
            <a:blip r:embed="rId6"/>
            <a:stretch>
              <a:fillRect l="0" t="0" r="0" b="0"/>
            </a:stretch>
          </a:blipFill>
          <a:ln w="38100" cap="sq">
            <a:solidFill>
              <a:srgbClr val="000000"/>
            </a:solidFill>
            <a:prstDash val="solid"/>
            <a:miter/>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480058"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492754"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2 · VECM</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For</a:t>
              </a:r>
              <a:r>
                <a:rPr lang="en-US" sz="5200" b="true">
                  <a:solidFill>
                    <a:srgbClr val="1E2761"/>
                  </a:solidFill>
                  <a:latin typeface="Calibri (MS) Bold"/>
                  <a:ea typeface="Calibri (MS) Bold"/>
                  <a:cs typeface="Calibri (MS) Bold"/>
                  <a:sym typeface="Calibri (MS) Bold"/>
                </a:rPr>
                <a:t>ecasting &amp; Out-of-Sample Validation</a:t>
              </a:r>
            </a:p>
          </p:txBody>
        </p:sp>
      </p:grpSp>
      <p:grpSp>
        <p:nvGrpSpPr>
          <p:cNvPr name="Group 11" id="11"/>
          <p:cNvGrpSpPr/>
          <p:nvPr/>
        </p:nvGrpSpPr>
        <p:grpSpPr>
          <a:xfrm rot="0">
            <a:off x="9764547" y="3956811"/>
            <a:ext cx="3134363" cy="1342139"/>
            <a:chOff x="0" y="0"/>
            <a:chExt cx="4179151" cy="1789519"/>
          </a:xfrm>
        </p:grpSpPr>
        <p:sp>
          <p:nvSpPr>
            <p:cNvPr name="Freeform 12" id="12"/>
            <p:cNvSpPr/>
            <p:nvPr/>
          </p:nvSpPr>
          <p:spPr>
            <a:xfrm flipH="false" flipV="false" rot="0">
              <a:off x="16891" y="16891"/>
              <a:ext cx="4145280" cy="1755648"/>
            </a:xfrm>
            <a:custGeom>
              <a:avLst/>
              <a:gdLst/>
              <a:ahLst/>
              <a:cxnLst/>
              <a:rect r="r" b="b" t="t" l="l"/>
              <a:pathLst>
                <a:path h="1755648" w="4145280">
                  <a:moveTo>
                    <a:pt x="0" y="0"/>
                  </a:moveTo>
                  <a:lnTo>
                    <a:pt x="4145280" y="0"/>
                  </a:lnTo>
                  <a:lnTo>
                    <a:pt x="4145280" y="1755648"/>
                  </a:lnTo>
                  <a:lnTo>
                    <a:pt x="0" y="1755648"/>
                  </a:lnTo>
                  <a:close/>
                </a:path>
              </a:pathLst>
            </a:custGeom>
            <a:solidFill>
              <a:srgbClr val="E8F0FE"/>
            </a:solidFill>
          </p:spPr>
        </p:sp>
        <p:sp>
          <p:nvSpPr>
            <p:cNvPr name="Freeform 13" id="13"/>
            <p:cNvSpPr/>
            <p:nvPr/>
          </p:nvSpPr>
          <p:spPr>
            <a:xfrm flipH="false" flipV="false" rot="0">
              <a:off x="0" y="0"/>
              <a:ext cx="4179062" cy="1789430"/>
            </a:xfrm>
            <a:custGeom>
              <a:avLst/>
              <a:gdLst/>
              <a:ahLst/>
              <a:cxnLst/>
              <a:rect r="r" b="b" t="t" l="l"/>
              <a:pathLst>
                <a:path h="1789430" w="4179062">
                  <a:moveTo>
                    <a:pt x="16891" y="0"/>
                  </a:moveTo>
                  <a:lnTo>
                    <a:pt x="4162171" y="0"/>
                  </a:lnTo>
                  <a:cubicBezTo>
                    <a:pt x="4171569" y="0"/>
                    <a:pt x="4179062" y="7620"/>
                    <a:pt x="4179062" y="16891"/>
                  </a:cubicBezTo>
                  <a:lnTo>
                    <a:pt x="4179062" y="1772539"/>
                  </a:lnTo>
                  <a:cubicBezTo>
                    <a:pt x="4179062" y="1781937"/>
                    <a:pt x="4171442" y="1789430"/>
                    <a:pt x="4162171"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4162171" y="1755648"/>
                  </a:lnTo>
                  <a:lnTo>
                    <a:pt x="4162171" y="1772539"/>
                  </a:lnTo>
                  <a:lnTo>
                    <a:pt x="4145280" y="1772539"/>
                  </a:lnTo>
                  <a:lnTo>
                    <a:pt x="4145280" y="16891"/>
                  </a:lnTo>
                  <a:lnTo>
                    <a:pt x="4162171" y="16891"/>
                  </a:lnTo>
                  <a:lnTo>
                    <a:pt x="4162171" y="33909"/>
                  </a:lnTo>
                  <a:lnTo>
                    <a:pt x="16891" y="33909"/>
                  </a:lnTo>
                  <a:close/>
                </a:path>
              </a:pathLst>
            </a:custGeom>
            <a:solidFill>
              <a:srgbClr val="CADCFC"/>
            </a:solidFill>
          </p:spPr>
        </p:sp>
      </p:grpSp>
      <p:grpSp>
        <p:nvGrpSpPr>
          <p:cNvPr name="Group 14" id="14"/>
          <p:cNvGrpSpPr/>
          <p:nvPr/>
        </p:nvGrpSpPr>
        <p:grpSpPr>
          <a:xfrm rot="0">
            <a:off x="9777244" y="4042660"/>
            <a:ext cx="3108960" cy="512064"/>
            <a:chOff x="0" y="0"/>
            <a:chExt cx="4145280" cy="682752"/>
          </a:xfrm>
        </p:grpSpPr>
        <p:sp>
          <p:nvSpPr>
            <p:cNvPr name="Freeform 15" id="15"/>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16" id="16"/>
            <p:cNvSpPr txBox="true"/>
            <p:nvPr/>
          </p:nvSpPr>
          <p:spPr>
            <a:xfrm>
              <a:off x="0" y="-47625"/>
              <a:ext cx="4145280" cy="730377"/>
            </a:xfrm>
            <a:prstGeom prst="rect">
              <a:avLst/>
            </a:prstGeom>
          </p:spPr>
          <p:txBody>
            <a:bodyPr anchor="ctr" rtlCol="false" tIns="0" lIns="0" bIns="0" rIns="0"/>
            <a:lstStyle/>
            <a:p>
              <a:pPr algn="ctr">
                <a:lnSpc>
                  <a:spcPts val="2399"/>
                </a:lnSpc>
              </a:pPr>
              <a:r>
                <a:rPr lang="en-US" sz="1999" b="true">
                  <a:solidFill>
                    <a:srgbClr val="000000"/>
                  </a:solidFill>
                  <a:latin typeface="Calibri (MS) Bold"/>
                  <a:ea typeface="Calibri (MS) Bold"/>
                  <a:cs typeface="Calibri (MS) Bold"/>
                  <a:sym typeface="Calibri (MS) Bold"/>
                </a:rPr>
                <a:t>MSFT RMSE</a:t>
              </a:r>
            </a:p>
          </p:txBody>
        </p:sp>
      </p:grpSp>
      <p:grpSp>
        <p:nvGrpSpPr>
          <p:cNvPr name="Group 17" id="17"/>
          <p:cNvGrpSpPr/>
          <p:nvPr/>
        </p:nvGrpSpPr>
        <p:grpSpPr>
          <a:xfrm rot="0">
            <a:off x="9777244" y="4518148"/>
            <a:ext cx="3108960" cy="585216"/>
            <a:chOff x="0" y="0"/>
            <a:chExt cx="4145280" cy="780288"/>
          </a:xfrm>
        </p:grpSpPr>
        <p:sp>
          <p:nvSpPr>
            <p:cNvPr name="Freeform 18" id="18"/>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3">
                <a:alphaModFix amt="0"/>
              </a:blip>
              <a:stretch>
                <a:fillRect l="0" t="-53514" r="0" b="-53514"/>
              </a:stretch>
            </a:blipFill>
          </p:spPr>
        </p:sp>
        <p:sp>
          <p:nvSpPr>
            <p:cNvPr name="TextBox 19" id="19"/>
            <p:cNvSpPr txBox="true"/>
            <p:nvPr/>
          </p:nvSpPr>
          <p:spPr>
            <a:xfrm>
              <a:off x="0" y="-38100"/>
              <a:ext cx="4145280" cy="818388"/>
            </a:xfrm>
            <a:prstGeom prst="rect">
              <a:avLst/>
            </a:prstGeom>
          </p:spPr>
          <p:txBody>
            <a:bodyPr anchor="ctr" rtlCol="false" tIns="0" lIns="0" bIns="0" rIns="0"/>
            <a:lstStyle/>
            <a:p>
              <a:pPr algn="ctr">
                <a:lnSpc>
                  <a:spcPts val="2879"/>
                </a:lnSpc>
              </a:pPr>
              <a:r>
                <a:rPr lang="en-US" sz="2400" b="true">
                  <a:solidFill>
                    <a:srgbClr val="1E2761"/>
                  </a:solidFill>
                  <a:latin typeface="Calibri (MS) Bold"/>
                  <a:ea typeface="Calibri (MS) Bold"/>
                  <a:cs typeface="Calibri (MS) Bold"/>
                  <a:sym typeface="Calibri (MS) Bold"/>
                </a:rPr>
                <a:t>$24.59</a:t>
              </a:r>
            </a:p>
          </p:txBody>
        </p:sp>
      </p:grpSp>
      <p:grpSp>
        <p:nvGrpSpPr>
          <p:cNvPr name="Group 20" id="20"/>
          <p:cNvGrpSpPr/>
          <p:nvPr/>
        </p:nvGrpSpPr>
        <p:grpSpPr>
          <a:xfrm rot="0">
            <a:off x="14056357" y="3956811"/>
            <a:ext cx="3134363" cy="1342139"/>
            <a:chOff x="0" y="0"/>
            <a:chExt cx="4179151" cy="1789519"/>
          </a:xfrm>
        </p:grpSpPr>
        <p:sp>
          <p:nvSpPr>
            <p:cNvPr name="Freeform 21" id="21"/>
            <p:cNvSpPr/>
            <p:nvPr/>
          </p:nvSpPr>
          <p:spPr>
            <a:xfrm flipH="false" flipV="false" rot="0">
              <a:off x="16891" y="16891"/>
              <a:ext cx="4145280" cy="1755648"/>
            </a:xfrm>
            <a:custGeom>
              <a:avLst/>
              <a:gdLst/>
              <a:ahLst/>
              <a:cxnLst/>
              <a:rect r="r" b="b" t="t" l="l"/>
              <a:pathLst>
                <a:path h="1755648" w="4145280">
                  <a:moveTo>
                    <a:pt x="0" y="0"/>
                  </a:moveTo>
                  <a:lnTo>
                    <a:pt x="4145280" y="0"/>
                  </a:lnTo>
                  <a:lnTo>
                    <a:pt x="4145280" y="1755648"/>
                  </a:lnTo>
                  <a:lnTo>
                    <a:pt x="0" y="1755648"/>
                  </a:lnTo>
                  <a:close/>
                </a:path>
              </a:pathLst>
            </a:custGeom>
            <a:solidFill>
              <a:srgbClr val="E8F0FE"/>
            </a:solidFill>
          </p:spPr>
        </p:sp>
        <p:sp>
          <p:nvSpPr>
            <p:cNvPr name="Freeform 22" id="22"/>
            <p:cNvSpPr/>
            <p:nvPr/>
          </p:nvSpPr>
          <p:spPr>
            <a:xfrm flipH="false" flipV="false" rot="0">
              <a:off x="0" y="0"/>
              <a:ext cx="4179062" cy="1789430"/>
            </a:xfrm>
            <a:custGeom>
              <a:avLst/>
              <a:gdLst/>
              <a:ahLst/>
              <a:cxnLst/>
              <a:rect r="r" b="b" t="t" l="l"/>
              <a:pathLst>
                <a:path h="1789430" w="4179062">
                  <a:moveTo>
                    <a:pt x="16891" y="0"/>
                  </a:moveTo>
                  <a:lnTo>
                    <a:pt x="4162171" y="0"/>
                  </a:lnTo>
                  <a:cubicBezTo>
                    <a:pt x="4171569" y="0"/>
                    <a:pt x="4179062" y="7620"/>
                    <a:pt x="4179062" y="16891"/>
                  </a:cubicBezTo>
                  <a:lnTo>
                    <a:pt x="4179062" y="1772539"/>
                  </a:lnTo>
                  <a:cubicBezTo>
                    <a:pt x="4179062" y="1781937"/>
                    <a:pt x="4171442" y="1789430"/>
                    <a:pt x="4162171" y="1789430"/>
                  </a:cubicBezTo>
                  <a:lnTo>
                    <a:pt x="16891" y="1789430"/>
                  </a:lnTo>
                  <a:cubicBezTo>
                    <a:pt x="7493" y="1789430"/>
                    <a:pt x="0" y="1781810"/>
                    <a:pt x="0" y="1772539"/>
                  </a:cubicBezTo>
                  <a:lnTo>
                    <a:pt x="0" y="16891"/>
                  </a:lnTo>
                  <a:cubicBezTo>
                    <a:pt x="0" y="7620"/>
                    <a:pt x="7620" y="0"/>
                    <a:pt x="16891" y="0"/>
                  </a:cubicBezTo>
                  <a:moveTo>
                    <a:pt x="16891" y="33909"/>
                  </a:moveTo>
                  <a:lnTo>
                    <a:pt x="16891" y="16891"/>
                  </a:lnTo>
                  <a:lnTo>
                    <a:pt x="33909" y="16891"/>
                  </a:lnTo>
                  <a:lnTo>
                    <a:pt x="33909" y="1772539"/>
                  </a:lnTo>
                  <a:lnTo>
                    <a:pt x="16891" y="1772539"/>
                  </a:lnTo>
                  <a:lnTo>
                    <a:pt x="16891" y="1755648"/>
                  </a:lnTo>
                  <a:lnTo>
                    <a:pt x="4162171" y="1755648"/>
                  </a:lnTo>
                  <a:lnTo>
                    <a:pt x="4162171" y="1772539"/>
                  </a:lnTo>
                  <a:lnTo>
                    <a:pt x="4145280" y="1772539"/>
                  </a:lnTo>
                  <a:lnTo>
                    <a:pt x="4145280" y="16891"/>
                  </a:lnTo>
                  <a:lnTo>
                    <a:pt x="4162171" y="16891"/>
                  </a:lnTo>
                  <a:lnTo>
                    <a:pt x="4162171" y="33909"/>
                  </a:lnTo>
                  <a:lnTo>
                    <a:pt x="16891" y="33909"/>
                  </a:lnTo>
                  <a:close/>
                </a:path>
              </a:pathLst>
            </a:custGeom>
            <a:solidFill>
              <a:srgbClr val="CADCFC"/>
            </a:solidFill>
          </p:spPr>
        </p:sp>
      </p:grpSp>
      <p:grpSp>
        <p:nvGrpSpPr>
          <p:cNvPr name="Group 23" id="23"/>
          <p:cNvGrpSpPr/>
          <p:nvPr/>
        </p:nvGrpSpPr>
        <p:grpSpPr>
          <a:xfrm rot="0">
            <a:off x="14069054" y="4042660"/>
            <a:ext cx="3108960" cy="512064"/>
            <a:chOff x="0" y="0"/>
            <a:chExt cx="4145280" cy="682752"/>
          </a:xfrm>
        </p:grpSpPr>
        <p:sp>
          <p:nvSpPr>
            <p:cNvPr name="Freeform 24" id="24"/>
            <p:cNvSpPr/>
            <p:nvPr/>
          </p:nvSpPr>
          <p:spPr>
            <a:xfrm flipH="false" flipV="false" rot="0">
              <a:off x="0" y="0"/>
              <a:ext cx="4145280" cy="682752"/>
            </a:xfrm>
            <a:custGeom>
              <a:avLst/>
              <a:gdLst/>
              <a:ahLst/>
              <a:cxnLst/>
              <a:rect r="r" b="b" t="t" l="l"/>
              <a:pathLst>
                <a:path h="682752" w="4145280">
                  <a:moveTo>
                    <a:pt x="0" y="0"/>
                  </a:moveTo>
                  <a:lnTo>
                    <a:pt x="4145280" y="0"/>
                  </a:lnTo>
                  <a:lnTo>
                    <a:pt x="4145280" y="682752"/>
                  </a:lnTo>
                  <a:lnTo>
                    <a:pt x="0" y="682752"/>
                  </a:lnTo>
                  <a:close/>
                </a:path>
              </a:pathLst>
            </a:custGeom>
            <a:blipFill>
              <a:blip r:embed="rId3">
                <a:alphaModFix amt="0"/>
              </a:blip>
              <a:stretch>
                <a:fillRect l="0" t="-68302" r="0" b="-68302"/>
              </a:stretch>
            </a:blipFill>
          </p:spPr>
        </p:sp>
        <p:sp>
          <p:nvSpPr>
            <p:cNvPr name="TextBox 25" id="25"/>
            <p:cNvSpPr txBox="true"/>
            <p:nvPr/>
          </p:nvSpPr>
          <p:spPr>
            <a:xfrm>
              <a:off x="0" y="-47625"/>
              <a:ext cx="4145280" cy="730377"/>
            </a:xfrm>
            <a:prstGeom prst="rect">
              <a:avLst/>
            </a:prstGeom>
          </p:spPr>
          <p:txBody>
            <a:bodyPr anchor="ctr" rtlCol="false" tIns="0" lIns="0" bIns="0" rIns="0"/>
            <a:lstStyle/>
            <a:p>
              <a:pPr algn="ctr">
                <a:lnSpc>
                  <a:spcPts val="2399"/>
                </a:lnSpc>
              </a:pPr>
              <a:r>
                <a:rPr lang="en-US" sz="1999" b="true">
                  <a:solidFill>
                    <a:srgbClr val="000000"/>
                  </a:solidFill>
                  <a:latin typeface="Calibri (MS) Bold"/>
                  <a:ea typeface="Calibri (MS) Bold"/>
                  <a:cs typeface="Calibri (MS) Bold"/>
                  <a:sym typeface="Calibri (MS) Bold"/>
                </a:rPr>
                <a:t>MSFT MAE</a:t>
              </a:r>
            </a:p>
          </p:txBody>
        </p:sp>
      </p:grpSp>
      <p:grpSp>
        <p:nvGrpSpPr>
          <p:cNvPr name="Group 26" id="26"/>
          <p:cNvGrpSpPr/>
          <p:nvPr/>
        </p:nvGrpSpPr>
        <p:grpSpPr>
          <a:xfrm rot="0">
            <a:off x="14069054" y="4518148"/>
            <a:ext cx="3108960" cy="585216"/>
            <a:chOff x="0" y="0"/>
            <a:chExt cx="4145280" cy="780288"/>
          </a:xfrm>
        </p:grpSpPr>
        <p:sp>
          <p:nvSpPr>
            <p:cNvPr name="Freeform 27" id="27"/>
            <p:cNvSpPr/>
            <p:nvPr/>
          </p:nvSpPr>
          <p:spPr>
            <a:xfrm flipH="false" flipV="false" rot="0">
              <a:off x="0" y="0"/>
              <a:ext cx="4145280" cy="780288"/>
            </a:xfrm>
            <a:custGeom>
              <a:avLst/>
              <a:gdLst/>
              <a:ahLst/>
              <a:cxnLst/>
              <a:rect r="r" b="b" t="t" l="l"/>
              <a:pathLst>
                <a:path h="780288" w="4145280">
                  <a:moveTo>
                    <a:pt x="0" y="0"/>
                  </a:moveTo>
                  <a:lnTo>
                    <a:pt x="4145280" y="0"/>
                  </a:lnTo>
                  <a:lnTo>
                    <a:pt x="4145280" y="780288"/>
                  </a:lnTo>
                  <a:lnTo>
                    <a:pt x="0" y="780288"/>
                  </a:lnTo>
                  <a:close/>
                </a:path>
              </a:pathLst>
            </a:custGeom>
            <a:blipFill>
              <a:blip r:embed="rId3">
                <a:alphaModFix amt="0"/>
              </a:blip>
              <a:stretch>
                <a:fillRect l="0" t="-53514" r="0" b="-53514"/>
              </a:stretch>
            </a:blipFill>
          </p:spPr>
        </p:sp>
        <p:sp>
          <p:nvSpPr>
            <p:cNvPr name="TextBox 28" id="28"/>
            <p:cNvSpPr txBox="true"/>
            <p:nvPr/>
          </p:nvSpPr>
          <p:spPr>
            <a:xfrm>
              <a:off x="0" y="-38100"/>
              <a:ext cx="4145280" cy="818388"/>
            </a:xfrm>
            <a:prstGeom prst="rect">
              <a:avLst/>
            </a:prstGeom>
          </p:spPr>
          <p:txBody>
            <a:bodyPr anchor="ctr" rtlCol="false" tIns="0" lIns="0" bIns="0" rIns="0"/>
            <a:lstStyle/>
            <a:p>
              <a:pPr algn="ctr">
                <a:lnSpc>
                  <a:spcPts val="2879"/>
                </a:lnSpc>
              </a:pPr>
              <a:r>
                <a:rPr lang="en-US" sz="2400" b="true">
                  <a:solidFill>
                    <a:srgbClr val="1E2761"/>
                  </a:solidFill>
                  <a:latin typeface="Calibri (MS) Bold"/>
                  <a:ea typeface="Calibri (MS) Bold"/>
                  <a:cs typeface="Calibri (MS) Bold"/>
                  <a:sym typeface="Calibri (MS) Bold"/>
                </a:rPr>
                <a:t>$22.69</a:t>
              </a:r>
            </a:p>
          </p:txBody>
        </p:sp>
      </p:grpSp>
      <p:grpSp>
        <p:nvGrpSpPr>
          <p:cNvPr name="Group 29" id="29"/>
          <p:cNvGrpSpPr/>
          <p:nvPr/>
        </p:nvGrpSpPr>
        <p:grpSpPr>
          <a:xfrm rot="0">
            <a:off x="901703" y="289055"/>
            <a:ext cx="1031243" cy="1031243"/>
            <a:chOff x="0" y="0"/>
            <a:chExt cx="1374991" cy="1374991"/>
          </a:xfrm>
        </p:grpSpPr>
        <p:sp>
          <p:nvSpPr>
            <p:cNvPr name="Freeform 30" id="30"/>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31" id="31"/>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32" id="32"/>
          <p:cNvGrpSpPr/>
          <p:nvPr/>
        </p:nvGrpSpPr>
        <p:grpSpPr>
          <a:xfrm rot="0">
            <a:off x="914400" y="301752"/>
            <a:ext cx="1005840" cy="1005840"/>
            <a:chOff x="0" y="0"/>
            <a:chExt cx="1341120" cy="1341120"/>
          </a:xfrm>
        </p:grpSpPr>
        <p:sp>
          <p:nvSpPr>
            <p:cNvPr name="Freeform 33" id="33"/>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34" id="34"/>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03</a:t>
              </a:r>
            </a:p>
          </p:txBody>
        </p:sp>
      </p:grpSp>
      <p:grpSp>
        <p:nvGrpSpPr>
          <p:cNvPr name="Group 35" id="35"/>
          <p:cNvGrpSpPr/>
          <p:nvPr/>
        </p:nvGrpSpPr>
        <p:grpSpPr>
          <a:xfrm rot="0">
            <a:off x="895350" y="3011805"/>
            <a:ext cx="8084820" cy="793828"/>
            <a:chOff x="0" y="0"/>
            <a:chExt cx="10779760" cy="1058437"/>
          </a:xfrm>
        </p:grpSpPr>
        <p:sp>
          <p:nvSpPr>
            <p:cNvPr name="Freeform 36" id="36"/>
            <p:cNvSpPr/>
            <p:nvPr/>
          </p:nvSpPr>
          <p:spPr>
            <a:xfrm flipH="false" flipV="false" rot="0">
              <a:off x="25400" y="7019"/>
              <a:ext cx="10728960" cy="1044400"/>
            </a:xfrm>
            <a:custGeom>
              <a:avLst/>
              <a:gdLst/>
              <a:ahLst/>
              <a:cxnLst/>
              <a:rect r="r" b="b" t="t" l="l"/>
              <a:pathLst>
                <a:path h="1044400" w="10728960">
                  <a:moveTo>
                    <a:pt x="0" y="0"/>
                  </a:moveTo>
                  <a:lnTo>
                    <a:pt x="10728960" y="0"/>
                  </a:lnTo>
                  <a:lnTo>
                    <a:pt x="10728960" y="1044400"/>
                  </a:lnTo>
                  <a:lnTo>
                    <a:pt x="0" y="1044400"/>
                  </a:lnTo>
                  <a:close/>
                </a:path>
              </a:pathLst>
            </a:custGeom>
            <a:solidFill>
              <a:srgbClr val="CADCFC"/>
            </a:solidFill>
          </p:spPr>
        </p:sp>
        <p:sp>
          <p:nvSpPr>
            <p:cNvPr name="Freeform 37" id="37"/>
            <p:cNvSpPr/>
            <p:nvPr/>
          </p:nvSpPr>
          <p:spPr>
            <a:xfrm flipH="false" flipV="false" rot="0">
              <a:off x="0" y="0"/>
              <a:ext cx="10779760" cy="1058437"/>
            </a:xfrm>
            <a:custGeom>
              <a:avLst/>
              <a:gdLst/>
              <a:ahLst/>
              <a:cxnLst/>
              <a:rect r="r" b="b" t="t" l="l"/>
              <a:pathLst>
                <a:path h="1058437" w="10779760">
                  <a:moveTo>
                    <a:pt x="25400" y="0"/>
                  </a:moveTo>
                  <a:lnTo>
                    <a:pt x="10754360" y="0"/>
                  </a:lnTo>
                  <a:cubicBezTo>
                    <a:pt x="10768330" y="0"/>
                    <a:pt x="10779760" y="3158"/>
                    <a:pt x="10779760" y="7019"/>
                  </a:cubicBezTo>
                  <a:lnTo>
                    <a:pt x="10779760" y="1051419"/>
                  </a:lnTo>
                  <a:cubicBezTo>
                    <a:pt x="10779760" y="1055279"/>
                    <a:pt x="10768330" y="1058437"/>
                    <a:pt x="10754360" y="1058437"/>
                  </a:cubicBezTo>
                  <a:lnTo>
                    <a:pt x="25400" y="1058437"/>
                  </a:lnTo>
                  <a:cubicBezTo>
                    <a:pt x="11430" y="1058437"/>
                    <a:pt x="0" y="1055279"/>
                    <a:pt x="0" y="1051419"/>
                  </a:cubicBezTo>
                  <a:lnTo>
                    <a:pt x="0" y="7019"/>
                  </a:lnTo>
                  <a:cubicBezTo>
                    <a:pt x="0" y="3158"/>
                    <a:pt x="11430" y="0"/>
                    <a:pt x="25400" y="0"/>
                  </a:cubicBezTo>
                  <a:moveTo>
                    <a:pt x="25400" y="14038"/>
                  </a:moveTo>
                  <a:lnTo>
                    <a:pt x="25400" y="7019"/>
                  </a:lnTo>
                  <a:lnTo>
                    <a:pt x="50800" y="7019"/>
                  </a:lnTo>
                  <a:lnTo>
                    <a:pt x="50800" y="1051419"/>
                  </a:lnTo>
                  <a:lnTo>
                    <a:pt x="25400" y="1051419"/>
                  </a:lnTo>
                  <a:lnTo>
                    <a:pt x="25400" y="1044400"/>
                  </a:lnTo>
                  <a:lnTo>
                    <a:pt x="10754360" y="1044400"/>
                  </a:lnTo>
                  <a:lnTo>
                    <a:pt x="10754360" y="1051419"/>
                  </a:lnTo>
                  <a:lnTo>
                    <a:pt x="10728960" y="1051419"/>
                  </a:lnTo>
                  <a:lnTo>
                    <a:pt x="10728960" y="7019"/>
                  </a:lnTo>
                  <a:lnTo>
                    <a:pt x="10754360" y="7019"/>
                  </a:lnTo>
                  <a:lnTo>
                    <a:pt x="10754360" y="14038"/>
                  </a:lnTo>
                  <a:lnTo>
                    <a:pt x="25400" y="14038"/>
                  </a:lnTo>
                  <a:close/>
                </a:path>
              </a:pathLst>
            </a:custGeom>
            <a:solidFill>
              <a:srgbClr val="CADCFC"/>
            </a:solidFill>
          </p:spPr>
        </p:sp>
      </p:grpSp>
      <p:grpSp>
        <p:nvGrpSpPr>
          <p:cNvPr name="Group 38" id="38"/>
          <p:cNvGrpSpPr/>
          <p:nvPr/>
        </p:nvGrpSpPr>
        <p:grpSpPr>
          <a:xfrm rot="0">
            <a:off x="1188720" y="3177159"/>
            <a:ext cx="7680960" cy="512064"/>
            <a:chOff x="0" y="0"/>
            <a:chExt cx="10241280" cy="682752"/>
          </a:xfrm>
        </p:grpSpPr>
        <p:sp>
          <p:nvSpPr>
            <p:cNvPr name="Freeform 39" id="39"/>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solidFill>
              <a:srgbClr val="CADCFC">
                <a:alpha val="0"/>
              </a:srgbClr>
            </a:solidFill>
          </p:spPr>
        </p:sp>
        <p:sp>
          <p:nvSpPr>
            <p:cNvPr name="TextBox 40" id="40"/>
            <p:cNvSpPr txBox="true"/>
            <p:nvPr/>
          </p:nvSpPr>
          <p:spPr>
            <a:xfrm>
              <a:off x="0" y="-47625"/>
              <a:ext cx="1024128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30-Day Price Forecast</a:t>
              </a:r>
            </a:p>
          </p:txBody>
        </p:sp>
      </p:grpSp>
      <p:sp>
        <p:nvSpPr>
          <p:cNvPr name="AutoShape 41" id="41"/>
          <p:cNvSpPr/>
          <p:nvPr/>
        </p:nvSpPr>
        <p:spPr>
          <a:xfrm flipV="true">
            <a:off x="1028700" y="3011805"/>
            <a:ext cx="0" cy="793828"/>
          </a:xfrm>
          <a:prstGeom prst="line">
            <a:avLst/>
          </a:prstGeom>
          <a:ln cap="flat" w="238125">
            <a:solidFill>
              <a:srgbClr val="000000"/>
            </a:solidFill>
            <a:prstDash val="solid"/>
            <a:headEnd type="none" len="sm" w="sm"/>
            <a:tailEnd type="none" len="sm" w="sm"/>
          </a:ln>
        </p:spPr>
      </p:sp>
      <p:grpSp>
        <p:nvGrpSpPr>
          <p:cNvPr name="Group 42" id="42"/>
          <p:cNvGrpSpPr/>
          <p:nvPr/>
        </p:nvGrpSpPr>
        <p:grpSpPr>
          <a:xfrm rot="0">
            <a:off x="9307830" y="3011805"/>
            <a:ext cx="8084820" cy="793828"/>
            <a:chOff x="0" y="0"/>
            <a:chExt cx="10779760" cy="1058437"/>
          </a:xfrm>
        </p:grpSpPr>
        <p:sp>
          <p:nvSpPr>
            <p:cNvPr name="Freeform 43" id="43"/>
            <p:cNvSpPr/>
            <p:nvPr/>
          </p:nvSpPr>
          <p:spPr>
            <a:xfrm flipH="false" flipV="false" rot="0">
              <a:off x="25400" y="7019"/>
              <a:ext cx="10728960" cy="1044400"/>
            </a:xfrm>
            <a:custGeom>
              <a:avLst/>
              <a:gdLst/>
              <a:ahLst/>
              <a:cxnLst/>
              <a:rect r="r" b="b" t="t" l="l"/>
              <a:pathLst>
                <a:path h="1044400" w="10728960">
                  <a:moveTo>
                    <a:pt x="0" y="0"/>
                  </a:moveTo>
                  <a:lnTo>
                    <a:pt x="10728960" y="0"/>
                  </a:lnTo>
                  <a:lnTo>
                    <a:pt x="10728960" y="1044400"/>
                  </a:lnTo>
                  <a:lnTo>
                    <a:pt x="0" y="1044400"/>
                  </a:lnTo>
                  <a:close/>
                </a:path>
              </a:pathLst>
            </a:custGeom>
            <a:solidFill>
              <a:srgbClr val="FEF3C7"/>
            </a:solidFill>
          </p:spPr>
        </p:sp>
        <p:sp>
          <p:nvSpPr>
            <p:cNvPr name="Freeform 44" id="44"/>
            <p:cNvSpPr/>
            <p:nvPr/>
          </p:nvSpPr>
          <p:spPr>
            <a:xfrm flipH="false" flipV="false" rot="0">
              <a:off x="0" y="0"/>
              <a:ext cx="10779760" cy="1058437"/>
            </a:xfrm>
            <a:custGeom>
              <a:avLst/>
              <a:gdLst/>
              <a:ahLst/>
              <a:cxnLst/>
              <a:rect r="r" b="b" t="t" l="l"/>
              <a:pathLst>
                <a:path h="1058437" w="10779760">
                  <a:moveTo>
                    <a:pt x="25400" y="0"/>
                  </a:moveTo>
                  <a:lnTo>
                    <a:pt x="10754360" y="0"/>
                  </a:lnTo>
                  <a:cubicBezTo>
                    <a:pt x="10768330" y="0"/>
                    <a:pt x="10779760" y="3158"/>
                    <a:pt x="10779760" y="7019"/>
                  </a:cubicBezTo>
                  <a:lnTo>
                    <a:pt x="10779760" y="1051419"/>
                  </a:lnTo>
                  <a:cubicBezTo>
                    <a:pt x="10779760" y="1055279"/>
                    <a:pt x="10768330" y="1058437"/>
                    <a:pt x="10754360" y="1058437"/>
                  </a:cubicBezTo>
                  <a:lnTo>
                    <a:pt x="25400" y="1058437"/>
                  </a:lnTo>
                  <a:cubicBezTo>
                    <a:pt x="11430" y="1058437"/>
                    <a:pt x="0" y="1055279"/>
                    <a:pt x="0" y="1051419"/>
                  </a:cubicBezTo>
                  <a:lnTo>
                    <a:pt x="0" y="7019"/>
                  </a:lnTo>
                  <a:cubicBezTo>
                    <a:pt x="0" y="3158"/>
                    <a:pt x="11430" y="0"/>
                    <a:pt x="25400" y="0"/>
                  </a:cubicBezTo>
                  <a:moveTo>
                    <a:pt x="25400" y="14038"/>
                  </a:moveTo>
                  <a:lnTo>
                    <a:pt x="25400" y="7019"/>
                  </a:lnTo>
                  <a:lnTo>
                    <a:pt x="50800" y="7019"/>
                  </a:lnTo>
                  <a:lnTo>
                    <a:pt x="50800" y="1051419"/>
                  </a:lnTo>
                  <a:lnTo>
                    <a:pt x="25400" y="1051419"/>
                  </a:lnTo>
                  <a:lnTo>
                    <a:pt x="25400" y="1044400"/>
                  </a:lnTo>
                  <a:lnTo>
                    <a:pt x="10754360" y="1044400"/>
                  </a:lnTo>
                  <a:lnTo>
                    <a:pt x="10754360" y="1051419"/>
                  </a:lnTo>
                  <a:lnTo>
                    <a:pt x="10728960" y="1051419"/>
                  </a:lnTo>
                  <a:lnTo>
                    <a:pt x="10728960" y="7019"/>
                  </a:lnTo>
                  <a:lnTo>
                    <a:pt x="10754360" y="7019"/>
                  </a:lnTo>
                  <a:lnTo>
                    <a:pt x="10754360" y="14038"/>
                  </a:lnTo>
                  <a:lnTo>
                    <a:pt x="25400" y="14038"/>
                  </a:lnTo>
                  <a:close/>
                </a:path>
              </a:pathLst>
            </a:custGeom>
            <a:solidFill>
              <a:srgbClr val="CADCFC"/>
            </a:solidFill>
          </p:spPr>
        </p:sp>
      </p:grpSp>
      <p:grpSp>
        <p:nvGrpSpPr>
          <p:cNvPr name="Group 45" id="45"/>
          <p:cNvGrpSpPr/>
          <p:nvPr/>
        </p:nvGrpSpPr>
        <p:grpSpPr>
          <a:xfrm rot="0">
            <a:off x="9509760" y="3177159"/>
            <a:ext cx="7680960" cy="512064"/>
            <a:chOff x="0" y="0"/>
            <a:chExt cx="10241280" cy="682752"/>
          </a:xfrm>
        </p:grpSpPr>
        <p:sp>
          <p:nvSpPr>
            <p:cNvPr name="Freeform 46" id="46"/>
            <p:cNvSpPr/>
            <p:nvPr/>
          </p:nvSpPr>
          <p:spPr>
            <a:xfrm flipH="false" flipV="false" rot="0">
              <a:off x="0" y="0"/>
              <a:ext cx="10241280" cy="682752"/>
            </a:xfrm>
            <a:custGeom>
              <a:avLst/>
              <a:gdLst/>
              <a:ahLst/>
              <a:cxnLst/>
              <a:rect r="r" b="b" t="t" l="l"/>
              <a:pathLst>
                <a:path h="682752" w="10241280">
                  <a:moveTo>
                    <a:pt x="0" y="0"/>
                  </a:moveTo>
                  <a:lnTo>
                    <a:pt x="10241280" y="0"/>
                  </a:lnTo>
                  <a:lnTo>
                    <a:pt x="10241280" y="682752"/>
                  </a:lnTo>
                  <a:lnTo>
                    <a:pt x="0" y="682752"/>
                  </a:lnTo>
                  <a:close/>
                </a:path>
              </a:pathLst>
            </a:custGeom>
            <a:blipFill>
              <a:blip r:embed="rId3">
                <a:alphaModFix amt="0"/>
              </a:blip>
              <a:stretch>
                <a:fillRect l="0" t="-242275" r="0" b="-242275"/>
              </a:stretch>
            </a:blipFill>
          </p:spPr>
        </p:sp>
        <p:sp>
          <p:nvSpPr>
            <p:cNvPr name="TextBox 47" id="47"/>
            <p:cNvSpPr txBox="true"/>
            <p:nvPr/>
          </p:nvSpPr>
          <p:spPr>
            <a:xfrm>
              <a:off x="0" y="-47625"/>
              <a:ext cx="10241280" cy="730377"/>
            </a:xfrm>
            <a:prstGeom prst="rect">
              <a:avLst/>
            </a:prstGeom>
          </p:spPr>
          <p:txBody>
            <a:bodyPr anchor="ctr" rtlCol="false" tIns="0" lIns="0" bIns="0" rIns="0"/>
            <a:lstStyle/>
            <a:p>
              <a:pPr algn="ctr">
                <a:lnSpc>
                  <a:spcPts val="2999"/>
                </a:lnSpc>
              </a:pPr>
              <a:r>
                <a:rPr lang="en-US" sz="2499" b="true">
                  <a:solidFill>
                    <a:srgbClr val="10B981"/>
                  </a:solidFill>
                  <a:latin typeface="Calibri (MS) Bold"/>
                  <a:ea typeface="Calibri (MS) Bold"/>
                  <a:cs typeface="Calibri (MS) Bold"/>
                  <a:sym typeface="Calibri (MS) Bold"/>
                </a:rPr>
                <a:t>Out-of-Sample Validation (Last 30 Days)</a:t>
              </a:r>
            </a:p>
          </p:txBody>
        </p:sp>
      </p:grpSp>
      <p:sp>
        <p:nvSpPr>
          <p:cNvPr name="AutoShape 48" id="48"/>
          <p:cNvSpPr/>
          <p:nvPr/>
        </p:nvSpPr>
        <p:spPr>
          <a:xfrm flipV="true">
            <a:off x="9426892" y="3011805"/>
            <a:ext cx="0" cy="793828"/>
          </a:xfrm>
          <a:prstGeom prst="line">
            <a:avLst/>
          </a:prstGeom>
          <a:ln cap="flat" w="238125">
            <a:solidFill>
              <a:srgbClr val="00BF63"/>
            </a:solidFill>
            <a:prstDash val="solid"/>
            <a:headEnd type="none" len="sm" w="sm"/>
            <a:tailEnd type="none" len="sm" w="sm"/>
          </a:ln>
        </p:spPr>
      </p:sp>
      <p:sp>
        <p:nvSpPr>
          <p:cNvPr name="Freeform 49" id="49"/>
          <p:cNvSpPr/>
          <p:nvPr/>
        </p:nvSpPr>
        <p:spPr>
          <a:xfrm flipH="false" flipV="false" rot="0">
            <a:off x="895350" y="4554724"/>
            <a:ext cx="8084820" cy="4247089"/>
          </a:xfrm>
          <a:custGeom>
            <a:avLst/>
            <a:gdLst/>
            <a:ahLst/>
            <a:cxnLst/>
            <a:rect r="r" b="b" t="t" l="l"/>
            <a:pathLst>
              <a:path h="4247089" w="8084820">
                <a:moveTo>
                  <a:pt x="0" y="0"/>
                </a:moveTo>
                <a:lnTo>
                  <a:pt x="8084820" y="0"/>
                </a:lnTo>
                <a:lnTo>
                  <a:pt x="8084820" y="4247089"/>
                </a:lnTo>
                <a:lnTo>
                  <a:pt x="0" y="4247089"/>
                </a:lnTo>
                <a:lnTo>
                  <a:pt x="0" y="0"/>
                </a:lnTo>
                <a:close/>
              </a:path>
            </a:pathLst>
          </a:custGeom>
          <a:blipFill>
            <a:blip r:embed="rId4"/>
            <a:stretch>
              <a:fillRect l="0" t="0" r="0" b="0"/>
            </a:stretch>
          </a:blipFill>
          <a:ln w="38100" cap="sq">
            <a:solidFill>
              <a:srgbClr val="000000"/>
            </a:solidFill>
            <a:prstDash val="solid"/>
            <a:miter/>
          </a:ln>
        </p:spPr>
      </p:sp>
      <p:sp>
        <p:nvSpPr>
          <p:cNvPr name="Freeform 50" id="50"/>
          <p:cNvSpPr/>
          <p:nvPr/>
        </p:nvSpPr>
        <p:spPr>
          <a:xfrm flipH="false" flipV="false" rot="0">
            <a:off x="9777244" y="5451350"/>
            <a:ext cx="7400769" cy="3881571"/>
          </a:xfrm>
          <a:custGeom>
            <a:avLst/>
            <a:gdLst/>
            <a:ahLst/>
            <a:cxnLst/>
            <a:rect r="r" b="b" t="t" l="l"/>
            <a:pathLst>
              <a:path h="3881571" w="7400769">
                <a:moveTo>
                  <a:pt x="0" y="0"/>
                </a:moveTo>
                <a:lnTo>
                  <a:pt x="7400770" y="0"/>
                </a:lnTo>
                <a:lnTo>
                  <a:pt x="7400770" y="3881572"/>
                </a:lnTo>
                <a:lnTo>
                  <a:pt x="0" y="3881572"/>
                </a:lnTo>
                <a:lnTo>
                  <a:pt x="0" y="0"/>
                </a:lnTo>
                <a:close/>
              </a:path>
            </a:pathLst>
          </a:custGeom>
          <a:blipFill>
            <a:blip r:embed="rId5"/>
            <a:stretch>
              <a:fillRect l="0" t="0" r="0" b="0"/>
            </a:stretch>
          </a:blipFill>
          <a:ln w="38100" cap="sq">
            <a:solidFill>
              <a:srgbClr val="000000"/>
            </a:solidFill>
            <a:prstDash val="solid"/>
            <a:miter/>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376803"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389500"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3 · GARCH</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Conditional Heteroscedasticity — ARCH-LM Tests</a:t>
              </a:r>
            </a:p>
          </p:txBody>
        </p:sp>
      </p:grpSp>
      <p:grpSp>
        <p:nvGrpSpPr>
          <p:cNvPr name="Group 11" id="11"/>
          <p:cNvGrpSpPr/>
          <p:nvPr/>
        </p:nvGrpSpPr>
        <p:grpSpPr>
          <a:xfrm rot="0">
            <a:off x="914400" y="3011805"/>
            <a:ext cx="8033864" cy="3382574"/>
            <a:chOff x="0" y="0"/>
            <a:chExt cx="2115915" cy="890884"/>
          </a:xfrm>
        </p:grpSpPr>
        <p:sp>
          <p:nvSpPr>
            <p:cNvPr name="Freeform 12" id="12"/>
            <p:cNvSpPr/>
            <p:nvPr/>
          </p:nvSpPr>
          <p:spPr>
            <a:xfrm flipH="false" flipV="false" rot="0">
              <a:off x="0" y="0"/>
              <a:ext cx="2115915" cy="890884"/>
            </a:xfrm>
            <a:custGeom>
              <a:avLst/>
              <a:gdLst/>
              <a:ahLst/>
              <a:cxnLst/>
              <a:rect r="r" b="b" t="t" l="l"/>
              <a:pathLst>
                <a:path h="890884" w="2115915">
                  <a:moveTo>
                    <a:pt x="0" y="0"/>
                  </a:moveTo>
                  <a:lnTo>
                    <a:pt x="2115915" y="0"/>
                  </a:lnTo>
                  <a:lnTo>
                    <a:pt x="2115915" y="890884"/>
                  </a:lnTo>
                  <a:lnTo>
                    <a:pt x="0" y="890884"/>
                  </a:lnTo>
                  <a:close/>
                </a:path>
              </a:pathLst>
            </a:custGeom>
            <a:solidFill>
              <a:srgbClr val="FEF3C7"/>
            </a:solidFill>
          </p:spPr>
        </p:sp>
        <p:sp>
          <p:nvSpPr>
            <p:cNvPr name="TextBox 13" id="13"/>
            <p:cNvSpPr txBox="true"/>
            <p:nvPr/>
          </p:nvSpPr>
          <p:spPr>
            <a:xfrm>
              <a:off x="0" y="-38100"/>
              <a:ext cx="2115915" cy="928984"/>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1188720" y="3160776"/>
            <a:ext cx="7498080" cy="512064"/>
            <a:chOff x="0" y="0"/>
            <a:chExt cx="9997440" cy="682752"/>
          </a:xfrm>
        </p:grpSpPr>
        <p:sp>
          <p:nvSpPr>
            <p:cNvPr name="Freeform 15" id="15"/>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16" id="16"/>
            <p:cNvSpPr txBox="true"/>
            <p:nvPr/>
          </p:nvSpPr>
          <p:spPr>
            <a:xfrm>
              <a:off x="0" y="-47625"/>
              <a:ext cx="999744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ARCH-LM Test — ARIMA Residuals</a:t>
              </a:r>
            </a:p>
          </p:txBody>
        </p:sp>
      </p:grpSp>
      <p:graphicFrame>
        <p:nvGraphicFramePr>
          <p:cNvPr name="Table 17" id="17"/>
          <p:cNvGraphicFramePr>
            <a:graphicFrameLocks noGrp="true"/>
          </p:cNvGraphicFramePr>
          <p:nvPr/>
        </p:nvGraphicFramePr>
        <p:xfrm>
          <a:off x="1005840" y="3819144"/>
          <a:ext cx="7823200" cy="2235200"/>
        </p:xfrm>
        <a:graphic>
          <a:graphicData uri="http://schemas.openxmlformats.org/drawingml/2006/table">
            <a:tbl>
              <a:tblPr/>
              <a:tblGrid>
                <a:gridCol w="1282246"/>
                <a:gridCol w="2180318"/>
                <a:gridCol w="2359932"/>
                <a:gridCol w="2000704"/>
              </a:tblGrid>
              <a:tr h="558800">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Lags</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LM Stat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p-value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Result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5</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123.171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EF4444"/>
                          </a:solidFill>
                          <a:latin typeface="Calibri (MS) Bold"/>
                          <a:ea typeface="Calibri (MS) Bold"/>
                          <a:cs typeface="Calibri (MS) Bold"/>
                          <a:sym typeface="Calibri (MS) Bold"/>
                        </a:rPr>
                        <a:t>ARCH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10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156.197</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EF4444"/>
                          </a:solidFill>
                          <a:latin typeface="Calibri (MS) Bold"/>
                          <a:ea typeface="Calibri (MS) Bold"/>
                          <a:cs typeface="Calibri (MS) Bold"/>
                          <a:sym typeface="Calibri (MS) Bold"/>
                        </a:rPr>
                        <a:t>ARCH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15</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183.689</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EF4444"/>
                          </a:solidFill>
                          <a:latin typeface="Calibri (MS) Bold"/>
                          <a:ea typeface="Calibri (MS) Bold"/>
                          <a:cs typeface="Calibri (MS) Bold"/>
                          <a:sym typeface="Calibri (MS) Bold"/>
                        </a:rPr>
                        <a:t>ARCH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bl>
          </a:graphicData>
        </a:graphic>
      </p:graphicFrame>
      <p:grpSp>
        <p:nvGrpSpPr>
          <p:cNvPr name="Group 18" id="18"/>
          <p:cNvGrpSpPr/>
          <p:nvPr/>
        </p:nvGrpSpPr>
        <p:grpSpPr>
          <a:xfrm rot="0">
            <a:off x="901703" y="289055"/>
            <a:ext cx="1031243" cy="1031243"/>
            <a:chOff x="0" y="0"/>
            <a:chExt cx="1374991" cy="1374991"/>
          </a:xfrm>
        </p:grpSpPr>
        <p:sp>
          <p:nvSpPr>
            <p:cNvPr name="Freeform 19" id="19"/>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20" id="20"/>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21" id="21"/>
          <p:cNvGrpSpPr/>
          <p:nvPr/>
        </p:nvGrpSpPr>
        <p:grpSpPr>
          <a:xfrm rot="0">
            <a:off x="914400" y="301752"/>
            <a:ext cx="1005840" cy="1005840"/>
            <a:chOff x="0" y="0"/>
            <a:chExt cx="1341120" cy="1341120"/>
          </a:xfrm>
        </p:grpSpPr>
        <p:sp>
          <p:nvSpPr>
            <p:cNvPr name="Freeform 22" id="22"/>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23" id="23"/>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04</a:t>
              </a:r>
            </a:p>
          </p:txBody>
        </p:sp>
      </p:grpSp>
      <p:sp>
        <p:nvSpPr>
          <p:cNvPr name="Freeform 24" id="24"/>
          <p:cNvSpPr/>
          <p:nvPr/>
        </p:nvSpPr>
        <p:spPr>
          <a:xfrm flipH="false" flipV="false" rot="0">
            <a:off x="9339736" y="3672840"/>
            <a:ext cx="8229600" cy="4041279"/>
          </a:xfrm>
          <a:custGeom>
            <a:avLst/>
            <a:gdLst/>
            <a:ahLst/>
            <a:cxnLst/>
            <a:rect r="r" b="b" t="t" l="l"/>
            <a:pathLst>
              <a:path h="4041279" w="8229600">
                <a:moveTo>
                  <a:pt x="0" y="0"/>
                </a:moveTo>
                <a:lnTo>
                  <a:pt x="8229600" y="0"/>
                </a:lnTo>
                <a:lnTo>
                  <a:pt x="8229600" y="4041279"/>
                </a:lnTo>
                <a:lnTo>
                  <a:pt x="0" y="4041279"/>
                </a:lnTo>
                <a:lnTo>
                  <a:pt x="0" y="0"/>
                </a:lnTo>
                <a:close/>
              </a:path>
            </a:pathLst>
          </a:custGeom>
          <a:blipFill>
            <a:blip r:embed="rId4"/>
            <a:stretch>
              <a:fillRect l="0" t="0" r="0" b="0"/>
            </a:stretch>
          </a:blipFill>
          <a:ln w="38100" cap="sq">
            <a:solidFill>
              <a:srgbClr val="000000"/>
            </a:solidFill>
            <a:prstDash val="solid"/>
            <a:miter/>
          </a:ln>
        </p:spPr>
      </p:sp>
      <p:grpSp>
        <p:nvGrpSpPr>
          <p:cNvPr name="Group 25" id="25"/>
          <p:cNvGrpSpPr/>
          <p:nvPr/>
        </p:nvGrpSpPr>
        <p:grpSpPr>
          <a:xfrm rot="0">
            <a:off x="920828" y="6904440"/>
            <a:ext cx="8033864" cy="1694813"/>
            <a:chOff x="0" y="0"/>
            <a:chExt cx="2115915" cy="446371"/>
          </a:xfrm>
        </p:grpSpPr>
        <p:sp>
          <p:nvSpPr>
            <p:cNvPr name="Freeform 26" id="26"/>
            <p:cNvSpPr/>
            <p:nvPr/>
          </p:nvSpPr>
          <p:spPr>
            <a:xfrm flipH="false" flipV="false" rot="0">
              <a:off x="0" y="0"/>
              <a:ext cx="2115915" cy="446371"/>
            </a:xfrm>
            <a:custGeom>
              <a:avLst/>
              <a:gdLst/>
              <a:ahLst/>
              <a:cxnLst/>
              <a:rect r="r" b="b" t="t" l="l"/>
              <a:pathLst>
                <a:path h="446371" w="2115915">
                  <a:moveTo>
                    <a:pt x="0" y="0"/>
                  </a:moveTo>
                  <a:lnTo>
                    <a:pt x="2115915" y="0"/>
                  </a:lnTo>
                  <a:lnTo>
                    <a:pt x="2115915" y="446371"/>
                  </a:lnTo>
                  <a:lnTo>
                    <a:pt x="0" y="446371"/>
                  </a:lnTo>
                  <a:close/>
                </a:path>
              </a:pathLst>
            </a:custGeom>
            <a:solidFill>
              <a:srgbClr val="FEF3C7"/>
            </a:solidFill>
          </p:spPr>
        </p:sp>
        <p:sp>
          <p:nvSpPr>
            <p:cNvPr name="TextBox 27" id="27"/>
            <p:cNvSpPr txBox="true"/>
            <p:nvPr/>
          </p:nvSpPr>
          <p:spPr>
            <a:xfrm>
              <a:off x="0" y="-38100"/>
              <a:ext cx="2115915" cy="484471"/>
            </a:xfrm>
            <a:prstGeom prst="rect">
              <a:avLst/>
            </a:prstGeom>
          </p:spPr>
          <p:txBody>
            <a:bodyPr anchor="ctr" rtlCol="false" tIns="50800" lIns="50800" bIns="50800" rIns="50800"/>
            <a:lstStyle/>
            <a:p>
              <a:pPr algn="ctr">
                <a:lnSpc>
                  <a:spcPts val="2400"/>
                </a:lnSpc>
              </a:pPr>
            </a:p>
          </p:txBody>
        </p:sp>
      </p:grpSp>
      <p:grpSp>
        <p:nvGrpSpPr>
          <p:cNvPr name="Group 28" id="28"/>
          <p:cNvGrpSpPr/>
          <p:nvPr/>
        </p:nvGrpSpPr>
        <p:grpSpPr>
          <a:xfrm rot="0">
            <a:off x="1168400" y="6974607"/>
            <a:ext cx="7498080" cy="1554480"/>
            <a:chOff x="0" y="0"/>
            <a:chExt cx="9997440" cy="2072640"/>
          </a:xfrm>
        </p:grpSpPr>
        <p:sp>
          <p:nvSpPr>
            <p:cNvPr name="Freeform 29" id="29"/>
            <p:cNvSpPr/>
            <p:nvPr/>
          </p:nvSpPr>
          <p:spPr>
            <a:xfrm flipH="false" flipV="false" rot="0">
              <a:off x="0" y="0"/>
              <a:ext cx="9997440" cy="2072640"/>
            </a:xfrm>
            <a:custGeom>
              <a:avLst/>
              <a:gdLst/>
              <a:ahLst/>
              <a:cxnLst/>
              <a:rect r="r" b="b" t="t" l="l"/>
              <a:pathLst>
                <a:path h="2072640" w="9997440">
                  <a:moveTo>
                    <a:pt x="0" y="0"/>
                  </a:moveTo>
                  <a:lnTo>
                    <a:pt x="9997440" y="0"/>
                  </a:lnTo>
                  <a:lnTo>
                    <a:pt x="9997440" y="2072640"/>
                  </a:lnTo>
                  <a:lnTo>
                    <a:pt x="0" y="2072640"/>
                  </a:lnTo>
                  <a:close/>
                </a:path>
              </a:pathLst>
            </a:custGeom>
            <a:blipFill>
              <a:blip r:embed="rId3">
                <a:alphaModFix amt="0"/>
              </a:blip>
              <a:stretch>
                <a:fillRect l="0" t="-43986" r="0" b="-43986"/>
              </a:stretch>
            </a:blipFill>
          </p:spPr>
        </p:sp>
        <p:sp>
          <p:nvSpPr>
            <p:cNvPr name="TextBox 30" id="30"/>
            <p:cNvSpPr txBox="true"/>
            <p:nvPr/>
          </p:nvSpPr>
          <p:spPr>
            <a:xfrm>
              <a:off x="0" y="-38100"/>
              <a:ext cx="9997440" cy="2110740"/>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LM statistics increase with lag (123→156→184) confirming persistent volatility clustering — not a short-lived effect. Squared residuals visually confirm COVID-19 spike (Mar 2020).</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76803"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389500"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3 · GARCH</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Conditional Heteroscedasticity — ARCH-LM Tests</a:t>
              </a:r>
            </a:p>
          </p:txBody>
        </p:sp>
      </p:grpSp>
      <p:grpSp>
        <p:nvGrpSpPr>
          <p:cNvPr name="Group 11" id="11"/>
          <p:cNvGrpSpPr/>
          <p:nvPr/>
        </p:nvGrpSpPr>
        <p:grpSpPr>
          <a:xfrm rot="0">
            <a:off x="914400" y="2639063"/>
            <a:ext cx="8072123" cy="3179790"/>
            <a:chOff x="0" y="0"/>
            <a:chExt cx="10762831" cy="4239720"/>
          </a:xfrm>
        </p:grpSpPr>
        <p:sp>
          <p:nvSpPr>
            <p:cNvPr name="Freeform 12" id="12"/>
            <p:cNvSpPr/>
            <p:nvPr/>
          </p:nvSpPr>
          <p:spPr>
            <a:xfrm flipH="false" flipV="false" rot="0">
              <a:off x="16891" y="10822"/>
              <a:ext cx="10728960" cy="4218020"/>
            </a:xfrm>
            <a:custGeom>
              <a:avLst/>
              <a:gdLst/>
              <a:ahLst/>
              <a:cxnLst/>
              <a:rect r="r" b="b" t="t" l="l"/>
              <a:pathLst>
                <a:path h="4218020" w="10728960">
                  <a:moveTo>
                    <a:pt x="0" y="0"/>
                  </a:moveTo>
                  <a:lnTo>
                    <a:pt x="10728960" y="0"/>
                  </a:lnTo>
                  <a:lnTo>
                    <a:pt x="10728960" y="4218020"/>
                  </a:lnTo>
                  <a:lnTo>
                    <a:pt x="0" y="4218020"/>
                  </a:lnTo>
                  <a:close/>
                </a:path>
              </a:pathLst>
            </a:custGeom>
            <a:solidFill>
              <a:srgbClr val="E8F0FE"/>
            </a:solidFill>
          </p:spPr>
        </p:sp>
        <p:sp>
          <p:nvSpPr>
            <p:cNvPr name="Freeform 13" id="13"/>
            <p:cNvSpPr/>
            <p:nvPr/>
          </p:nvSpPr>
          <p:spPr>
            <a:xfrm flipH="false" flipV="false" rot="0">
              <a:off x="0" y="0"/>
              <a:ext cx="10762742" cy="4239663"/>
            </a:xfrm>
            <a:custGeom>
              <a:avLst/>
              <a:gdLst/>
              <a:ahLst/>
              <a:cxnLst/>
              <a:rect r="r" b="b" t="t" l="l"/>
              <a:pathLst>
                <a:path h="4239663" w="10762742">
                  <a:moveTo>
                    <a:pt x="16891" y="0"/>
                  </a:moveTo>
                  <a:lnTo>
                    <a:pt x="10745851" y="0"/>
                  </a:lnTo>
                  <a:cubicBezTo>
                    <a:pt x="10755249" y="0"/>
                    <a:pt x="10762742" y="4882"/>
                    <a:pt x="10762742" y="10822"/>
                  </a:cubicBezTo>
                  <a:lnTo>
                    <a:pt x="10762742" y="4228842"/>
                  </a:lnTo>
                  <a:cubicBezTo>
                    <a:pt x="10762742" y="4234863"/>
                    <a:pt x="10755122" y="4239663"/>
                    <a:pt x="10745851" y="4239663"/>
                  </a:cubicBezTo>
                  <a:lnTo>
                    <a:pt x="16891" y="4239663"/>
                  </a:lnTo>
                  <a:cubicBezTo>
                    <a:pt x="7493" y="4239663"/>
                    <a:pt x="0" y="4234781"/>
                    <a:pt x="0" y="4228842"/>
                  </a:cubicBezTo>
                  <a:lnTo>
                    <a:pt x="0" y="10822"/>
                  </a:lnTo>
                  <a:cubicBezTo>
                    <a:pt x="0" y="4882"/>
                    <a:pt x="7620" y="0"/>
                    <a:pt x="16891" y="0"/>
                  </a:cubicBezTo>
                  <a:moveTo>
                    <a:pt x="16891" y="21725"/>
                  </a:moveTo>
                  <a:lnTo>
                    <a:pt x="16891" y="10822"/>
                  </a:lnTo>
                  <a:lnTo>
                    <a:pt x="33909" y="10822"/>
                  </a:lnTo>
                  <a:lnTo>
                    <a:pt x="33909" y="4228842"/>
                  </a:lnTo>
                  <a:lnTo>
                    <a:pt x="16891" y="4228842"/>
                  </a:lnTo>
                  <a:lnTo>
                    <a:pt x="16891" y="4218020"/>
                  </a:lnTo>
                  <a:lnTo>
                    <a:pt x="10745851" y="4218020"/>
                  </a:lnTo>
                  <a:lnTo>
                    <a:pt x="10745851" y="4228842"/>
                  </a:lnTo>
                  <a:lnTo>
                    <a:pt x="10728960" y="4228842"/>
                  </a:lnTo>
                  <a:lnTo>
                    <a:pt x="10728960" y="10822"/>
                  </a:lnTo>
                  <a:lnTo>
                    <a:pt x="10745851" y="10822"/>
                  </a:lnTo>
                  <a:lnTo>
                    <a:pt x="10745851" y="21725"/>
                  </a:lnTo>
                  <a:lnTo>
                    <a:pt x="16891" y="21725"/>
                  </a:lnTo>
                  <a:close/>
                </a:path>
              </a:pathLst>
            </a:custGeom>
            <a:solidFill>
              <a:srgbClr val="CADCFC"/>
            </a:solidFill>
          </p:spPr>
        </p:sp>
      </p:grpSp>
      <p:grpSp>
        <p:nvGrpSpPr>
          <p:cNvPr name="Group 14" id="14"/>
          <p:cNvGrpSpPr/>
          <p:nvPr/>
        </p:nvGrpSpPr>
        <p:grpSpPr>
          <a:xfrm rot="0">
            <a:off x="1201417" y="2779776"/>
            <a:ext cx="7498080" cy="512064"/>
            <a:chOff x="0" y="0"/>
            <a:chExt cx="9997440" cy="682752"/>
          </a:xfrm>
        </p:grpSpPr>
        <p:sp>
          <p:nvSpPr>
            <p:cNvPr name="Freeform 15" id="15"/>
            <p:cNvSpPr/>
            <p:nvPr/>
          </p:nvSpPr>
          <p:spPr>
            <a:xfrm flipH="false" flipV="false" rot="0">
              <a:off x="0" y="0"/>
              <a:ext cx="9997440" cy="682752"/>
            </a:xfrm>
            <a:custGeom>
              <a:avLst/>
              <a:gdLst/>
              <a:ahLst/>
              <a:cxnLst/>
              <a:rect r="r" b="b" t="t" l="l"/>
              <a:pathLst>
                <a:path h="682752" w="9997440">
                  <a:moveTo>
                    <a:pt x="0" y="0"/>
                  </a:moveTo>
                  <a:lnTo>
                    <a:pt x="9997440" y="0"/>
                  </a:lnTo>
                  <a:lnTo>
                    <a:pt x="9997440" y="682752"/>
                  </a:lnTo>
                  <a:lnTo>
                    <a:pt x="0" y="682752"/>
                  </a:lnTo>
                  <a:close/>
                </a:path>
              </a:pathLst>
            </a:custGeom>
            <a:blipFill>
              <a:blip r:embed="rId3">
                <a:alphaModFix amt="0"/>
              </a:blip>
              <a:stretch>
                <a:fillRect l="0" t="-235316" r="0" b="-235316"/>
              </a:stretch>
            </a:blipFill>
          </p:spPr>
        </p:sp>
        <p:sp>
          <p:nvSpPr>
            <p:cNvPr name="TextBox 16" id="16"/>
            <p:cNvSpPr txBox="true"/>
            <p:nvPr/>
          </p:nvSpPr>
          <p:spPr>
            <a:xfrm>
              <a:off x="0" y="-47625"/>
              <a:ext cx="999744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ARCH-LM Test — VECM Residuals (MSFT)</a:t>
              </a:r>
            </a:p>
          </p:txBody>
        </p:sp>
      </p:grpSp>
      <p:graphicFrame>
        <p:nvGraphicFramePr>
          <p:cNvPr name="Table 17" id="17"/>
          <p:cNvGraphicFramePr>
            <a:graphicFrameLocks noGrp="true"/>
          </p:cNvGraphicFramePr>
          <p:nvPr/>
        </p:nvGraphicFramePr>
        <p:xfrm>
          <a:off x="1018537" y="3438144"/>
          <a:ext cx="7823200" cy="2235200"/>
        </p:xfrm>
        <a:graphic>
          <a:graphicData uri="http://schemas.openxmlformats.org/drawingml/2006/table">
            <a:tbl>
              <a:tblPr/>
              <a:tblGrid>
                <a:gridCol w="1282246"/>
                <a:gridCol w="2180318"/>
                <a:gridCol w="2359932"/>
                <a:gridCol w="2000704"/>
              </a:tblGrid>
              <a:tr h="558800">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Lags</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LM Stat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p-value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Result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5</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111.192</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EF4444"/>
                          </a:solidFill>
                          <a:latin typeface="Calibri (MS) Bold"/>
                          <a:ea typeface="Calibri (MS) Bold"/>
                          <a:cs typeface="Calibri (MS) Bold"/>
                          <a:sym typeface="Calibri (MS) Bold"/>
                        </a:rPr>
                        <a:t>ARCH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10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141.416</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EF4444"/>
                          </a:solidFill>
                          <a:latin typeface="Calibri (MS) Bold"/>
                          <a:ea typeface="Calibri (MS) Bold"/>
                          <a:cs typeface="Calibri (MS) Bold"/>
                          <a:sym typeface="Calibri (MS) Bold"/>
                        </a:rPr>
                        <a:t>ARCH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15</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167.983</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0.000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EF4444"/>
                          </a:solidFill>
                          <a:latin typeface="Calibri (MS) Bold"/>
                          <a:ea typeface="Calibri (MS) Bold"/>
                          <a:cs typeface="Calibri (MS) Bold"/>
                          <a:sym typeface="Calibri (MS) Bold"/>
                        </a:rPr>
                        <a:t>ARCH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bl>
          </a:graphicData>
        </a:graphic>
      </p:graphicFrame>
      <p:grpSp>
        <p:nvGrpSpPr>
          <p:cNvPr name="Group 18" id="18"/>
          <p:cNvGrpSpPr/>
          <p:nvPr/>
        </p:nvGrpSpPr>
        <p:grpSpPr>
          <a:xfrm rot="0">
            <a:off x="894075" y="6346320"/>
            <a:ext cx="8072123" cy="1554480"/>
            <a:chOff x="0" y="0"/>
            <a:chExt cx="10762831" cy="2072640"/>
          </a:xfrm>
        </p:grpSpPr>
        <p:sp>
          <p:nvSpPr>
            <p:cNvPr name="Freeform 19" id="19"/>
            <p:cNvSpPr/>
            <p:nvPr/>
          </p:nvSpPr>
          <p:spPr>
            <a:xfrm flipH="false" flipV="false" rot="0">
              <a:off x="16891" y="5290"/>
              <a:ext cx="10728960" cy="2062032"/>
            </a:xfrm>
            <a:custGeom>
              <a:avLst/>
              <a:gdLst/>
              <a:ahLst/>
              <a:cxnLst/>
              <a:rect r="r" b="b" t="t" l="l"/>
              <a:pathLst>
                <a:path h="2062032" w="10728960">
                  <a:moveTo>
                    <a:pt x="0" y="0"/>
                  </a:moveTo>
                  <a:lnTo>
                    <a:pt x="10728960" y="0"/>
                  </a:lnTo>
                  <a:lnTo>
                    <a:pt x="10728960" y="2062032"/>
                  </a:lnTo>
                  <a:lnTo>
                    <a:pt x="0" y="2062032"/>
                  </a:lnTo>
                  <a:close/>
                </a:path>
              </a:pathLst>
            </a:custGeom>
            <a:solidFill>
              <a:srgbClr val="E8F0FE"/>
            </a:solidFill>
          </p:spPr>
        </p:sp>
        <p:sp>
          <p:nvSpPr>
            <p:cNvPr name="Freeform 20" id="20"/>
            <p:cNvSpPr/>
            <p:nvPr/>
          </p:nvSpPr>
          <p:spPr>
            <a:xfrm flipH="false" flipV="false" rot="0">
              <a:off x="0" y="0"/>
              <a:ext cx="10762742" cy="2072612"/>
            </a:xfrm>
            <a:custGeom>
              <a:avLst/>
              <a:gdLst/>
              <a:ahLst/>
              <a:cxnLst/>
              <a:rect r="r" b="b" t="t" l="l"/>
              <a:pathLst>
                <a:path h="2072612" w="10762742">
                  <a:moveTo>
                    <a:pt x="16891" y="0"/>
                  </a:moveTo>
                  <a:lnTo>
                    <a:pt x="10745851" y="0"/>
                  </a:lnTo>
                  <a:cubicBezTo>
                    <a:pt x="10755249" y="0"/>
                    <a:pt x="10762742" y="2387"/>
                    <a:pt x="10762742" y="5290"/>
                  </a:cubicBezTo>
                  <a:lnTo>
                    <a:pt x="10762742" y="2067322"/>
                  </a:lnTo>
                  <a:cubicBezTo>
                    <a:pt x="10762742" y="2070265"/>
                    <a:pt x="10755122" y="2072612"/>
                    <a:pt x="10745851" y="2072612"/>
                  </a:cubicBezTo>
                  <a:lnTo>
                    <a:pt x="16891" y="2072612"/>
                  </a:lnTo>
                  <a:cubicBezTo>
                    <a:pt x="7493" y="2072612"/>
                    <a:pt x="0" y="2070226"/>
                    <a:pt x="0" y="2067322"/>
                  </a:cubicBezTo>
                  <a:lnTo>
                    <a:pt x="0" y="5290"/>
                  </a:lnTo>
                  <a:cubicBezTo>
                    <a:pt x="0" y="2387"/>
                    <a:pt x="7620" y="0"/>
                    <a:pt x="16891" y="0"/>
                  </a:cubicBezTo>
                  <a:moveTo>
                    <a:pt x="16891" y="10620"/>
                  </a:moveTo>
                  <a:lnTo>
                    <a:pt x="16891" y="5290"/>
                  </a:lnTo>
                  <a:lnTo>
                    <a:pt x="33909" y="5290"/>
                  </a:lnTo>
                  <a:lnTo>
                    <a:pt x="33909" y="2067322"/>
                  </a:lnTo>
                  <a:lnTo>
                    <a:pt x="16891" y="2067322"/>
                  </a:lnTo>
                  <a:lnTo>
                    <a:pt x="16891" y="2062032"/>
                  </a:lnTo>
                  <a:lnTo>
                    <a:pt x="10745851" y="2062032"/>
                  </a:lnTo>
                  <a:lnTo>
                    <a:pt x="10745851" y="2067322"/>
                  </a:lnTo>
                  <a:lnTo>
                    <a:pt x="10728960" y="2067322"/>
                  </a:lnTo>
                  <a:lnTo>
                    <a:pt x="10728960" y="5290"/>
                  </a:lnTo>
                  <a:lnTo>
                    <a:pt x="10745851" y="5290"/>
                  </a:lnTo>
                  <a:lnTo>
                    <a:pt x="10745851" y="10620"/>
                  </a:lnTo>
                  <a:lnTo>
                    <a:pt x="16891" y="10620"/>
                  </a:lnTo>
                  <a:close/>
                </a:path>
              </a:pathLst>
            </a:custGeom>
            <a:solidFill>
              <a:srgbClr val="CADCFC"/>
            </a:solidFill>
          </p:spPr>
        </p:sp>
      </p:grpSp>
      <p:grpSp>
        <p:nvGrpSpPr>
          <p:cNvPr name="Group 21" id="21"/>
          <p:cNvGrpSpPr/>
          <p:nvPr/>
        </p:nvGrpSpPr>
        <p:grpSpPr>
          <a:xfrm rot="0">
            <a:off x="1181097" y="6346320"/>
            <a:ext cx="7498080" cy="1554480"/>
            <a:chOff x="0" y="0"/>
            <a:chExt cx="9997440" cy="2072640"/>
          </a:xfrm>
        </p:grpSpPr>
        <p:sp>
          <p:nvSpPr>
            <p:cNvPr name="Freeform 22" id="22"/>
            <p:cNvSpPr/>
            <p:nvPr/>
          </p:nvSpPr>
          <p:spPr>
            <a:xfrm flipH="false" flipV="false" rot="0">
              <a:off x="0" y="0"/>
              <a:ext cx="9997440" cy="2072640"/>
            </a:xfrm>
            <a:custGeom>
              <a:avLst/>
              <a:gdLst/>
              <a:ahLst/>
              <a:cxnLst/>
              <a:rect r="r" b="b" t="t" l="l"/>
              <a:pathLst>
                <a:path h="2072640" w="9997440">
                  <a:moveTo>
                    <a:pt x="0" y="0"/>
                  </a:moveTo>
                  <a:lnTo>
                    <a:pt x="9997440" y="0"/>
                  </a:lnTo>
                  <a:lnTo>
                    <a:pt x="9997440" y="2072640"/>
                  </a:lnTo>
                  <a:lnTo>
                    <a:pt x="0" y="2072640"/>
                  </a:lnTo>
                  <a:close/>
                </a:path>
              </a:pathLst>
            </a:custGeom>
            <a:blipFill>
              <a:blip r:embed="rId3">
                <a:alphaModFix amt="0"/>
              </a:blip>
              <a:stretch>
                <a:fillRect l="0" t="-43986" r="0" b="-43986"/>
              </a:stretch>
            </a:blipFill>
          </p:spPr>
        </p:sp>
        <p:sp>
          <p:nvSpPr>
            <p:cNvPr name="TextBox 23" id="23"/>
            <p:cNvSpPr txBox="true"/>
            <p:nvPr/>
          </p:nvSpPr>
          <p:spPr>
            <a:xfrm>
              <a:off x="0" y="-38100"/>
              <a:ext cx="9997440" cy="2110740"/>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Slightly lower LM stats than ARIMA (111 vs 123 at lag 5) — VECM absorbs some volatility via SP500 and VIX channels. Significant ARCH effects persist regardless — GARCH required for both models.</a:t>
              </a:r>
            </a:p>
          </p:txBody>
        </p:sp>
      </p:grpSp>
      <p:grpSp>
        <p:nvGrpSpPr>
          <p:cNvPr name="Group 24" id="24"/>
          <p:cNvGrpSpPr/>
          <p:nvPr/>
        </p:nvGrpSpPr>
        <p:grpSpPr>
          <a:xfrm rot="0">
            <a:off x="901703" y="8573776"/>
            <a:ext cx="16484603" cy="976379"/>
            <a:chOff x="0" y="0"/>
            <a:chExt cx="21979471" cy="1301839"/>
          </a:xfrm>
        </p:grpSpPr>
        <p:sp>
          <p:nvSpPr>
            <p:cNvPr name="Freeform 25" id="25"/>
            <p:cNvSpPr/>
            <p:nvPr/>
          </p:nvSpPr>
          <p:spPr>
            <a:xfrm flipH="false" flipV="false" rot="0">
              <a:off x="16891" y="16891"/>
              <a:ext cx="21945599" cy="1267968"/>
            </a:xfrm>
            <a:custGeom>
              <a:avLst/>
              <a:gdLst/>
              <a:ahLst/>
              <a:cxnLst/>
              <a:rect r="r" b="b" t="t" l="l"/>
              <a:pathLst>
                <a:path h="1267968" w="21945599">
                  <a:moveTo>
                    <a:pt x="0" y="0"/>
                  </a:moveTo>
                  <a:lnTo>
                    <a:pt x="21945599" y="0"/>
                  </a:lnTo>
                  <a:lnTo>
                    <a:pt x="21945599" y="1267968"/>
                  </a:lnTo>
                  <a:lnTo>
                    <a:pt x="0" y="1267968"/>
                  </a:lnTo>
                  <a:close/>
                </a:path>
              </a:pathLst>
            </a:custGeom>
            <a:solidFill>
              <a:srgbClr val="1E2761"/>
            </a:solidFill>
          </p:spPr>
        </p:sp>
        <p:sp>
          <p:nvSpPr>
            <p:cNvPr name="Freeform 26" id="26"/>
            <p:cNvSpPr/>
            <p:nvPr/>
          </p:nvSpPr>
          <p:spPr>
            <a:xfrm flipH="false" flipV="false" rot="0">
              <a:off x="0" y="0"/>
              <a:ext cx="21979382" cy="1301750"/>
            </a:xfrm>
            <a:custGeom>
              <a:avLst/>
              <a:gdLst/>
              <a:ahLst/>
              <a:cxnLst/>
              <a:rect r="r" b="b" t="t" l="l"/>
              <a:pathLst>
                <a:path h="1301750" w="21979382">
                  <a:moveTo>
                    <a:pt x="16891" y="0"/>
                  </a:moveTo>
                  <a:lnTo>
                    <a:pt x="21962490" y="0"/>
                  </a:lnTo>
                  <a:cubicBezTo>
                    <a:pt x="21971890" y="0"/>
                    <a:pt x="21979382" y="7620"/>
                    <a:pt x="21979382" y="16891"/>
                  </a:cubicBezTo>
                  <a:lnTo>
                    <a:pt x="21979382" y="1284859"/>
                  </a:lnTo>
                  <a:cubicBezTo>
                    <a:pt x="21979382" y="1294257"/>
                    <a:pt x="21971763" y="1301750"/>
                    <a:pt x="21962490"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21962490" y="1267968"/>
                  </a:lnTo>
                  <a:lnTo>
                    <a:pt x="21962490" y="1284859"/>
                  </a:lnTo>
                  <a:lnTo>
                    <a:pt x="21945600" y="1284859"/>
                  </a:lnTo>
                  <a:lnTo>
                    <a:pt x="21945600" y="16891"/>
                  </a:lnTo>
                  <a:lnTo>
                    <a:pt x="21962490" y="16891"/>
                  </a:lnTo>
                  <a:lnTo>
                    <a:pt x="21962490" y="33909"/>
                  </a:lnTo>
                  <a:lnTo>
                    <a:pt x="16891" y="33909"/>
                  </a:lnTo>
                  <a:close/>
                </a:path>
              </a:pathLst>
            </a:custGeom>
            <a:solidFill>
              <a:srgbClr val="1E2761"/>
            </a:solidFill>
          </p:spPr>
        </p:sp>
      </p:grpSp>
      <p:grpSp>
        <p:nvGrpSpPr>
          <p:cNvPr name="Group 27" id="27"/>
          <p:cNvGrpSpPr/>
          <p:nvPr/>
        </p:nvGrpSpPr>
        <p:grpSpPr>
          <a:xfrm rot="0">
            <a:off x="1280160" y="8641337"/>
            <a:ext cx="15727680" cy="804672"/>
            <a:chOff x="0" y="0"/>
            <a:chExt cx="20970240" cy="1072896"/>
          </a:xfrm>
        </p:grpSpPr>
        <p:sp>
          <p:nvSpPr>
            <p:cNvPr name="Freeform 28" id="28"/>
            <p:cNvSpPr/>
            <p:nvPr/>
          </p:nvSpPr>
          <p:spPr>
            <a:xfrm flipH="false" flipV="false" rot="0">
              <a:off x="0" y="0"/>
              <a:ext cx="20970239" cy="1072896"/>
            </a:xfrm>
            <a:custGeom>
              <a:avLst/>
              <a:gdLst/>
              <a:ahLst/>
              <a:cxnLst/>
              <a:rect r="r" b="b" t="t" l="l"/>
              <a:pathLst>
                <a:path h="1072896" w="20970239">
                  <a:moveTo>
                    <a:pt x="0" y="0"/>
                  </a:moveTo>
                  <a:lnTo>
                    <a:pt x="20970239" y="0"/>
                  </a:lnTo>
                  <a:lnTo>
                    <a:pt x="20970239" y="1072896"/>
                  </a:lnTo>
                  <a:lnTo>
                    <a:pt x="0" y="1072896"/>
                  </a:lnTo>
                  <a:close/>
                </a:path>
              </a:pathLst>
            </a:custGeom>
            <a:blipFill>
              <a:blip r:embed="rId3">
                <a:alphaModFix amt="0"/>
              </a:blip>
              <a:stretch>
                <a:fillRect l="0" t="-330843" r="0" b="-330843"/>
              </a:stretch>
            </a:blipFill>
          </p:spPr>
        </p:sp>
        <p:sp>
          <p:nvSpPr>
            <p:cNvPr name="TextBox 29" id="29"/>
            <p:cNvSpPr txBox="true"/>
            <p:nvPr/>
          </p:nvSpPr>
          <p:spPr>
            <a:xfrm>
              <a:off x="0" y="-47625"/>
              <a:ext cx="20970240" cy="1120521"/>
            </a:xfrm>
            <a:prstGeom prst="rect">
              <a:avLst/>
            </a:prstGeom>
          </p:spPr>
          <p:txBody>
            <a:bodyPr anchor="ctr" rtlCol="false" tIns="0" lIns="0" bIns="0" rIns="0"/>
            <a:lstStyle/>
            <a:p>
              <a:pPr algn="l">
                <a:lnSpc>
                  <a:spcPts val="2520"/>
                </a:lnSpc>
              </a:pPr>
              <a:r>
                <a:rPr lang="en-US" sz="2100" b="true">
                  <a:solidFill>
                    <a:srgbClr val="FFFFFF"/>
                  </a:solidFill>
                  <a:latin typeface="Calibri (MS) Bold"/>
                  <a:ea typeface="Calibri (MS) Bold"/>
                  <a:cs typeface="Calibri (MS) Bold"/>
                  <a:sym typeface="Calibri (MS) Bold"/>
                </a:rPr>
                <a:t>Conclusion: Both the ARIMA and VECM models exhibit strong conditional heteroscedasticity (p ≈ 0.000 at all lags tested). GARCH modelling is necessary and justified for both.</a:t>
              </a:r>
            </a:p>
          </p:txBody>
        </p:sp>
      </p:grpSp>
      <p:grpSp>
        <p:nvGrpSpPr>
          <p:cNvPr name="Group 30" id="30"/>
          <p:cNvGrpSpPr/>
          <p:nvPr/>
        </p:nvGrpSpPr>
        <p:grpSpPr>
          <a:xfrm rot="0">
            <a:off x="901703" y="289055"/>
            <a:ext cx="1031243" cy="1031243"/>
            <a:chOff x="0" y="0"/>
            <a:chExt cx="1374991" cy="1374991"/>
          </a:xfrm>
        </p:grpSpPr>
        <p:sp>
          <p:nvSpPr>
            <p:cNvPr name="Freeform 31" id="31"/>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32" id="32"/>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33" id="33"/>
          <p:cNvGrpSpPr/>
          <p:nvPr/>
        </p:nvGrpSpPr>
        <p:grpSpPr>
          <a:xfrm rot="0">
            <a:off x="914400" y="301752"/>
            <a:ext cx="1005840" cy="1005840"/>
            <a:chOff x="0" y="0"/>
            <a:chExt cx="1341120" cy="1341120"/>
          </a:xfrm>
        </p:grpSpPr>
        <p:sp>
          <p:nvSpPr>
            <p:cNvPr name="Freeform 34" id="34"/>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35" id="35"/>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04</a:t>
              </a:r>
            </a:p>
          </p:txBody>
        </p:sp>
      </p:grpSp>
      <p:sp>
        <p:nvSpPr>
          <p:cNvPr name="Freeform 36" id="36"/>
          <p:cNvSpPr/>
          <p:nvPr/>
        </p:nvSpPr>
        <p:spPr>
          <a:xfrm flipH="false" flipV="false" rot="0">
            <a:off x="9530364" y="3438144"/>
            <a:ext cx="7728936" cy="3808655"/>
          </a:xfrm>
          <a:custGeom>
            <a:avLst/>
            <a:gdLst/>
            <a:ahLst/>
            <a:cxnLst/>
            <a:rect r="r" b="b" t="t" l="l"/>
            <a:pathLst>
              <a:path h="3808655" w="7728936">
                <a:moveTo>
                  <a:pt x="0" y="0"/>
                </a:moveTo>
                <a:lnTo>
                  <a:pt x="7728936" y="0"/>
                </a:lnTo>
                <a:lnTo>
                  <a:pt x="7728936" y="3808655"/>
                </a:lnTo>
                <a:lnTo>
                  <a:pt x="0" y="3808655"/>
                </a:lnTo>
                <a:lnTo>
                  <a:pt x="0" y="0"/>
                </a:lnTo>
                <a:close/>
              </a:path>
            </a:pathLst>
          </a:custGeom>
          <a:blipFill>
            <a:blip r:embed="rId4"/>
            <a:stretch>
              <a:fillRect l="0" t="0" r="0" b="0"/>
            </a:stretch>
          </a:blipFill>
          <a:ln w="38100" cap="sq">
            <a:solidFill>
              <a:srgbClr val="000000"/>
            </a:solidFill>
            <a:prstDash val="solid"/>
            <a:miter/>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350770"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363467"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3 · GARCH</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GARCH Model Selection &amp; Parameter Estimates</a:t>
              </a:r>
            </a:p>
          </p:txBody>
        </p:sp>
      </p:grpSp>
      <p:grpSp>
        <p:nvGrpSpPr>
          <p:cNvPr name="Group 11" id="11"/>
          <p:cNvGrpSpPr/>
          <p:nvPr/>
        </p:nvGrpSpPr>
        <p:grpSpPr>
          <a:xfrm rot="0">
            <a:off x="760808" y="2630805"/>
            <a:ext cx="10330740" cy="3676907"/>
            <a:chOff x="0" y="0"/>
            <a:chExt cx="2720853" cy="968404"/>
          </a:xfrm>
        </p:grpSpPr>
        <p:sp>
          <p:nvSpPr>
            <p:cNvPr name="Freeform 12" id="12"/>
            <p:cNvSpPr/>
            <p:nvPr/>
          </p:nvSpPr>
          <p:spPr>
            <a:xfrm flipH="false" flipV="false" rot="0">
              <a:off x="0" y="0"/>
              <a:ext cx="2720853" cy="968404"/>
            </a:xfrm>
            <a:custGeom>
              <a:avLst/>
              <a:gdLst/>
              <a:ahLst/>
              <a:cxnLst/>
              <a:rect r="r" b="b" t="t" l="l"/>
              <a:pathLst>
                <a:path h="968404" w="2720853">
                  <a:moveTo>
                    <a:pt x="0" y="0"/>
                  </a:moveTo>
                  <a:lnTo>
                    <a:pt x="2720853" y="0"/>
                  </a:lnTo>
                  <a:lnTo>
                    <a:pt x="2720853" y="968404"/>
                  </a:lnTo>
                  <a:lnTo>
                    <a:pt x="0" y="968404"/>
                  </a:lnTo>
                  <a:close/>
                </a:path>
              </a:pathLst>
            </a:custGeom>
            <a:solidFill>
              <a:srgbClr val="FEF3C7"/>
            </a:solidFill>
          </p:spPr>
        </p:sp>
        <p:sp>
          <p:nvSpPr>
            <p:cNvPr name="TextBox 13" id="13"/>
            <p:cNvSpPr txBox="true"/>
            <p:nvPr/>
          </p:nvSpPr>
          <p:spPr>
            <a:xfrm>
              <a:off x="0" y="-38100"/>
              <a:ext cx="2720853" cy="1006504"/>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914400" y="2651760"/>
            <a:ext cx="10058400" cy="512064"/>
            <a:chOff x="0" y="0"/>
            <a:chExt cx="13411200" cy="682752"/>
          </a:xfrm>
        </p:grpSpPr>
        <p:sp>
          <p:nvSpPr>
            <p:cNvPr name="Freeform 15" id="15"/>
            <p:cNvSpPr/>
            <p:nvPr/>
          </p:nvSpPr>
          <p:spPr>
            <a:xfrm flipH="false" flipV="false" rot="0">
              <a:off x="0" y="0"/>
              <a:ext cx="13411200" cy="682752"/>
            </a:xfrm>
            <a:custGeom>
              <a:avLst/>
              <a:gdLst/>
              <a:ahLst/>
              <a:cxnLst/>
              <a:rect r="r" b="b" t="t" l="l"/>
              <a:pathLst>
                <a:path h="682752" w="13411200">
                  <a:moveTo>
                    <a:pt x="0" y="0"/>
                  </a:moveTo>
                  <a:lnTo>
                    <a:pt x="13411200" y="0"/>
                  </a:lnTo>
                  <a:lnTo>
                    <a:pt x="13411200" y="682752"/>
                  </a:lnTo>
                  <a:lnTo>
                    <a:pt x="0" y="682752"/>
                  </a:lnTo>
                  <a:close/>
                </a:path>
              </a:pathLst>
            </a:custGeom>
            <a:blipFill>
              <a:blip r:embed="rId3">
                <a:alphaModFix amt="0"/>
              </a:blip>
              <a:stretch>
                <a:fillRect l="0" t="-332741" r="0" b="-332741"/>
              </a:stretch>
            </a:blipFill>
          </p:spPr>
        </p:sp>
        <p:sp>
          <p:nvSpPr>
            <p:cNvPr name="TextBox 16" id="16"/>
            <p:cNvSpPr txBox="true"/>
            <p:nvPr/>
          </p:nvSpPr>
          <p:spPr>
            <a:xfrm>
              <a:off x="0" y="-47625"/>
              <a:ext cx="1341120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Model Comparison — ARIMA Residuals</a:t>
              </a:r>
            </a:p>
          </p:txBody>
        </p:sp>
      </p:grpSp>
      <p:graphicFrame>
        <p:nvGraphicFramePr>
          <p:cNvPr name="Table 17" id="17"/>
          <p:cNvGraphicFramePr>
            <a:graphicFrameLocks noGrp="true"/>
          </p:cNvGraphicFramePr>
          <p:nvPr/>
        </p:nvGraphicFramePr>
        <p:xfrm>
          <a:off x="914400" y="3236976"/>
          <a:ext cx="10033000" cy="2794000"/>
        </p:xfrm>
        <a:graphic>
          <a:graphicData uri="http://schemas.openxmlformats.org/drawingml/2006/table">
            <a:tbl>
              <a:tblPr/>
              <a:tblGrid>
                <a:gridCol w="3998150"/>
                <a:gridCol w="2011617"/>
                <a:gridCol w="2011617"/>
                <a:gridCol w="2011617"/>
              </a:tblGrid>
              <a:tr h="558800">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Model</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AIC</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BIC</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Log-Lik</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GARCH(1,1)–Normal</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13,223.74</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13,247.47</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−6,607.87</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58800">
                <a:tc>
                  <a:txBody>
                    <a:bodyPr anchor="t" rtlCol="false"/>
                    <a:lstStyle/>
                    <a:p>
                      <a:pPr algn="ctr">
                        <a:lnSpc>
                          <a:spcPts val="2280"/>
                        </a:lnSpc>
                        <a:defRPr/>
                      </a:pPr>
                      <a:r>
                        <a:rPr lang="en-US" sz="1900" b="true">
                          <a:solidFill>
                            <a:srgbClr val="065F46"/>
                          </a:solidFill>
                          <a:latin typeface="Calibri (MS) Bold"/>
                          <a:ea typeface="Calibri (MS) Bold"/>
                          <a:cs typeface="Calibri (MS) Bold"/>
                          <a:sym typeface="Calibri (MS) Bold"/>
                        </a:rPr>
                        <a:t>GARCH(1,1)–t  ★ BEST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c>
                  <a:txBody>
                    <a:bodyPr anchor="t" rtlCol="false"/>
                    <a:lstStyle/>
                    <a:p>
                      <a:pPr algn="ctr">
                        <a:lnSpc>
                          <a:spcPts val="2280"/>
                        </a:lnSpc>
                        <a:defRPr/>
                      </a:pPr>
                      <a:r>
                        <a:rPr lang="en-US" sz="1900" b="true">
                          <a:solidFill>
                            <a:srgbClr val="065F46"/>
                          </a:solidFill>
                          <a:latin typeface="Calibri (MS) Bold"/>
                          <a:ea typeface="Calibri (MS) Bold"/>
                          <a:cs typeface="Calibri (MS) Bold"/>
                          <a:sym typeface="Calibri (MS) Bold"/>
                        </a:rPr>
                        <a:t>12,833.43</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c>
                  <a:txBody>
                    <a:bodyPr anchor="t" rtlCol="false"/>
                    <a:lstStyle/>
                    <a:p>
                      <a:pPr algn="ctr">
                        <a:lnSpc>
                          <a:spcPts val="2280"/>
                        </a:lnSpc>
                        <a:defRPr/>
                      </a:pPr>
                      <a:r>
                        <a:rPr lang="en-US" sz="1900" b="true">
                          <a:solidFill>
                            <a:srgbClr val="065F46"/>
                          </a:solidFill>
                          <a:latin typeface="Calibri (MS) Bold"/>
                          <a:ea typeface="Calibri (MS) Bold"/>
                          <a:cs typeface="Calibri (MS) Bold"/>
                          <a:sym typeface="Calibri (MS) Bold"/>
                        </a:rPr>
                        <a:t>12,863.09</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c>
                  <a:txBody>
                    <a:bodyPr anchor="t" rtlCol="false"/>
                    <a:lstStyle/>
                    <a:p>
                      <a:pPr algn="ctr">
                        <a:lnSpc>
                          <a:spcPts val="2280"/>
                        </a:lnSpc>
                        <a:defRPr/>
                      </a:pPr>
                      <a:r>
                        <a:rPr lang="en-US" sz="1900" b="true">
                          <a:solidFill>
                            <a:srgbClr val="065F46"/>
                          </a:solidFill>
                          <a:latin typeface="Calibri (MS) Bold"/>
                          <a:ea typeface="Calibri (MS) Bold"/>
                          <a:cs typeface="Calibri (MS) Bold"/>
                          <a:sym typeface="Calibri (MS) Bold"/>
                        </a:rPr>
                        <a:t>−6,411.72</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D1FAE5"/>
                    </a:solidFill>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EGARCH(1,1)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13,164.01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13,187.74</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−6,578.00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58800">
                <a:tc>
                  <a:txBody>
                    <a:bodyPr anchor="t" rtlCol="false"/>
                    <a:lstStyle/>
                    <a:p>
                      <a:pPr algn="ctr">
                        <a:lnSpc>
                          <a:spcPts val="2280"/>
                        </a:lnSpc>
                        <a:defRPr/>
                      </a:pPr>
                      <a:r>
                        <a:rPr lang="en-US" sz="1900">
                          <a:solidFill>
                            <a:srgbClr val="000000"/>
                          </a:solidFill>
                          <a:latin typeface="Calibri (MS)"/>
                          <a:ea typeface="Calibri (MS)"/>
                          <a:cs typeface="Calibri (MS)"/>
                          <a:sym typeface="Calibri (MS)"/>
                        </a:rPr>
                        <a:t>GJR-GARCH</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13,225.71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13,255.37</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−6,607.86</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bl>
          </a:graphicData>
        </a:graphic>
      </p:graphicFrame>
      <p:grpSp>
        <p:nvGrpSpPr>
          <p:cNvPr name="Group 18" id="18"/>
          <p:cNvGrpSpPr/>
          <p:nvPr/>
        </p:nvGrpSpPr>
        <p:grpSpPr>
          <a:xfrm rot="0">
            <a:off x="760808" y="6412929"/>
            <a:ext cx="10330740" cy="1286319"/>
            <a:chOff x="0" y="0"/>
            <a:chExt cx="2720853" cy="338783"/>
          </a:xfrm>
        </p:grpSpPr>
        <p:sp>
          <p:nvSpPr>
            <p:cNvPr name="Freeform 19" id="19"/>
            <p:cNvSpPr/>
            <p:nvPr/>
          </p:nvSpPr>
          <p:spPr>
            <a:xfrm flipH="false" flipV="false" rot="0">
              <a:off x="0" y="0"/>
              <a:ext cx="2720853" cy="338783"/>
            </a:xfrm>
            <a:custGeom>
              <a:avLst/>
              <a:gdLst/>
              <a:ahLst/>
              <a:cxnLst/>
              <a:rect r="r" b="b" t="t" l="l"/>
              <a:pathLst>
                <a:path h="338783" w="2720853">
                  <a:moveTo>
                    <a:pt x="0" y="0"/>
                  </a:moveTo>
                  <a:lnTo>
                    <a:pt x="2720853" y="0"/>
                  </a:lnTo>
                  <a:lnTo>
                    <a:pt x="2720853" y="338783"/>
                  </a:lnTo>
                  <a:lnTo>
                    <a:pt x="0" y="338783"/>
                  </a:lnTo>
                  <a:close/>
                </a:path>
              </a:pathLst>
            </a:custGeom>
            <a:solidFill>
              <a:srgbClr val="FEF3C7"/>
            </a:solidFill>
          </p:spPr>
        </p:sp>
        <p:sp>
          <p:nvSpPr>
            <p:cNvPr name="TextBox 20" id="20"/>
            <p:cNvSpPr txBox="true"/>
            <p:nvPr/>
          </p:nvSpPr>
          <p:spPr>
            <a:xfrm>
              <a:off x="0" y="-38100"/>
              <a:ext cx="2720853" cy="376883"/>
            </a:xfrm>
            <a:prstGeom prst="rect">
              <a:avLst/>
            </a:prstGeom>
          </p:spPr>
          <p:txBody>
            <a:bodyPr anchor="ctr" rtlCol="false" tIns="50800" lIns="50800" bIns="50800" rIns="50800"/>
            <a:lstStyle/>
            <a:p>
              <a:pPr algn="ctr">
                <a:lnSpc>
                  <a:spcPts val="2400"/>
                </a:lnSpc>
              </a:pPr>
            </a:p>
          </p:txBody>
        </p:sp>
      </p:grpSp>
      <p:grpSp>
        <p:nvGrpSpPr>
          <p:cNvPr name="Group 21" id="21"/>
          <p:cNvGrpSpPr/>
          <p:nvPr/>
        </p:nvGrpSpPr>
        <p:grpSpPr>
          <a:xfrm rot="0">
            <a:off x="914400" y="6580601"/>
            <a:ext cx="10058400" cy="950976"/>
            <a:chOff x="0" y="0"/>
            <a:chExt cx="13411200" cy="1267968"/>
          </a:xfrm>
        </p:grpSpPr>
        <p:sp>
          <p:nvSpPr>
            <p:cNvPr name="Freeform 22" id="22"/>
            <p:cNvSpPr/>
            <p:nvPr/>
          </p:nvSpPr>
          <p:spPr>
            <a:xfrm flipH="false" flipV="false" rot="0">
              <a:off x="0" y="0"/>
              <a:ext cx="13411200" cy="1267968"/>
            </a:xfrm>
            <a:custGeom>
              <a:avLst/>
              <a:gdLst/>
              <a:ahLst/>
              <a:cxnLst/>
              <a:rect r="r" b="b" t="t" l="l"/>
              <a:pathLst>
                <a:path h="1267968" w="13411200">
                  <a:moveTo>
                    <a:pt x="0" y="0"/>
                  </a:moveTo>
                  <a:lnTo>
                    <a:pt x="13411200" y="0"/>
                  </a:lnTo>
                  <a:lnTo>
                    <a:pt x="13411200" y="1267968"/>
                  </a:lnTo>
                  <a:lnTo>
                    <a:pt x="0" y="1267968"/>
                  </a:lnTo>
                  <a:close/>
                </a:path>
              </a:pathLst>
            </a:custGeom>
            <a:blipFill>
              <a:blip r:embed="rId3">
                <a:alphaModFix amt="0"/>
              </a:blip>
              <a:stretch>
                <a:fillRect l="0" t="-156091" r="0" b="-156091"/>
              </a:stretch>
            </a:blipFill>
          </p:spPr>
        </p:sp>
        <p:sp>
          <p:nvSpPr>
            <p:cNvPr name="TextBox 23" id="23"/>
            <p:cNvSpPr txBox="true"/>
            <p:nvPr/>
          </p:nvSpPr>
          <p:spPr>
            <a:xfrm>
              <a:off x="0" y="-38100"/>
              <a:ext cx="13411200" cy="1306068"/>
            </a:xfrm>
            <a:prstGeom prst="rect">
              <a:avLst/>
            </a:prstGeom>
          </p:spPr>
          <p:txBody>
            <a:bodyPr anchor="ctr" rtlCol="false" tIns="0" lIns="0" bIns="0" rIns="0"/>
            <a:lstStyle/>
            <a:p>
              <a:pPr algn="l">
                <a:lnSpc>
                  <a:spcPts val="2400"/>
                </a:lnSpc>
              </a:pPr>
              <a:r>
                <a:rPr lang="en-US" sz="2000">
                  <a:solidFill>
                    <a:srgbClr val="334155"/>
                  </a:solidFill>
                  <a:latin typeface="Calibri (MS)"/>
                  <a:ea typeface="Calibri (MS)"/>
                  <a:cs typeface="Calibri (MS)"/>
                  <a:sym typeface="Calibri (MS)"/>
                </a:rPr>
                <a:t>GARCH(1,1)-t wins by 390 AIC points over Normal GARCH — confirms fat-tailed returns. Asymmetric models (EGARCH, GJR) do not improve — leverage effects are not dominant.</a:t>
              </a:r>
            </a:p>
          </p:txBody>
        </p:sp>
      </p:grpSp>
      <p:grpSp>
        <p:nvGrpSpPr>
          <p:cNvPr name="Group 24" id="24"/>
          <p:cNvGrpSpPr/>
          <p:nvPr/>
        </p:nvGrpSpPr>
        <p:grpSpPr>
          <a:xfrm rot="0">
            <a:off x="11234423" y="2630805"/>
            <a:ext cx="6559801" cy="4086482"/>
            <a:chOff x="0" y="0"/>
            <a:chExt cx="1727684" cy="1076275"/>
          </a:xfrm>
        </p:grpSpPr>
        <p:sp>
          <p:nvSpPr>
            <p:cNvPr name="Freeform 25" id="25"/>
            <p:cNvSpPr/>
            <p:nvPr/>
          </p:nvSpPr>
          <p:spPr>
            <a:xfrm flipH="false" flipV="false" rot="0">
              <a:off x="0" y="0"/>
              <a:ext cx="1727684" cy="1076275"/>
            </a:xfrm>
            <a:custGeom>
              <a:avLst/>
              <a:gdLst/>
              <a:ahLst/>
              <a:cxnLst/>
              <a:rect r="r" b="b" t="t" l="l"/>
              <a:pathLst>
                <a:path h="1076275" w="1727684">
                  <a:moveTo>
                    <a:pt x="0" y="0"/>
                  </a:moveTo>
                  <a:lnTo>
                    <a:pt x="1727684" y="0"/>
                  </a:lnTo>
                  <a:lnTo>
                    <a:pt x="1727684" y="1076275"/>
                  </a:lnTo>
                  <a:lnTo>
                    <a:pt x="0" y="1076275"/>
                  </a:lnTo>
                  <a:close/>
                </a:path>
              </a:pathLst>
            </a:custGeom>
            <a:solidFill>
              <a:srgbClr val="FEE2E2"/>
            </a:solidFill>
          </p:spPr>
        </p:sp>
        <p:sp>
          <p:nvSpPr>
            <p:cNvPr name="TextBox 26" id="26"/>
            <p:cNvSpPr txBox="true"/>
            <p:nvPr/>
          </p:nvSpPr>
          <p:spPr>
            <a:xfrm>
              <a:off x="0" y="-38100"/>
              <a:ext cx="1727684" cy="1114375"/>
            </a:xfrm>
            <a:prstGeom prst="rect">
              <a:avLst/>
            </a:prstGeom>
          </p:spPr>
          <p:txBody>
            <a:bodyPr anchor="ctr" rtlCol="false" tIns="50800" lIns="50800" bIns="50800" rIns="50800"/>
            <a:lstStyle/>
            <a:p>
              <a:pPr algn="ctr">
                <a:lnSpc>
                  <a:spcPts val="2400"/>
                </a:lnSpc>
              </a:pPr>
            </a:p>
          </p:txBody>
        </p:sp>
      </p:grpSp>
      <p:grpSp>
        <p:nvGrpSpPr>
          <p:cNvPr name="Group 27" id="27"/>
          <p:cNvGrpSpPr/>
          <p:nvPr/>
        </p:nvGrpSpPr>
        <p:grpSpPr>
          <a:xfrm rot="0">
            <a:off x="11247120" y="2651760"/>
            <a:ext cx="6583680" cy="512064"/>
            <a:chOff x="0" y="0"/>
            <a:chExt cx="8778240" cy="682752"/>
          </a:xfrm>
        </p:grpSpPr>
        <p:sp>
          <p:nvSpPr>
            <p:cNvPr name="Freeform 28" id="28"/>
            <p:cNvSpPr/>
            <p:nvPr/>
          </p:nvSpPr>
          <p:spPr>
            <a:xfrm flipH="false" flipV="false" rot="0">
              <a:off x="0" y="0"/>
              <a:ext cx="8778240" cy="682752"/>
            </a:xfrm>
            <a:custGeom>
              <a:avLst/>
              <a:gdLst/>
              <a:ahLst/>
              <a:cxnLst/>
              <a:rect r="r" b="b" t="t" l="l"/>
              <a:pathLst>
                <a:path h="682752" w="8778240">
                  <a:moveTo>
                    <a:pt x="0" y="0"/>
                  </a:moveTo>
                  <a:lnTo>
                    <a:pt x="8778240" y="0"/>
                  </a:lnTo>
                  <a:lnTo>
                    <a:pt x="8778240" y="682752"/>
                  </a:lnTo>
                  <a:lnTo>
                    <a:pt x="0" y="682752"/>
                  </a:lnTo>
                  <a:close/>
                </a:path>
              </a:pathLst>
            </a:custGeom>
            <a:blipFill>
              <a:blip r:embed="rId3">
                <a:alphaModFix amt="0"/>
              </a:blip>
              <a:stretch>
                <a:fillRect l="0" t="-200521" r="0" b="-200521"/>
              </a:stretch>
            </a:blipFill>
          </p:spPr>
        </p:sp>
        <p:sp>
          <p:nvSpPr>
            <p:cNvPr name="TextBox 29" id="29"/>
            <p:cNvSpPr txBox="true"/>
            <p:nvPr/>
          </p:nvSpPr>
          <p:spPr>
            <a:xfrm>
              <a:off x="0" y="-47625"/>
              <a:ext cx="877824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GARCH(1,1)-t Parameters — ARIMA Residuals</a:t>
              </a:r>
            </a:p>
          </p:txBody>
        </p:sp>
      </p:grpSp>
      <p:grpSp>
        <p:nvGrpSpPr>
          <p:cNvPr name="Group 30" id="30"/>
          <p:cNvGrpSpPr/>
          <p:nvPr/>
        </p:nvGrpSpPr>
        <p:grpSpPr>
          <a:xfrm rot="0">
            <a:off x="11234423" y="3315719"/>
            <a:ext cx="3134363" cy="720347"/>
            <a:chOff x="0" y="0"/>
            <a:chExt cx="4179151" cy="960463"/>
          </a:xfrm>
        </p:grpSpPr>
        <p:sp>
          <p:nvSpPr>
            <p:cNvPr name="Freeform 31" id="31"/>
            <p:cNvSpPr/>
            <p:nvPr/>
          </p:nvSpPr>
          <p:spPr>
            <a:xfrm flipH="false" flipV="false" rot="0">
              <a:off x="16891" y="16891"/>
              <a:ext cx="4145280" cy="926592"/>
            </a:xfrm>
            <a:custGeom>
              <a:avLst/>
              <a:gdLst/>
              <a:ahLst/>
              <a:cxnLst/>
              <a:rect r="r" b="b" t="t" l="l"/>
              <a:pathLst>
                <a:path h="926592" w="4145280">
                  <a:moveTo>
                    <a:pt x="0" y="0"/>
                  </a:moveTo>
                  <a:lnTo>
                    <a:pt x="4145280" y="0"/>
                  </a:lnTo>
                  <a:lnTo>
                    <a:pt x="4145280" y="926592"/>
                  </a:lnTo>
                  <a:lnTo>
                    <a:pt x="0" y="926592"/>
                  </a:lnTo>
                  <a:close/>
                </a:path>
              </a:pathLst>
            </a:custGeom>
            <a:solidFill>
              <a:srgbClr val="E8F0FE"/>
            </a:solidFill>
          </p:spPr>
        </p:sp>
        <p:sp>
          <p:nvSpPr>
            <p:cNvPr name="Freeform 32" id="32"/>
            <p:cNvSpPr/>
            <p:nvPr/>
          </p:nvSpPr>
          <p:spPr>
            <a:xfrm flipH="false" flipV="false" rot="0">
              <a:off x="0" y="0"/>
              <a:ext cx="4179062" cy="960376"/>
            </a:xfrm>
            <a:custGeom>
              <a:avLst/>
              <a:gdLst/>
              <a:ahLst/>
              <a:cxnLst/>
              <a:rect r="r" b="b" t="t" l="l"/>
              <a:pathLst>
                <a:path h="960376" w="4179062">
                  <a:moveTo>
                    <a:pt x="16891" y="0"/>
                  </a:moveTo>
                  <a:lnTo>
                    <a:pt x="4162171" y="0"/>
                  </a:lnTo>
                  <a:cubicBezTo>
                    <a:pt x="4171569" y="0"/>
                    <a:pt x="4179062" y="7620"/>
                    <a:pt x="4179062" y="16891"/>
                  </a:cubicBezTo>
                  <a:lnTo>
                    <a:pt x="4179062" y="943483"/>
                  </a:lnTo>
                  <a:cubicBezTo>
                    <a:pt x="4179062" y="952881"/>
                    <a:pt x="4171442" y="960374"/>
                    <a:pt x="416217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4162171" y="926592"/>
                  </a:lnTo>
                  <a:lnTo>
                    <a:pt x="4162171" y="943483"/>
                  </a:lnTo>
                  <a:lnTo>
                    <a:pt x="4145280" y="943483"/>
                  </a:lnTo>
                  <a:lnTo>
                    <a:pt x="4145280" y="16891"/>
                  </a:lnTo>
                  <a:lnTo>
                    <a:pt x="4162171" y="16891"/>
                  </a:lnTo>
                  <a:lnTo>
                    <a:pt x="4162171" y="33909"/>
                  </a:lnTo>
                  <a:lnTo>
                    <a:pt x="16891" y="33909"/>
                  </a:lnTo>
                  <a:close/>
                </a:path>
              </a:pathLst>
            </a:custGeom>
            <a:solidFill>
              <a:srgbClr val="CADCFC"/>
            </a:solidFill>
          </p:spPr>
        </p:sp>
      </p:grpSp>
      <p:grpSp>
        <p:nvGrpSpPr>
          <p:cNvPr name="Group 33" id="33"/>
          <p:cNvGrpSpPr/>
          <p:nvPr/>
        </p:nvGrpSpPr>
        <p:grpSpPr>
          <a:xfrm rot="0">
            <a:off x="14434823" y="3315719"/>
            <a:ext cx="1854203" cy="720347"/>
            <a:chOff x="0" y="0"/>
            <a:chExt cx="2472271" cy="960463"/>
          </a:xfrm>
        </p:grpSpPr>
        <p:sp>
          <p:nvSpPr>
            <p:cNvPr name="Freeform 34" id="34"/>
            <p:cNvSpPr/>
            <p:nvPr/>
          </p:nvSpPr>
          <p:spPr>
            <a:xfrm flipH="false" flipV="false" rot="0">
              <a:off x="16891" y="16891"/>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CADCFC"/>
            </a:solidFill>
          </p:spPr>
        </p:sp>
        <p:sp>
          <p:nvSpPr>
            <p:cNvPr name="Freeform 35" id="35"/>
            <p:cNvSpPr/>
            <p:nvPr/>
          </p:nvSpPr>
          <p:spPr>
            <a:xfrm flipH="false" flipV="false" rot="0">
              <a:off x="0" y="0"/>
              <a:ext cx="2472182" cy="960376"/>
            </a:xfrm>
            <a:custGeom>
              <a:avLst/>
              <a:gdLst/>
              <a:ahLst/>
              <a:cxnLst/>
              <a:rect r="r" b="b" t="t" l="l"/>
              <a:pathLst>
                <a:path h="960376" w="2472182">
                  <a:moveTo>
                    <a:pt x="16891" y="0"/>
                  </a:moveTo>
                  <a:lnTo>
                    <a:pt x="2455291" y="0"/>
                  </a:lnTo>
                  <a:cubicBezTo>
                    <a:pt x="2464689" y="0"/>
                    <a:pt x="2472182" y="7620"/>
                    <a:pt x="2472182" y="16891"/>
                  </a:cubicBezTo>
                  <a:lnTo>
                    <a:pt x="2472182" y="943483"/>
                  </a:lnTo>
                  <a:cubicBezTo>
                    <a:pt x="2472182" y="952881"/>
                    <a:pt x="2464562" y="960374"/>
                    <a:pt x="24552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455291" y="926592"/>
                  </a:lnTo>
                  <a:lnTo>
                    <a:pt x="2455291" y="943483"/>
                  </a:lnTo>
                  <a:lnTo>
                    <a:pt x="2438400" y="943483"/>
                  </a:lnTo>
                  <a:lnTo>
                    <a:pt x="2438400" y="16891"/>
                  </a:lnTo>
                  <a:lnTo>
                    <a:pt x="2455291" y="16891"/>
                  </a:lnTo>
                  <a:lnTo>
                    <a:pt x="2455291" y="33909"/>
                  </a:lnTo>
                  <a:lnTo>
                    <a:pt x="16891" y="33909"/>
                  </a:lnTo>
                  <a:close/>
                </a:path>
              </a:pathLst>
            </a:custGeom>
            <a:solidFill>
              <a:srgbClr val="CADCFC"/>
            </a:solidFill>
          </p:spPr>
        </p:sp>
      </p:grpSp>
      <p:grpSp>
        <p:nvGrpSpPr>
          <p:cNvPr name="Group 36" id="36"/>
          <p:cNvGrpSpPr/>
          <p:nvPr/>
        </p:nvGrpSpPr>
        <p:grpSpPr>
          <a:xfrm rot="0">
            <a:off x="16355063" y="3315719"/>
            <a:ext cx="1451867" cy="720347"/>
            <a:chOff x="0" y="0"/>
            <a:chExt cx="1935823" cy="960463"/>
          </a:xfrm>
        </p:grpSpPr>
        <p:sp>
          <p:nvSpPr>
            <p:cNvPr name="Freeform 37" id="37"/>
            <p:cNvSpPr/>
            <p:nvPr/>
          </p:nvSpPr>
          <p:spPr>
            <a:xfrm flipH="false" flipV="false" rot="0">
              <a:off x="16891" y="16891"/>
              <a:ext cx="1901952" cy="926592"/>
            </a:xfrm>
            <a:custGeom>
              <a:avLst/>
              <a:gdLst/>
              <a:ahLst/>
              <a:cxnLst/>
              <a:rect r="r" b="b" t="t" l="l"/>
              <a:pathLst>
                <a:path h="926592" w="1901952">
                  <a:moveTo>
                    <a:pt x="0" y="0"/>
                  </a:moveTo>
                  <a:lnTo>
                    <a:pt x="1901952" y="0"/>
                  </a:lnTo>
                  <a:lnTo>
                    <a:pt x="1901952" y="926592"/>
                  </a:lnTo>
                  <a:lnTo>
                    <a:pt x="0" y="926592"/>
                  </a:lnTo>
                  <a:close/>
                </a:path>
              </a:pathLst>
            </a:custGeom>
            <a:solidFill>
              <a:srgbClr val="FEF3C7"/>
            </a:solidFill>
          </p:spPr>
        </p:sp>
        <p:sp>
          <p:nvSpPr>
            <p:cNvPr name="Freeform 38" id="38"/>
            <p:cNvSpPr/>
            <p:nvPr/>
          </p:nvSpPr>
          <p:spPr>
            <a:xfrm flipH="false" flipV="false" rot="0">
              <a:off x="0" y="0"/>
              <a:ext cx="1935734" cy="960376"/>
            </a:xfrm>
            <a:custGeom>
              <a:avLst/>
              <a:gdLst/>
              <a:ahLst/>
              <a:cxnLst/>
              <a:rect r="r" b="b" t="t" l="l"/>
              <a:pathLst>
                <a:path h="960376" w="1935734">
                  <a:moveTo>
                    <a:pt x="16891" y="0"/>
                  </a:moveTo>
                  <a:lnTo>
                    <a:pt x="1918843" y="0"/>
                  </a:lnTo>
                  <a:cubicBezTo>
                    <a:pt x="1928241" y="0"/>
                    <a:pt x="1935734" y="7620"/>
                    <a:pt x="1935734" y="16891"/>
                  </a:cubicBezTo>
                  <a:lnTo>
                    <a:pt x="1935734" y="943483"/>
                  </a:lnTo>
                  <a:cubicBezTo>
                    <a:pt x="1935734" y="952881"/>
                    <a:pt x="1928114" y="960374"/>
                    <a:pt x="191884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918843" y="926592"/>
                  </a:lnTo>
                  <a:lnTo>
                    <a:pt x="1918843" y="943483"/>
                  </a:lnTo>
                  <a:lnTo>
                    <a:pt x="1901952" y="943483"/>
                  </a:lnTo>
                  <a:lnTo>
                    <a:pt x="1901952" y="16891"/>
                  </a:lnTo>
                  <a:lnTo>
                    <a:pt x="1918843" y="16891"/>
                  </a:lnTo>
                  <a:lnTo>
                    <a:pt x="1918843" y="33909"/>
                  </a:lnTo>
                  <a:lnTo>
                    <a:pt x="16891" y="33909"/>
                  </a:lnTo>
                  <a:close/>
                </a:path>
              </a:pathLst>
            </a:custGeom>
            <a:solidFill>
              <a:srgbClr val="CADCFC"/>
            </a:solidFill>
          </p:spPr>
        </p:sp>
      </p:grpSp>
      <p:grpSp>
        <p:nvGrpSpPr>
          <p:cNvPr name="Group 39" id="39"/>
          <p:cNvGrpSpPr/>
          <p:nvPr/>
        </p:nvGrpSpPr>
        <p:grpSpPr>
          <a:xfrm rot="0">
            <a:off x="11375136" y="3328416"/>
            <a:ext cx="2926080" cy="694944"/>
            <a:chOff x="0" y="0"/>
            <a:chExt cx="3901440" cy="926592"/>
          </a:xfrm>
        </p:grpSpPr>
        <p:sp>
          <p:nvSpPr>
            <p:cNvPr name="Freeform 40" id="40"/>
            <p:cNvSpPr/>
            <p:nvPr/>
          </p:nvSpPr>
          <p:spPr>
            <a:xfrm flipH="false" flipV="false" rot="0">
              <a:off x="0" y="0"/>
              <a:ext cx="3901440" cy="926592"/>
            </a:xfrm>
            <a:custGeom>
              <a:avLst/>
              <a:gdLst/>
              <a:ahLst/>
              <a:cxnLst/>
              <a:rect r="r" b="b" t="t" l="l"/>
              <a:pathLst>
                <a:path h="926592" w="3901440">
                  <a:moveTo>
                    <a:pt x="0" y="0"/>
                  </a:moveTo>
                  <a:lnTo>
                    <a:pt x="3901440" y="0"/>
                  </a:lnTo>
                  <a:lnTo>
                    <a:pt x="3901440" y="926592"/>
                  </a:lnTo>
                  <a:lnTo>
                    <a:pt x="0" y="926592"/>
                  </a:lnTo>
                  <a:close/>
                </a:path>
              </a:pathLst>
            </a:custGeom>
            <a:blipFill>
              <a:blip r:embed="rId3">
                <a:alphaModFix amt="0"/>
              </a:blip>
              <a:stretch>
                <a:fillRect l="0" t="-32042" r="0" b="-32042"/>
              </a:stretch>
            </a:blipFill>
          </p:spPr>
        </p:sp>
        <p:sp>
          <p:nvSpPr>
            <p:cNvPr name="TextBox 41" id="41"/>
            <p:cNvSpPr txBox="true"/>
            <p:nvPr/>
          </p:nvSpPr>
          <p:spPr>
            <a:xfrm>
              <a:off x="0" y="-38100"/>
              <a:ext cx="3901440" cy="964692"/>
            </a:xfrm>
            <a:prstGeom prst="rect">
              <a:avLst/>
            </a:prstGeom>
          </p:spPr>
          <p:txBody>
            <a:bodyPr anchor="ctr" rtlCol="false" tIns="0" lIns="0" bIns="0" rIns="0"/>
            <a:lstStyle/>
            <a:p>
              <a:pPr algn="l">
                <a:lnSpc>
                  <a:spcPts val="2280"/>
                </a:lnSpc>
              </a:pPr>
              <a:r>
                <a:rPr lang="en-US" sz="1900" b="true">
                  <a:solidFill>
                    <a:srgbClr val="1E2761"/>
                  </a:solidFill>
                  <a:latin typeface="Calibri (MS) Bold"/>
                  <a:ea typeface="Calibri (MS) Bold"/>
                  <a:cs typeface="Calibri (MS) Bold"/>
                  <a:sym typeface="Calibri (MS) Bold"/>
                </a:rPr>
                <a:t>omega</a:t>
              </a:r>
            </a:p>
          </p:txBody>
        </p:sp>
      </p:grpSp>
      <p:grpSp>
        <p:nvGrpSpPr>
          <p:cNvPr name="Group 42" id="42"/>
          <p:cNvGrpSpPr/>
          <p:nvPr/>
        </p:nvGrpSpPr>
        <p:grpSpPr>
          <a:xfrm rot="0">
            <a:off x="14447520" y="3328416"/>
            <a:ext cx="1828800" cy="694944"/>
            <a:chOff x="0" y="0"/>
            <a:chExt cx="2438400" cy="926592"/>
          </a:xfrm>
        </p:grpSpPr>
        <p:sp>
          <p:nvSpPr>
            <p:cNvPr name="Freeform 43" id="43"/>
            <p:cNvSpPr/>
            <p:nvPr/>
          </p:nvSpPr>
          <p:spPr>
            <a:xfrm flipH="false" flipV="false" rot="0">
              <a:off x="0" y="0"/>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FEE2E2">
                <a:alpha val="0"/>
              </a:srgbClr>
            </a:solidFill>
          </p:spPr>
        </p:sp>
        <p:sp>
          <p:nvSpPr>
            <p:cNvPr name="TextBox 44" id="44"/>
            <p:cNvSpPr txBox="true"/>
            <p:nvPr/>
          </p:nvSpPr>
          <p:spPr>
            <a:xfrm>
              <a:off x="0" y="-38100"/>
              <a:ext cx="2438400" cy="964692"/>
            </a:xfrm>
            <a:prstGeom prst="rect">
              <a:avLst/>
            </a:prstGeom>
          </p:spPr>
          <p:txBody>
            <a:bodyPr anchor="ctr" rtlCol="false" tIns="0" lIns="0" bIns="0" rIns="0"/>
            <a:lstStyle/>
            <a:p>
              <a:pPr algn="ctr">
                <a:lnSpc>
                  <a:spcPts val="2400"/>
                </a:lnSpc>
              </a:pPr>
              <a:r>
                <a:rPr lang="en-US" sz="2000" b="true">
                  <a:solidFill>
                    <a:srgbClr val="1E2761"/>
                  </a:solidFill>
                  <a:latin typeface="Calibri (MS) Bold"/>
                  <a:ea typeface="Calibri (MS) Bold"/>
                  <a:cs typeface="Calibri (MS) Bold"/>
                  <a:sym typeface="Calibri (MS) Bold"/>
                </a:rPr>
                <a:t>0.0123</a:t>
              </a:r>
            </a:p>
          </p:txBody>
        </p:sp>
      </p:grpSp>
      <p:grpSp>
        <p:nvGrpSpPr>
          <p:cNvPr name="Group 45" id="45"/>
          <p:cNvGrpSpPr/>
          <p:nvPr/>
        </p:nvGrpSpPr>
        <p:grpSpPr>
          <a:xfrm rot="0">
            <a:off x="16367760" y="3328416"/>
            <a:ext cx="1426464" cy="694944"/>
            <a:chOff x="0" y="0"/>
            <a:chExt cx="1901952" cy="926592"/>
          </a:xfrm>
        </p:grpSpPr>
        <p:sp>
          <p:nvSpPr>
            <p:cNvPr name="Freeform 46" id="46"/>
            <p:cNvSpPr/>
            <p:nvPr/>
          </p:nvSpPr>
          <p:spPr>
            <a:xfrm flipH="false" flipV="false" rot="0">
              <a:off x="0" y="0"/>
              <a:ext cx="1901952" cy="926592"/>
            </a:xfrm>
            <a:custGeom>
              <a:avLst/>
              <a:gdLst/>
              <a:ahLst/>
              <a:cxnLst/>
              <a:rect r="r" b="b" t="t" l="l"/>
              <a:pathLst>
                <a:path h="926592" w="1901952">
                  <a:moveTo>
                    <a:pt x="0" y="0"/>
                  </a:moveTo>
                  <a:lnTo>
                    <a:pt x="1901952" y="0"/>
                  </a:lnTo>
                  <a:lnTo>
                    <a:pt x="1901952" y="926592"/>
                  </a:lnTo>
                  <a:lnTo>
                    <a:pt x="0" y="926592"/>
                  </a:lnTo>
                  <a:close/>
                </a:path>
              </a:pathLst>
            </a:custGeom>
            <a:blipFill>
              <a:blip r:embed="rId3">
                <a:alphaModFix amt="0"/>
              </a:blip>
              <a:stretch>
                <a:fillRect l="-12506" t="0" r="-12506" b="0"/>
              </a:stretch>
            </a:blipFill>
          </p:spPr>
        </p:sp>
        <p:sp>
          <p:nvSpPr>
            <p:cNvPr name="TextBox 47" id="47"/>
            <p:cNvSpPr txBox="true"/>
            <p:nvPr/>
          </p:nvSpPr>
          <p:spPr>
            <a:xfrm>
              <a:off x="0" y="-38100"/>
              <a:ext cx="1901952" cy="964692"/>
            </a:xfrm>
            <a:prstGeom prst="rect">
              <a:avLst/>
            </a:prstGeom>
          </p:spPr>
          <p:txBody>
            <a:bodyPr anchor="ctr" rtlCol="false" tIns="0" lIns="0" bIns="0" rIns="0"/>
            <a:lstStyle/>
            <a:p>
              <a:pPr algn="ctr">
                <a:lnSpc>
                  <a:spcPts val="2039"/>
                </a:lnSpc>
              </a:pPr>
              <a:r>
                <a:rPr lang="en-US" sz="1700">
                  <a:solidFill>
                    <a:srgbClr val="10B981"/>
                  </a:solidFill>
                  <a:latin typeface="Calibri (MS)"/>
                  <a:ea typeface="Calibri (MS)"/>
                  <a:cs typeface="Calibri (MS)"/>
                  <a:sym typeface="Calibri (MS)"/>
                </a:rPr>
                <a:t>p=0.013</a:t>
              </a:r>
            </a:p>
          </p:txBody>
        </p:sp>
      </p:grpSp>
      <p:grpSp>
        <p:nvGrpSpPr>
          <p:cNvPr name="Group 48" id="48"/>
          <p:cNvGrpSpPr/>
          <p:nvPr/>
        </p:nvGrpSpPr>
        <p:grpSpPr>
          <a:xfrm rot="0">
            <a:off x="11234423" y="4156967"/>
            <a:ext cx="3134363" cy="720347"/>
            <a:chOff x="0" y="0"/>
            <a:chExt cx="4179151" cy="960463"/>
          </a:xfrm>
        </p:grpSpPr>
        <p:sp>
          <p:nvSpPr>
            <p:cNvPr name="Freeform 49" id="49"/>
            <p:cNvSpPr/>
            <p:nvPr/>
          </p:nvSpPr>
          <p:spPr>
            <a:xfrm flipH="false" flipV="false" rot="0">
              <a:off x="16891" y="16891"/>
              <a:ext cx="4145280" cy="926592"/>
            </a:xfrm>
            <a:custGeom>
              <a:avLst/>
              <a:gdLst/>
              <a:ahLst/>
              <a:cxnLst/>
              <a:rect r="r" b="b" t="t" l="l"/>
              <a:pathLst>
                <a:path h="926592" w="4145280">
                  <a:moveTo>
                    <a:pt x="0" y="0"/>
                  </a:moveTo>
                  <a:lnTo>
                    <a:pt x="4145280" y="0"/>
                  </a:lnTo>
                  <a:lnTo>
                    <a:pt x="4145280" y="926592"/>
                  </a:lnTo>
                  <a:lnTo>
                    <a:pt x="0" y="926592"/>
                  </a:lnTo>
                  <a:close/>
                </a:path>
              </a:pathLst>
            </a:custGeom>
            <a:solidFill>
              <a:srgbClr val="E8F0FE"/>
            </a:solidFill>
          </p:spPr>
        </p:sp>
        <p:sp>
          <p:nvSpPr>
            <p:cNvPr name="Freeform 50" id="50"/>
            <p:cNvSpPr/>
            <p:nvPr/>
          </p:nvSpPr>
          <p:spPr>
            <a:xfrm flipH="false" flipV="false" rot="0">
              <a:off x="0" y="0"/>
              <a:ext cx="4179062" cy="960376"/>
            </a:xfrm>
            <a:custGeom>
              <a:avLst/>
              <a:gdLst/>
              <a:ahLst/>
              <a:cxnLst/>
              <a:rect r="r" b="b" t="t" l="l"/>
              <a:pathLst>
                <a:path h="960376" w="4179062">
                  <a:moveTo>
                    <a:pt x="16891" y="0"/>
                  </a:moveTo>
                  <a:lnTo>
                    <a:pt x="4162171" y="0"/>
                  </a:lnTo>
                  <a:cubicBezTo>
                    <a:pt x="4171569" y="0"/>
                    <a:pt x="4179062" y="7620"/>
                    <a:pt x="4179062" y="16891"/>
                  </a:cubicBezTo>
                  <a:lnTo>
                    <a:pt x="4179062" y="943483"/>
                  </a:lnTo>
                  <a:cubicBezTo>
                    <a:pt x="4179062" y="952881"/>
                    <a:pt x="4171442" y="960374"/>
                    <a:pt x="416217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4162171" y="926592"/>
                  </a:lnTo>
                  <a:lnTo>
                    <a:pt x="4162171" y="943483"/>
                  </a:lnTo>
                  <a:lnTo>
                    <a:pt x="4145280" y="943483"/>
                  </a:lnTo>
                  <a:lnTo>
                    <a:pt x="4145280" y="16891"/>
                  </a:lnTo>
                  <a:lnTo>
                    <a:pt x="4162171" y="16891"/>
                  </a:lnTo>
                  <a:lnTo>
                    <a:pt x="4162171" y="33909"/>
                  </a:lnTo>
                  <a:lnTo>
                    <a:pt x="16891" y="33909"/>
                  </a:lnTo>
                  <a:close/>
                </a:path>
              </a:pathLst>
            </a:custGeom>
            <a:solidFill>
              <a:srgbClr val="CADCFC"/>
            </a:solidFill>
          </p:spPr>
        </p:sp>
      </p:grpSp>
      <p:grpSp>
        <p:nvGrpSpPr>
          <p:cNvPr name="Group 51" id="51"/>
          <p:cNvGrpSpPr/>
          <p:nvPr/>
        </p:nvGrpSpPr>
        <p:grpSpPr>
          <a:xfrm rot="0">
            <a:off x="14434823" y="4156967"/>
            <a:ext cx="1854203" cy="720347"/>
            <a:chOff x="0" y="0"/>
            <a:chExt cx="2472271" cy="960463"/>
          </a:xfrm>
        </p:grpSpPr>
        <p:sp>
          <p:nvSpPr>
            <p:cNvPr name="Freeform 52" id="52"/>
            <p:cNvSpPr/>
            <p:nvPr/>
          </p:nvSpPr>
          <p:spPr>
            <a:xfrm flipH="false" flipV="false" rot="0">
              <a:off x="16891" y="16891"/>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CADCFC"/>
            </a:solidFill>
          </p:spPr>
        </p:sp>
        <p:sp>
          <p:nvSpPr>
            <p:cNvPr name="Freeform 53" id="53"/>
            <p:cNvSpPr/>
            <p:nvPr/>
          </p:nvSpPr>
          <p:spPr>
            <a:xfrm flipH="false" flipV="false" rot="0">
              <a:off x="0" y="0"/>
              <a:ext cx="2472182" cy="960376"/>
            </a:xfrm>
            <a:custGeom>
              <a:avLst/>
              <a:gdLst/>
              <a:ahLst/>
              <a:cxnLst/>
              <a:rect r="r" b="b" t="t" l="l"/>
              <a:pathLst>
                <a:path h="960376" w="2472182">
                  <a:moveTo>
                    <a:pt x="16891" y="0"/>
                  </a:moveTo>
                  <a:lnTo>
                    <a:pt x="2455291" y="0"/>
                  </a:lnTo>
                  <a:cubicBezTo>
                    <a:pt x="2464689" y="0"/>
                    <a:pt x="2472182" y="7620"/>
                    <a:pt x="2472182" y="16891"/>
                  </a:cubicBezTo>
                  <a:lnTo>
                    <a:pt x="2472182" y="943483"/>
                  </a:lnTo>
                  <a:cubicBezTo>
                    <a:pt x="2472182" y="952881"/>
                    <a:pt x="2464562" y="960374"/>
                    <a:pt x="24552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455291" y="926592"/>
                  </a:lnTo>
                  <a:lnTo>
                    <a:pt x="2455291" y="943483"/>
                  </a:lnTo>
                  <a:lnTo>
                    <a:pt x="2438400" y="943483"/>
                  </a:lnTo>
                  <a:lnTo>
                    <a:pt x="2438400" y="16891"/>
                  </a:lnTo>
                  <a:lnTo>
                    <a:pt x="2455291" y="16891"/>
                  </a:lnTo>
                  <a:lnTo>
                    <a:pt x="2455291" y="33909"/>
                  </a:lnTo>
                  <a:lnTo>
                    <a:pt x="16891" y="33909"/>
                  </a:lnTo>
                  <a:close/>
                </a:path>
              </a:pathLst>
            </a:custGeom>
            <a:solidFill>
              <a:srgbClr val="CADCFC"/>
            </a:solidFill>
          </p:spPr>
        </p:sp>
      </p:grpSp>
      <p:grpSp>
        <p:nvGrpSpPr>
          <p:cNvPr name="Group 54" id="54"/>
          <p:cNvGrpSpPr/>
          <p:nvPr/>
        </p:nvGrpSpPr>
        <p:grpSpPr>
          <a:xfrm rot="0">
            <a:off x="16355063" y="4156967"/>
            <a:ext cx="1451867" cy="720347"/>
            <a:chOff x="0" y="0"/>
            <a:chExt cx="1935823" cy="960463"/>
          </a:xfrm>
        </p:grpSpPr>
        <p:sp>
          <p:nvSpPr>
            <p:cNvPr name="Freeform 55" id="55"/>
            <p:cNvSpPr/>
            <p:nvPr/>
          </p:nvSpPr>
          <p:spPr>
            <a:xfrm flipH="false" flipV="false" rot="0">
              <a:off x="16891" y="16891"/>
              <a:ext cx="1901952" cy="926592"/>
            </a:xfrm>
            <a:custGeom>
              <a:avLst/>
              <a:gdLst/>
              <a:ahLst/>
              <a:cxnLst/>
              <a:rect r="r" b="b" t="t" l="l"/>
              <a:pathLst>
                <a:path h="926592" w="1901952">
                  <a:moveTo>
                    <a:pt x="0" y="0"/>
                  </a:moveTo>
                  <a:lnTo>
                    <a:pt x="1901952" y="0"/>
                  </a:lnTo>
                  <a:lnTo>
                    <a:pt x="1901952" y="926592"/>
                  </a:lnTo>
                  <a:lnTo>
                    <a:pt x="0" y="926592"/>
                  </a:lnTo>
                  <a:close/>
                </a:path>
              </a:pathLst>
            </a:custGeom>
            <a:solidFill>
              <a:srgbClr val="D1FAE5"/>
            </a:solidFill>
          </p:spPr>
        </p:sp>
        <p:sp>
          <p:nvSpPr>
            <p:cNvPr name="Freeform 56" id="56"/>
            <p:cNvSpPr/>
            <p:nvPr/>
          </p:nvSpPr>
          <p:spPr>
            <a:xfrm flipH="false" flipV="false" rot="0">
              <a:off x="0" y="0"/>
              <a:ext cx="1935734" cy="960376"/>
            </a:xfrm>
            <a:custGeom>
              <a:avLst/>
              <a:gdLst/>
              <a:ahLst/>
              <a:cxnLst/>
              <a:rect r="r" b="b" t="t" l="l"/>
              <a:pathLst>
                <a:path h="960376" w="1935734">
                  <a:moveTo>
                    <a:pt x="16891" y="0"/>
                  </a:moveTo>
                  <a:lnTo>
                    <a:pt x="1918843" y="0"/>
                  </a:lnTo>
                  <a:cubicBezTo>
                    <a:pt x="1928241" y="0"/>
                    <a:pt x="1935734" y="7620"/>
                    <a:pt x="1935734" y="16891"/>
                  </a:cubicBezTo>
                  <a:lnTo>
                    <a:pt x="1935734" y="943483"/>
                  </a:lnTo>
                  <a:cubicBezTo>
                    <a:pt x="1935734" y="952881"/>
                    <a:pt x="1928114" y="960374"/>
                    <a:pt x="191884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918843" y="926592"/>
                  </a:lnTo>
                  <a:lnTo>
                    <a:pt x="1918843" y="943483"/>
                  </a:lnTo>
                  <a:lnTo>
                    <a:pt x="1901952" y="943483"/>
                  </a:lnTo>
                  <a:lnTo>
                    <a:pt x="1901952" y="16891"/>
                  </a:lnTo>
                  <a:lnTo>
                    <a:pt x="1918843" y="16891"/>
                  </a:lnTo>
                  <a:lnTo>
                    <a:pt x="1918843" y="33909"/>
                  </a:lnTo>
                  <a:lnTo>
                    <a:pt x="16891" y="33909"/>
                  </a:lnTo>
                  <a:close/>
                </a:path>
              </a:pathLst>
            </a:custGeom>
            <a:solidFill>
              <a:srgbClr val="CADCFC"/>
            </a:solidFill>
          </p:spPr>
        </p:sp>
      </p:grpSp>
      <p:grpSp>
        <p:nvGrpSpPr>
          <p:cNvPr name="Group 57" id="57"/>
          <p:cNvGrpSpPr/>
          <p:nvPr/>
        </p:nvGrpSpPr>
        <p:grpSpPr>
          <a:xfrm rot="0">
            <a:off x="11375136" y="4169664"/>
            <a:ext cx="2926080" cy="694944"/>
            <a:chOff x="0" y="0"/>
            <a:chExt cx="3901440" cy="926592"/>
          </a:xfrm>
        </p:grpSpPr>
        <p:sp>
          <p:nvSpPr>
            <p:cNvPr name="Freeform 58" id="58"/>
            <p:cNvSpPr/>
            <p:nvPr/>
          </p:nvSpPr>
          <p:spPr>
            <a:xfrm flipH="false" flipV="false" rot="0">
              <a:off x="0" y="0"/>
              <a:ext cx="3901440" cy="926592"/>
            </a:xfrm>
            <a:custGeom>
              <a:avLst/>
              <a:gdLst/>
              <a:ahLst/>
              <a:cxnLst/>
              <a:rect r="r" b="b" t="t" l="l"/>
              <a:pathLst>
                <a:path h="926592" w="3901440">
                  <a:moveTo>
                    <a:pt x="0" y="0"/>
                  </a:moveTo>
                  <a:lnTo>
                    <a:pt x="3901440" y="0"/>
                  </a:lnTo>
                  <a:lnTo>
                    <a:pt x="3901440" y="926592"/>
                  </a:lnTo>
                  <a:lnTo>
                    <a:pt x="0" y="926592"/>
                  </a:lnTo>
                  <a:close/>
                </a:path>
              </a:pathLst>
            </a:custGeom>
            <a:blipFill>
              <a:blip r:embed="rId3">
                <a:alphaModFix amt="0"/>
              </a:blip>
              <a:stretch>
                <a:fillRect l="0" t="-32042" r="0" b="-32042"/>
              </a:stretch>
            </a:blipFill>
          </p:spPr>
        </p:sp>
        <p:sp>
          <p:nvSpPr>
            <p:cNvPr name="TextBox 59" id="59"/>
            <p:cNvSpPr txBox="true"/>
            <p:nvPr/>
          </p:nvSpPr>
          <p:spPr>
            <a:xfrm>
              <a:off x="0" y="-38100"/>
              <a:ext cx="3901440" cy="964692"/>
            </a:xfrm>
            <a:prstGeom prst="rect">
              <a:avLst/>
            </a:prstGeom>
          </p:spPr>
          <p:txBody>
            <a:bodyPr anchor="ctr" rtlCol="false" tIns="0" lIns="0" bIns="0" rIns="0"/>
            <a:lstStyle/>
            <a:p>
              <a:pPr algn="l">
                <a:lnSpc>
                  <a:spcPts val="2280"/>
                </a:lnSpc>
              </a:pPr>
              <a:r>
                <a:rPr lang="en-US" sz="1900" b="true">
                  <a:solidFill>
                    <a:srgbClr val="1E2761"/>
                  </a:solidFill>
                  <a:latin typeface="Calibri (MS) Bold"/>
                  <a:ea typeface="Calibri (MS) Bold"/>
                  <a:cs typeface="Calibri (MS) Bold"/>
                  <a:sym typeface="Calibri (MS) Bold"/>
                </a:rPr>
                <a:t>alpha₁ (ARCH)</a:t>
              </a:r>
            </a:p>
          </p:txBody>
        </p:sp>
      </p:grpSp>
      <p:grpSp>
        <p:nvGrpSpPr>
          <p:cNvPr name="Group 60" id="60"/>
          <p:cNvGrpSpPr/>
          <p:nvPr/>
        </p:nvGrpSpPr>
        <p:grpSpPr>
          <a:xfrm rot="0">
            <a:off x="14447520" y="4169664"/>
            <a:ext cx="1828800" cy="694944"/>
            <a:chOff x="0" y="0"/>
            <a:chExt cx="2438400" cy="926592"/>
          </a:xfrm>
        </p:grpSpPr>
        <p:sp>
          <p:nvSpPr>
            <p:cNvPr name="Freeform 61" id="61"/>
            <p:cNvSpPr/>
            <p:nvPr/>
          </p:nvSpPr>
          <p:spPr>
            <a:xfrm flipH="false" flipV="false" rot="0">
              <a:off x="0" y="0"/>
              <a:ext cx="2438400" cy="926592"/>
            </a:xfrm>
            <a:custGeom>
              <a:avLst/>
              <a:gdLst/>
              <a:ahLst/>
              <a:cxnLst/>
              <a:rect r="r" b="b" t="t" l="l"/>
              <a:pathLst>
                <a:path h="926592" w="2438400">
                  <a:moveTo>
                    <a:pt x="0" y="0"/>
                  </a:moveTo>
                  <a:lnTo>
                    <a:pt x="2438400" y="0"/>
                  </a:lnTo>
                  <a:lnTo>
                    <a:pt x="2438400" y="926592"/>
                  </a:lnTo>
                  <a:lnTo>
                    <a:pt x="0" y="926592"/>
                  </a:lnTo>
                  <a:close/>
                </a:path>
              </a:pathLst>
            </a:custGeom>
            <a:blipFill>
              <a:blip r:embed="rId3">
                <a:alphaModFix amt="0"/>
              </a:blip>
              <a:stretch>
                <a:fillRect l="0" t="-1276" r="0" b="-1276"/>
              </a:stretch>
            </a:blipFill>
          </p:spPr>
        </p:sp>
        <p:sp>
          <p:nvSpPr>
            <p:cNvPr name="TextBox 62" id="62"/>
            <p:cNvSpPr txBox="true"/>
            <p:nvPr/>
          </p:nvSpPr>
          <p:spPr>
            <a:xfrm>
              <a:off x="0" y="-38100"/>
              <a:ext cx="2438400" cy="964692"/>
            </a:xfrm>
            <a:prstGeom prst="rect">
              <a:avLst/>
            </a:prstGeom>
          </p:spPr>
          <p:txBody>
            <a:bodyPr anchor="ctr" rtlCol="false" tIns="0" lIns="0" bIns="0" rIns="0"/>
            <a:lstStyle/>
            <a:p>
              <a:pPr algn="ctr">
                <a:lnSpc>
                  <a:spcPts val="2400"/>
                </a:lnSpc>
              </a:pPr>
              <a:r>
                <a:rPr lang="en-US" sz="2000" b="true">
                  <a:solidFill>
                    <a:srgbClr val="1E2761"/>
                  </a:solidFill>
                  <a:latin typeface="Calibri (MS) Bold"/>
                  <a:ea typeface="Calibri (MS) Bold"/>
                  <a:cs typeface="Calibri (MS) Bold"/>
                  <a:sym typeface="Calibri (MS) Bold"/>
                </a:rPr>
                <a:t>0.1343</a:t>
              </a:r>
            </a:p>
          </p:txBody>
        </p:sp>
      </p:grpSp>
      <p:grpSp>
        <p:nvGrpSpPr>
          <p:cNvPr name="Group 63" id="63"/>
          <p:cNvGrpSpPr/>
          <p:nvPr/>
        </p:nvGrpSpPr>
        <p:grpSpPr>
          <a:xfrm rot="0">
            <a:off x="16367760" y="4169664"/>
            <a:ext cx="1426464" cy="694944"/>
            <a:chOff x="0" y="0"/>
            <a:chExt cx="1901952" cy="926592"/>
          </a:xfrm>
        </p:grpSpPr>
        <p:sp>
          <p:nvSpPr>
            <p:cNvPr name="Freeform 64" id="64"/>
            <p:cNvSpPr/>
            <p:nvPr/>
          </p:nvSpPr>
          <p:spPr>
            <a:xfrm flipH="false" flipV="false" rot="0">
              <a:off x="0" y="0"/>
              <a:ext cx="1901952" cy="926592"/>
            </a:xfrm>
            <a:custGeom>
              <a:avLst/>
              <a:gdLst/>
              <a:ahLst/>
              <a:cxnLst/>
              <a:rect r="r" b="b" t="t" l="l"/>
              <a:pathLst>
                <a:path h="926592" w="1901952">
                  <a:moveTo>
                    <a:pt x="0" y="0"/>
                  </a:moveTo>
                  <a:lnTo>
                    <a:pt x="1901952" y="0"/>
                  </a:lnTo>
                  <a:lnTo>
                    <a:pt x="1901952" y="926592"/>
                  </a:lnTo>
                  <a:lnTo>
                    <a:pt x="0" y="926592"/>
                  </a:lnTo>
                  <a:close/>
                </a:path>
              </a:pathLst>
            </a:custGeom>
            <a:blipFill>
              <a:blip r:embed="rId3">
                <a:alphaModFix amt="0"/>
              </a:blip>
              <a:stretch>
                <a:fillRect l="-12506" t="0" r="-12506" b="0"/>
              </a:stretch>
            </a:blipFill>
          </p:spPr>
        </p:sp>
        <p:sp>
          <p:nvSpPr>
            <p:cNvPr name="TextBox 65" id="65"/>
            <p:cNvSpPr txBox="true"/>
            <p:nvPr/>
          </p:nvSpPr>
          <p:spPr>
            <a:xfrm>
              <a:off x="0" y="-38100"/>
              <a:ext cx="1901952" cy="964692"/>
            </a:xfrm>
            <a:prstGeom prst="rect">
              <a:avLst/>
            </a:prstGeom>
          </p:spPr>
          <p:txBody>
            <a:bodyPr anchor="ctr" rtlCol="false" tIns="0" lIns="0" bIns="0" rIns="0"/>
            <a:lstStyle/>
            <a:p>
              <a:pPr algn="ctr">
                <a:lnSpc>
                  <a:spcPts val="2039"/>
                </a:lnSpc>
              </a:pPr>
              <a:r>
                <a:rPr lang="en-US" sz="1700">
                  <a:solidFill>
                    <a:srgbClr val="10B981"/>
                  </a:solidFill>
                  <a:latin typeface="Calibri (MS)"/>
                  <a:ea typeface="Calibri (MS)"/>
                  <a:cs typeface="Calibri (MS)"/>
                  <a:sym typeface="Calibri (MS)"/>
                </a:rPr>
                <a:t>p=0.000</a:t>
              </a:r>
            </a:p>
          </p:txBody>
        </p:sp>
      </p:grpSp>
      <p:grpSp>
        <p:nvGrpSpPr>
          <p:cNvPr name="Group 66" id="66"/>
          <p:cNvGrpSpPr/>
          <p:nvPr/>
        </p:nvGrpSpPr>
        <p:grpSpPr>
          <a:xfrm rot="0">
            <a:off x="11234423" y="4998215"/>
            <a:ext cx="3134363" cy="720347"/>
            <a:chOff x="0" y="0"/>
            <a:chExt cx="4179151" cy="960463"/>
          </a:xfrm>
        </p:grpSpPr>
        <p:sp>
          <p:nvSpPr>
            <p:cNvPr name="Freeform 67" id="67"/>
            <p:cNvSpPr/>
            <p:nvPr/>
          </p:nvSpPr>
          <p:spPr>
            <a:xfrm flipH="false" flipV="false" rot="0">
              <a:off x="16891" y="16891"/>
              <a:ext cx="4145280" cy="926592"/>
            </a:xfrm>
            <a:custGeom>
              <a:avLst/>
              <a:gdLst/>
              <a:ahLst/>
              <a:cxnLst/>
              <a:rect r="r" b="b" t="t" l="l"/>
              <a:pathLst>
                <a:path h="926592" w="4145280">
                  <a:moveTo>
                    <a:pt x="0" y="0"/>
                  </a:moveTo>
                  <a:lnTo>
                    <a:pt x="4145280" y="0"/>
                  </a:lnTo>
                  <a:lnTo>
                    <a:pt x="4145280" y="926592"/>
                  </a:lnTo>
                  <a:lnTo>
                    <a:pt x="0" y="926592"/>
                  </a:lnTo>
                  <a:close/>
                </a:path>
              </a:pathLst>
            </a:custGeom>
            <a:solidFill>
              <a:srgbClr val="E8F0FE"/>
            </a:solidFill>
          </p:spPr>
        </p:sp>
        <p:sp>
          <p:nvSpPr>
            <p:cNvPr name="Freeform 68" id="68"/>
            <p:cNvSpPr/>
            <p:nvPr/>
          </p:nvSpPr>
          <p:spPr>
            <a:xfrm flipH="false" flipV="false" rot="0">
              <a:off x="0" y="0"/>
              <a:ext cx="4179062" cy="960376"/>
            </a:xfrm>
            <a:custGeom>
              <a:avLst/>
              <a:gdLst/>
              <a:ahLst/>
              <a:cxnLst/>
              <a:rect r="r" b="b" t="t" l="l"/>
              <a:pathLst>
                <a:path h="960376" w="4179062">
                  <a:moveTo>
                    <a:pt x="16891" y="0"/>
                  </a:moveTo>
                  <a:lnTo>
                    <a:pt x="4162171" y="0"/>
                  </a:lnTo>
                  <a:cubicBezTo>
                    <a:pt x="4171569" y="0"/>
                    <a:pt x="4179062" y="7620"/>
                    <a:pt x="4179062" y="16891"/>
                  </a:cubicBezTo>
                  <a:lnTo>
                    <a:pt x="4179062" y="943483"/>
                  </a:lnTo>
                  <a:cubicBezTo>
                    <a:pt x="4179062" y="952881"/>
                    <a:pt x="4171442" y="960374"/>
                    <a:pt x="416217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4162171" y="926592"/>
                  </a:lnTo>
                  <a:lnTo>
                    <a:pt x="4162171" y="943483"/>
                  </a:lnTo>
                  <a:lnTo>
                    <a:pt x="4145280" y="943483"/>
                  </a:lnTo>
                  <a:lnTo>
                    <a:pt x="4145280" y="16891"/>
                  </a:lnTo>
                  <a:lnTo>
                    <a:pt x="4162171" y="16891"/>
                  </a:lnTo>
                  <a:lnTo>
                    <a:pt x="4162171" y="33909"/>
                  </a:lnTo>
                  <a:lnTo>
                    <a:pt x="16891" y="33909"/>
                  </a:lnTo>
                  <a:close/>
                </a:path>
              </a:pathLst>
            </a:custGeom>
            <a:solidFill>
              <a:srgbClr val="CADCFC"/>
            </a:solidFill>
          </p:spPr>
        </p:sp>
      </p:grpSp>
      <p:grpSp>
        <p:nvGrpSpPr>
          <p:cNvPr name="Group 69" id="69"/>
          <p:cNvGrpSpPr/>
          <p:nvPr/>
        </p:nvGrpSpPr>
        <p:grpSpPr>
          <a:xfrm rot="0">
            <a:off x="14434823" y="4998215"/>
            <a:ext cx="1854203" cy="720347"/>
            <a:chOff x="0" y="0"/>
            <a:chExt cx="2472271" cy="960463"/>
          </a:xfrm>
        </p:grpSpPr>
        <p:sp>
          <p:nvSpPr>
            <p:cNvPr name="Freeform 70" id="70"/>
            <p:cNvSpPr/>
            <p:nvPr/>
          </p:nvSpPr>
          <p:spPr>
            <a:xfrm flipH="false" flipV="false" rot="0">
              <a:off x="16891" y="16891"/>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CADCFC"/>
            </a:solidFill>
          </p:spPr>
        </p:sp>
        <p:sp>
          <p:nvSpPr>
            <p:cNvPr name="Freeform 71" id="71"/>
            <p:cNvSpPr/>
            <p:nvPr/>
          </p:nvSpPr>
          <p:spPr>
            <a:xfrm flipH="false" flipV="false" rot="0">
              <a:off x="0" y="0"/>
              <a:ext cx="2472182" cy="960376"/>
            </a:xfrm>
            <a:custGeom>
              <a:avLst/>
              <a:gdLst/>
              <a:ahLst/>
              <a:cxnLst/>
              <a:rect r="r" b="b" t="t" l="l"/>
              <a:pathLst>
                <a:path h="960376" w="2472182">
                  <a:moveTo>
                    <a:pt x="16891" y="0"/>
                  </a:moveTo>
                  <a:lnTo>
                    <a:pt x="2455291" y="0"/>
                  </a:lnTo>
                  <a:cubicBezTo>
                    <a:pt x="2464689" y="0"/>
                    <a:pt x="2472182" y="7620"/>
                    <a:pt x="2472182" y="16891"/>
                  </a:cubicBezTo>
                  <a:lnTo>
                    <a:pt x="2472182" y="943483"/>
                  </a:lnTo>
                  <a:cubicBezTo>
                    <a:pt x="2472182" y="952881"/>
                    <a:pt x="2464562" y="960374"/>
                    <a:pt x="24552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455291" y="926592"/>
                  </a:lnTo>
                  <a:lnTo>
                    <a:pt x="2455291" y="943483"/>
                  </a:lnTo>
                  <a:lnTo>
                    <a:pt x="2438400" y="943483"/>
                  </a:lnTo>
                  <a:lnTo>
                    <a:pt x="2438400" y="16891"/>
                  </a:lnTo>
                  <a:lnTo>
                    <a:pt x="2455291" y="16891"/>
                  </a:lnTo>
                  <a:lnTo>
                    <a:pt x="2455291" y="33909"/>
                  </a:lnTo>
                  <a:lnTo>
                    <a:pt x="16891" y="33909"/>
                  </a:lnTo>
                  <a:close/>
                </a:path>
              </a:pathLst>
            </a:custGeom>
            <a:solidFill>
              <a:srgbClr val="CADCFC"/>
            </a:solidFill>
          </p:spPr>
        </p:sp>
      </p:grpSp>
      <p:grpSp>
        <p:nvGrpSpPr>
          <p:cNvPr name="Group 72" id="72"/>
          <p:cNvGrpSpPr/>
          <p:nvPr/>
        </p:nvGrpSpPr>
        <p:grpSpPr>
          <a:xfrm rot="0">
            <a:off x="16355063" y="4998215"/>
            <a:ext cx="1451867" cy="720347"/>
            <a:chOff x="0" y="0"/>
            <a:chExt cx="1935823" cy="960463"/>
          </a:xfrm>
        </p:grpSpPr>
        <p:sp>
          <p:nvSpPr>
            <p:cNvPr name="Freeform 73" id="73"/>
            <p:cNvSpPr/>
            <p:nvPr/>
          </p:nvSpPr>
          <p:spPr>
            <a:xfrm flipH="false" flipV="false" rot="0">
              <a:off x="16891" y="16891"/>
              <a:ext cx="1901952" cy="926592"/>
            </a:xfrm>
            <a:custGeom>
              <a:avLst/>
              <a:gdLst/>
              <a:ahLst/>
              <a:cxnLst/>
              <a:rect r="r" b="b" t="t" l="l"/>
              <a:pathLst>
                <a:path h="926592" w="1901952">
                  <a:moveTo>
                    <a:pt x="0" y="0"/>
                  </a:moveTo>
                  <a:lnTo>
                    <a:pt x="1901952" y="0"/>
                  </a:lnTo>
                  <a:lnTo>
                    <a:pt x="1901952" y="926592"/>
                  </a:lnTo>
                  <a:lnTo>
                    <a:pt x="0" y="926592"/>
                  </a:lnTo>
                  <a:close/>
                </a:path>
              </a:pathLst>
            </a:custGeom>
            <a:solidFill>
              <a:srgbClr val="D1FAE5"/>
            </a:solidFill>
          </p:spPr>
        </p:sp>
        <p:sp>
          <p:nvSpPr>
            <p:cNvPr name="Freeform 74" id="74"/>
            <p:cNvSpPr/>
            <p:nvPr/>
          </p:nvSpPr>
          <p:spPr>
            <a:xfrm flipH="false" flipV="false" rot="0">
              <a:off x="0" y="0"/>
              <a:ext cx="1935734" cy="960376"/>
            </a:xfrm>
            <a:custGeom>
              <a:avLst/>
              <a:gdLst/>
              <a:ahLst/>
              <a:cxnLst/>
              <a:rect r="r" b="b" t="t" l="l"/>
              <a:pathLst>
                <a:path h="960376" w="1935734">
                  <a:moveTo>
                    <a:pt x="16891" y="0"/>
                  </a:moveTo>
                  <a:lnTo>
                    <a:pt x="1918843" y="0"/>
                  </a:lnTo>
                  <a:cubicBezTo>
                    <a:pt x="1928241" y="0"/>
                    <a:pt x="1935734" y="7620"/>
                    <a:pt x="1935734" y="16891"/>
                  </a:cubicBezTo>
                  <a:lnTo>
                    <a:pt x="1935734" y="943483"/>
                  </a:lnTo>
                  <a:cubicBezTo>
                    <a:pt x="1935734" y="952881"/>
                    <a:pt x="1928114" y="960374"/>
                    <a:pt x="191884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918843" y="926592"/>
                  </a:lnTo>
                  <a:lnTo>
                    <a:pt x="1918843" y="943483"/>
                  </a:lnTo>
                  <a:lnTo>
                    <a:pt x="1901952" y="943483"/>
                  </a:lnTo>
                  <a:lnTo>
                    <a:pt x="1901952" y="16891"/>
                  </a:lnTo>
                  <a:lnTo>
                    <a:pt x="1918843" y="16891"/>
                  </a:lnTo>
                  <a:lnTo>
                    <a:pt x="1918843" y="33909"/>
                  </a:lnTo>
                  <a:lnTo>
                    <a:pt x="16891" y="33909"/>
                  </a:lnTo>
                  <a:close/>
                </a:path>
              </a:pathLst>
            </a:custGeom>
            <a:solidFill>
              <a:srgbClr val="CADCFC"/>
            </a:solidFill>
          </p:spPr>
        </p:sp>
      </p:grpSp>
      <p:grpSp>
        <p:nvGrpSpPr>
          <p:cNvPr name="Group 75" id="75"/>
          <p:cNvGrpSpPr/>
          <p:nvPr/>
        </p:nvGrpSpPr>
        <p:grpSpPr>
          <a:xfrm rot="0">
            <a:off x="11375136" y="5010912"/>
            <a:ext cx="2926080" cy="694944"/>
            <a:chOff x="0" y="0"/>
            <a:chExt cx="3901440" cy="926592"/>
          </a:xfrm>
        </p:grpSpPr>
        <p:sp>
          <p:nvSpPr>
            <p:cNvPr name="Freeform 76" id="76"/>
            <p:cNvSpPr/>
            <p:nvPr/>
          </p:nvSpPr>
          <p:spPr>
            <a:xfrm flipH="false" flipV="false" rot="0">
              <a:off x="0" y="0"/>
              <a:ext cx="3901440" cy="926592"/>
            </a:xfrm>
            <a:custGeom>
              <a:avLst/>
              <a:gdLst/>
              <a:ahLst/>
              <a:cxnLst/>
              <a:rect r="r" b="b" t="t" l="l"/>
              <a:pathLst>
                <a:path h="926592" w="3901440">
                  <a:moveTo>
                    <a:pt x="0" y="0"/>
                  </a:moveTo>
                  <a:lnTo>
                    <a:pt x="3901440" y="0"/>
                  </a:lnTo>
                  <a:lnTo>
                    <a:pt x="3901440" y="926592"/>
                  </a:lnTo>
                  <a:lnTo>
                    <a:pt x="0" y="926592"/>
                  </a:lnTo>
                  <a:close/>
                </a:path>
              </a:pathLst>
            </a:custGeom>
            <a:blipFill>
              <a:blip r:embed="rId3">
                <a:alphaModFix amt="0"/>
              </a:blip>
              <a:stretch>
                <a:fillRect l="0" t="-32042" r="0" b="-32042"/>
              </a:stretch>
            </a:blipFill>
          </p:spPr>
        </p:sp>
        <p:sp>
          <p:nvSpPr>
            <p:cNvPr name="TextBox 77" id="77"/>
            <p:cNvSpPr txBox="true"/>
            <p:nvPr/>
          </p:nvSpPr>
          <p:spPr>
            <a:xfrm>
              <a:off x="0" y="-38100"/>
              <a:ext cx="3901440" cy="964692"/>
            </a:xfrm>
            <a:prstGeom prst="rect">
              <a:avLst/>
            </a:prstGeom>
          </p:spPr>
          <p:txBody>
            <a:bodyPr anchor="ctr" rtlCol="false" tIns="0" lIns="0" bIns="0" rIns="0"/>
            <a:lstStyle/>
            <a:p>
              <a:pPr algn="l">
                <a:lnSpc>
                  <a:spcPts val="2280"/>
                </a:lnSpc>
              </a:pPr>
              <a:r>
                <a:rPr lang="en-US" sz="1900" b="true">
                  <a:solidFill>
                    <a:srgbClr val="1E2761"/>
                  </a:solidFill>
                  <a:latin typeface="Calibri (MS) Bold"/>
                  <a:ea typeface="Calibri (MS) Bold"/>
                  <a:cs typeface="Calibri (MS) Bold"/>
                  <a:sym typeface="Calibri (MS) Bold"/>
                </a:rPr>
                <a:t>beta₁ (GARCH)</a:t>
              </a:r>
            </a:p>
          </p:txBody>
        </p:sp>
      </p:grpSp>
      <p:grpSp>
        <p:nvGrpSpPr>
          <p:cNvPr name="Group 78" id="78"/>
          <p:cNvGrpSpPr/>
          <p:nvPr/>
        </p:nvGrpSpPr>
        <p:grpSpPr>
          <a:xfrm rot="0">
            <a:off x="14447520" y="5010912"/>
            <a:ext cx="1828800" cy="694944"/>
            <a:chOff x="0" y="0"/>
            <a:chExt cx="2438400" cy="926592"/>
          </a:xfrm>
        </p:grpSpPr>
        <p:sp>
          <p:nvSpPr>
            <p:cNvPr name="Freeform 79" id="79"/>
            <p:cNvSpPr/>
            <p:nvPr/>
          </p:nvSpPr>
          <p:spPr>
            <a:xfrm flipH="false" flipV="false" rot="0">
              <a:off x="0" y="0"/>
              <a:ext cx="2438400" cy="926592"/>
            </a:xfrm>
            <a:custGeom>
              <a:avLst/>
              <a:gdLst/>
              <a:ahLst/>
              <a:cxnLst/>
              <a:rect r="r" b="b" t="t" l="l"/>
              <a:pathLst>
                <a:path h="926592" w="2438400">
                  <a:moveTo>
                    <a:pt x="0" y="0"/>
                  </a:moveTo>
                  <a:lnTo>
                    <a:pt x="2438400" y="0"/>
                  </a:lnTo>
                  <a:lnTo>
                    <a:pt x="2438400" y="926592"/>
                  </a:lnTo>
                  <a:lnTo>
                    <a:pt x="0" y="926592"/>
                  </a:lnTo>
                  <a:close/>
                </a:path>
              </a:pathLst>
            </a:custGeom>
            <a:blipFill>
              <a:blip r:embed="rId3">
                <a:alphaModFix amt="0"/>
              </a:blip>
              <a:stretch>
                <a:fillRect l="0" t="-1276" r="0" b="-1276"/>
              </a:stretch>
            </a:blipFill>
          </p:spPr>
        </p:sp>
        <p:sp>
          <p:nvSpPr>
            <p:cNvPr name="TextBox 80" id="80"/>
            <p:cNvSpPr txBox="true"/>
            <p:nvPr/>
          </p:nvSpPr>
          <p:spPr>
            <a:xfrm>
              <a:off x="0" y="-38100"/>
              <a:ext cx="2438400" cy="964692"/>
            </a:xfrm>
            <a:prstGeom prst="rect">
              <a:avLst/>
            </a:prstGeom>
          </p:spPr>
          <p:txBody>
            <a:bodyPr anchor="ctr" rtlCol="false" tIns="0" lIns="0" bIns="0" rIns="0"/>
            <a:lstStyle/>
            <a:p>
              <a:pPr algn="ctr">
                <a:lnSpc>
                  <a:spcPts val="2400"/>
                </a:lnSpc>
              </a:pPr>
              <a:r>
                <a:rPr lang="en-US" sz="2000" b="true">
                  <a:solidFill>
                    <a:srgbClr val="1E2761"/>
                  </a:solidFill>
                  <a:latin typeface="Calibri (MS) Bold"/>
                  <a:ea typeface="Calibri (MS) Bold"/>
                  <a:cs typeface="Calibri (MS) Bold"/>
                  <a:sym typeface="Calibri (MS) Bold"/>
                </a:rPr>
                <a:t>0.8657</a:t>
              </a:r>
            </a:p>
          </p:txBody>
        </p:sp>
      </p:grpSp>
      <p:grpSp>
        <p:nvGrpSpPr>
          <p:cNvPr name="Group 81" id="81"/>
          <p:cNvGrpSpPr/>
          <p:nvPr/>
        </p:nvGrpSpPr>
        <p:grpSpPr>
          <a:xfrm rot="0">
            <a:off x="16367760" y="5010912"/>
            <a:ext cx="1426464" cy="694944"/>
            <a:chOff x="0" y="0"/>
            <a:chExt cx="1901952" cy="926592"/>
          </a:xfrm>
        </p:grpSpPr>
        <p:sp>
          <p:nvSpPr>
            <p:cNvPr name="Freeform 82" id="82"/>
            <p:cNvSpPr/>
            <p:nvPr/>
          </p:nvSpPr>
          <p:spPr>
            <a:xfrm flipH="false" flipV="false" rot="0">
              <a:off x="0" y="0"/>
              <a:ext cx="1901952" cy="926592"/>
            </a:xfrm>
            <a:custGeom>
              <a:avLst/>
              <a:gdLst/>
              <a:ahLst/>
              <a:cxnLst/>
              <a:rect r="r" b="b" t="t" l="l"/>
              <a:pathLst>
                <a:path h="926592" w="1901952">
                  <a:moveTo>
                    <a:pt x="0" y="0"/>
                  </a:moveTo>
                  <a:lnTo>
                    <a:pt x="1901952" y="0"/>
                  </a:lnTo>
                  <a:lnTo>
                    <a:pt x="1901952" y="926592"/>
                  </a:lnTo>
                  <a:lnTo>
                    <a:pt x="0" y="926592"/>
                  </a:lnTo>
                  <a:close/>
                </a:path>
              </a:pathLst>
            </a:custGeom>
            <a:blipFill>
              <a:blip r:embed="rId3">
                <a:alphaModFix amt="0"/>
              </a:blip>
              <a:stretch>
                <a:fillRect l="-12506" t="0" r="-12506" b="0"/>
              </a:stretch>
            </a:blipFill>
          </p:spPr>
        </p:sp>
        <p:sp>
          <p:nvSpPr>
            <p:cNvPr name="TextBox 83" id="83"/>
            <p:cNvSpPr txBox="true"/>
            <p:nvPr/>
          </p:nvSpPr>
          <p:spPr>
            <a:xfrm>
              <a:off x="0" y="-38100"/>
              <a:ext cx="1901952" cy="964692"/>
            </a:xfrm>
            <a:prstGeom prst="rect">
              <a:avLst/>
            </a:prstGeom>
          </p:spPr>
          <p:txBody>
            <a:bodyPr anchor="ctr" rtlCol="false" tIns="0" lIns="0" bIns="0" rIns="0"/>
            <a:lstStyle/>
            <a:p>
              <a:pPr algn="ctr">
                <a:lnSpc>
                  <a:spcPts val="2039"/>
                </a:lnSpc>
              </a:pPr>
              <a:r>
                <a:rPr lang="en-US" sz="1700">
                  <a:solidFill>
                    <a:srgbClr val="10B981"/>
                  </a:solidFill>
                  <a:latin typeface="Calibri (MS)"/>
                  <a:ea typeface="Calibri (MS)"/>
                  <a:cs typeface="Calibri (MS)"/>
                  <a:sym typeface="Calibri (MS)"/>
                </a:rPr>
                <a:t>p=0.000</a:t>
              </a:r>
            </a:p>
          </p:txBody>
        </p:sp>
      </p:grpSp>
      <p:grpSp>
        <p:nvGrpSpPr>
          <p:cNvPr name="Group 84" id="84"/>
          <p:cNvGrpSpPr/>
          <p:nvPr/>
        </p:nvGrpSpPr>
        <p:grpSpPr>
          <a:xfrm rot="0">
            <a:off x="11234423" y="5839463"/>
            <a:ext cx="3134363" cy="720347"/>
            <a:chOff x="0" y="0"/>
            <a:chExt cx="4179151" cy="960463"/>
          </a:xfrm>
        </p:grpSpPr>
        <p:sp>
          <p:nvSpPr>
            <p:cNvPr name="Freeform 85" id="85"/>
            <p:cNvSpPr/>
            <p:nvPr/>
          </p:nvSpPr>
          <p:spPr>
            <a:xfrm flipH="false" flipV="false" rot="0">
              <a:off x="16891" y="16891"/>
              <a:ext cx="4145280" cy="926592"/>
            </a:xfrm>
            <a:custGeom>
              <a:avLst/>
              <a:gdLst/>
              <a:ahLst/>
              <a:cxnLst/>
              <a:rect r="r" b="b" t="t" l="l"/>
              <a:pathLst>
                <a:path h="926592" w="4145280">
                  <a:moveTo>
                    <a:pt x="0" y="0"/>
                  </a:moveTo>
                  <a:lnTo>
                    <a:pt x="4145280" y="0"/>
                  </a:lnTo>
                  <a:lnTo>
                    <a:pt x="4145280" y="926592"/>
                  </a:lnTo>
                  <a:lnTo>
                    <a:pt x="0" y="926592"/>
                  </a:lnTo>
                  <a:close/>
                </a:path>
              </a:pathLst>
            </a:custGeom>
            <a:solidFill>
              <a:srgbClr val="E8F0FE"/>
            </a:solidFill>
          </p:spPr>
        </p:sp>
        <p:sp>
          <p:nvSpPr>
            <p:cNvPr name="Freeform 86" id="86"/>
            <p:cNvSpPr/>
            <p:nvPr/>
          </p:nvSpPr>
          <p:spPr>
            <a:xfrm flipH="false" flipV="false" rot="0">
              <a:off x="0" y="0"/>
              <a:ext cx="4179062" cy="960376"/>
            </a:xfrm>
            <a:custGeom>
              <a:avLst/>
              <a:gdLst/>
              <a:ahLst/>
              <a:cxnLst/>
              <a:rect r="r" b="b" t="t" l="l"/>
              <a:pathLst>
                <a:path h="960376" w="4179062">
                  <a:moveTo>
                    <a:pt x="16891" y="0"/>
                  </a:moveTo>
                  <a:lnTo>
                    <a:pt x="4162171" y="0"/>
                  </a:lnTo>
                  <a:cubicBezTo>
                    <a:pt x="4171569" y="0"/>
                    <a:pt x="4179062" y="7620"/>
                    <a:pt x="4179062" y="16891"/>
                  </a:cubicBezTo>
                  <a:lnTo>
                    <a:pt x="4179062" y="943483"/>
                  </a:lnTo>
                  <a:cubicBezTo>
                    <a:pt x="4179062" y="952881"/>
                    <a:pt x="4171442" y="960374"/>
                    <a:pt x="416217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4162171" y="926592"/>
                  </a:lnTo>
                  <a:lnTo>
                    <a:pt x="4162171" y="943483"/>
                  </a:lnTo>
                  <a:lnTo>
                    <a:pt x="4145280" y="943483"/>
                  </a:lnTo>
                  <a:lnTo>
                    <a:pt x="4145280" y="16891"/>
                  </a:lnTo>
                  <a:lnTo>
                    <a:pt x="4162171" y="16891"/>
                  </a:lnTo>
                  <a:lnTo>
                    <a:pt x="4162171" y="33909"/>
                  </a:lnTo>
                  <a:lnTo>
                    <a:pt x="16891" y="33909"/>
                  </a:lnTo>
                  <a:close/>
                </a:path>
              </a:pathLst>
            </a:custGeom>
            <a:solidFill>
              <a:srgbClr val="CADCFC"/>
            </a:solidFill>
          </p:spPr>
        </p:sp>
      </p:grpSp>
      <p:grpSp>
        <p:nvGrpSpPr>
          <p:cNvPr name="Group 87" id="87"/>
          <p:cNvGrpSpPr/>
          <p:nvPr/>
        </p:nvGrpSpPr>
        <p:grpSpPr>
          <a:xfrm rot="0">
            <a:off x="14434823" y="5839463"/>
            <a:ext cx="1854203" cy="720347"/>
            <a:chOff x="0" y="0"/>
            <a:chExt cx="2472271" cy="960463"/>
          </a:xfrm>
        </p:grpSpPr>
        <p:sp>
          <p:nvSpPr>
            <p:cNvPr name="Freeform 88" id="88"/>
            <p:cNvSpPr/>
            <p:nvPr/>
          </p:nvSpPr>
          <p:spPr>
            <a:xfrm flipH="false" flipV="false" rot="0">
              <a:off x="16891" y="16891"/>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CADCFC"/>
            </a:solidFill>
          </p:spPr>
        </p:sp>
        <p:sp>
          <p:nvSpPr>
            <p:cNvPr name="Freeform 89" id="89"/>
            <p:cNvSpPr/>
            <p:nvPr/>
          </p:nvSpPr>
          <p:spPr>
            <a:xfrm flipH="false" flipV="false" rot="0">
              <a:off x="0" y="0"/>
              <a:ext cx="2472182" cy="960376"/>
            </a:xfrm>
            <a:custGeom>
              <a:avLst/>
              <a:gdLst/>
              <a:ahLst/>
              <a:cxnLst/>
              <a:rect r="r" b="b" t="t" l="l"/>
              <a:pathLst>
                <a:path h="960376" w="2472182">
                  <a:moveTo>
                    <a:pt x="16891" y="0"/>
                  </a:moveTo>
                  <a:lnTo>
                    <a:pt x="2455291" y="0"/>
                  </a:lnTo>
                  <a:cubicBezTo>
                    <a:pt x="2464689" y="0"/>
                    <a:pt x="2472182" y="7620"/>
                    <a:pt x="2472182" y="16891"/>
                  </a:cubicBezTo>
                  <a:lnTo>
                    <a:pt x="2472182" y="943483"/>
                  </a:lnTo>
                  <a:cubicBezTo>
                    <a:pt x="2472182" y="952881"/>
                    <a:pt x="2464562" y="960374"/>
                    <a:pt x="24552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455291" y="926592"/>
                  </a:lnTo>
                  <a:lnTo>
                    <a:pt x="2455291" y="943483"/>
                  </a:lnTo>
                  <a:lnTo>
                    <a:pt x="2438400" y="943483"/>
                  </a:lnTo>
                  <a:lnTo>
                    <a:pt x="2438400" y="16891"/>
                  </a:lnTo>
                  <a:lnTo>
                    <a:pt x="2455291" y="16891"/>
                  </a:lnTo>
                  <a:lnTo>
                    <a:pt x="2455291" y="33909"/>
                  </a:lnTo>
                  <a:lnTo>
                    <a:pt x="16891" y="33909"/>
                  </a:lnTo>
                  <a:close/>
                </a:path>
              </a:pathLst>
            </a:custGeom>
            <a:solidFill>
              <a:srgbClr val="CADCFC"/>
            </a:solidFill>
          </p:spPr>
        </p:sp>
      </p:grpSp>
      <p:grpSp>
        <p:nvGrpSpPr>
          <p:cNvPr name="Group 90" id="90"/>
          <p:cNvGrpSpPr/>
          <p:nvPr/>
        </p:nvGrpSpPr>
        <p:grpSpPr>
          <a:xfrm rot="0">
            <a:off x="16355063" y="5839463"/>
            <a:ext cx="1451867" cy="720347"/>
            <a:chOff x="0" y="0"/>
            <a:chExt cx="1935823" cy="960463"/>
          </a:xfrm>
        </p:grpSpPr>
        <p:sp>
          <p:nvSpPr>
            <p:cNvPr name="Freeform 91" id="91"/>
            <p:cNvSpPr/>
            <p:nvPr/>
          </p:nvSpPr>
          <p:spPr>
            <a:xfrm flipH="false" flipV="false" rot="0">
              <a:off x="16891" y="16891"/>
              <a:ext cx="1901952" cy="926592"/>
            </a:xfrm>
            <a:custGeom>
              <a:avLst/>
              <a:gdLst/>
              <a:ahLst/>
              <a:cxnLst/>
              <a:rect r="r" b="b" t="t" l="l"/>
              <a:pathLst>
                <a:path h="926592" w="1901952">
                  <a:moveTo>
                    <a:pt x="0" y="0"/>
                  </a:moveTo>
                  <a:lnTo>
                    <a:pt x="1901952" y="0"/>
                  </a:lnTo>
                  <a:lnTo>
                    <a:pt x="1901952" y="926592"/>
                  </a:lnTo>
                  <a:lnTo>
                    <a:pt x="0" y="926592"/>
                  </a:lnTo>
                  <a:close/>
                </a:path>
              </a:pathLst>
            </a:custGeom>
            <a:solidFill>
              <a:srgbClr val="D1FAE5"/>
            </a:solidFill>
          </p:spPr>
        </p:sp>
        <p:sp>
          <p:nvSpPr>
            <p:cNvPr name="Freeform 92" id="92"/>
            <p:cNvSpPr/>
            <p:nvPr/>
          </p:nvSpPr>
          <p:spPr>
            <a:xfrm flipH="false" flipV="false" rot="0">
              <a:off x="0" y="0"/>
              <a:ext cx="1935734" cy="960376"/>
            </a:xfrm>
            <a:custGeom>
              <a:avLst/>
              <a:gdLst/>
              <a:ahLst/>
              <a:cxnLst/>
              <a:rect r="r" b="b" t="t" l="l"/>
              <a:pathLst>
                <a:path h="960376" w="1935734">
                  <a:moveTo>
                    <a:pt x="16891" y="0"/>
                  </a:moveTo>
                  <a:lnTo>
                    <a:pt x="1918843" y="0"/>
                  </a:lnTo>
                  <a:cubicBezTo>
                    <a:pt x="1928241" y="0"/>
                    <a:pt x="1935734" y="7620"/>
                    <a:pt x="1935734" y="16891"/>
                  </a:cubicBezTo>
                  <a:lnTo>
                    <a:pt x="1935734" y="943483"/>
                  </a:lnTo>
                  <a:cubicBezTo>
                    <a:pt x="1935734" y="952881"/>
                    <a:pt x="1928114" y="960374"/>
                    <a:pt x="191884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918843" y="926592"/>
                  </a:lnTo>
                  <a:lnTo>
                    <a:pt x="1918843" y="943483"/>
                  </a:lnTo>
                  <a:lnTo>
                    <a:pt x="1901952" y="943483"/>
                  </a:lnTo>
                  <a:lnTo>
                    <a:pt x="1901952" y="16891"/>
                  </a:lnTo>
                  <a:lnTo>
                    <a:pt x="1918843" y="16891"/>
                  </a:lnTo>
                  <a:lnTo>
                    <a:pt x="1918843" y="33909"/>
                  </a:lnTo>
                  <a:lnTo>
                    <a:pt x="16891" y="33909"/>
                  </a:lnTo>
                  <a:close/>
                </a:path>
              </a:pathLst>
            </a:custGeom>
            <a:solidFill>
              <a:srgbClr val="CADCFC"/>
            </a:solidFill>
          </p:spPr>
        </p:sp>
      </p:grpSp>
      <p:grpSp>
        <p:nvGrpSpPr>
          <p:cNvPr name="Group 93" id="93"/>
          <p:cNvGrpSpPr/>
          <p:nvPr/>
        </p:nvGrpSpPr>
        <p:grpSpPr>
          <a:xfrm rot="0">
            <a:off x="11375136" y="5852160"/>
            <a:ext cx="2926080" cy="694944"/>
            <a:chOff x="0" y="0"/>
            <a:chExt cx="3901440" cy="926592"/>
          </a:xfrm>
        </p:grpSpPr>
        <p:sp>
          <p:nvSpPr>
            <p:cNvPr name="Freeform 94" id="94"/>
            <p:cNvSpPr/>
            <p:nvPr/>
          </p:nvSpPr>
          <p:spPr>
            <a:xfrm flipH="false" flipV="false" rot="0">
              <a:off x="0" y="0"/>
              <a:ext cx="3901440" cy="926592"/>
            </a:xfrm>
            <a:custGeom>
              <a:avLst/>
              <a:gdLst/>
              <a:ahLst/>
              <a:cxnLst/>
              <a:rect r="r" b="b" t="t" l="l"/>
              <a:pathLst>
                <a:path h="926592" w="3901440">
                  <a:moveTo>
                    <a:pt x="0" y="0"/>
                  </a:moveTo>
                  <a:lnTo>
                    <a:pt x="3901440" y="0"/>
                  </a:lnTo>
                  <a:lnTo>
                    <a:pt x="3901440" y="926592"/>
                  </a:lnTo>
                  <a:lnTo>
                    <a:pt x="0" y="926592"/>
                  </a:lnTo>
                  <a:close/>
                </a:path>
              </a:pathLst>
            </a:custGeom>
            <a:blipFill>
              <a:blip r:embed="rId3">
                <a:alphaModFix amt="0"/>
              </a:blip>
              <a:stretch>
                <a:fillRect l="0" t="-32042" r="0" b="-32042"/>
              </a:stretch>
            </a:blipFill>
          </p:spPr>
        </p:sp>
        <p:sp>
          <p:nvSpPr>
            <p:cNvPr name="TextBox 95" id="95"/>
            <p:cNvSpPr txBox="true"/>
            <p:nvPr/>
          </p:nvSpPr>
          <p:spPr>
            <a:xfrm>
              <a:off x="0" y="-38100"/>
              <a:ext cx="3901440" cy="964692"/>
            </a:xfrm>
            <a:prstGeom prst="rect">
              <a:avLst/>
            </a:prstGeom>
          </p:spPr>
          <p:txBody>
            <a:bodyPr anchor="ctr" rtlCol="false" tIns="0" lIns="0" bIns="0" rIns="0"/>
            <a:lstStyle/>
            <a:p>
              <a:pPr algn="l">
                <a:lnSpc>
                  <a:spcPts val="2280"/>
                </a:lnSpc>
              </a:pPr>
              <a:r>
                <a:rPr lang="en-US" sz="1900" b="true">
                  <a:solidFill>
                    <a:srgbClr val="1E2761"/>
                  </a:solidFill>
                  <a:latin typeface="Calibri (MS) Bold"/>
                  <a:ea typeface="Calibri (MS) Bold"/>
                  <a:cs typeface="Calibri (MS) Bold"/>
                  <a:sym typeface="Calibri (MS) Bold"/>
                </a:rPr>
                <a:t>ν (d.o.f.)</a:t>
              </a:r>
            </a:p>
          </p:txBody>
        </p:sp>
      </p:grpSp>
      <p:grpSp>
        <p:nvGrpSpPr>
          <p:cNvPr name="Group 96" id="96"/>
          <p:cNvGrpSpPr/>
          <p:nvPr/>
        </p:nvGrpSpPr>
        <p:grpSpPr>
          <a:xfrm rot="0">
            <a:off x="14447520" y="5852160"/>
            <a:ext cx="1828800" cy="694944"/>
            <a:chOff x="0" y="0"/>
            <a:chExt cx="2438400" cy="926592"/>
          </a:xfrm>
        </p:grpSpPr>
        <p:sp>
          <p:nvSpPr>
            <p:cNvPr name="Freeform 97" id="97"/>
            <p:cNvSpPr/>
            <p:nvPr/>
          </p:nvSpPr>
          <p:spPr>
            <a:xfrm flipH="false" flipV="false" rot="0">
              <a:off x="0" y="0"/>
              <a:ext cx="2438400" cy="926592"/>
            </a:xfrm>
            <a:custGeom>
              <a:avLst/>
              <a:gdLst/>
              <a:ahLst/>
              <a:cxnLst/>
              <a:rect r="r" b="b" t="t" l="l"/>
              <a:pathLst>
                <a:path h="926592" w="2438400">
                  <a:moveTo>
                    <a:pt x="0" y="0"/>
                  </a:moveTo>
                  <a:lnTo>
                    <a:pt x="2438400" y="0"/>
                  </a:lnTo>
                  <a:lnTo>
                    <a:pt x="2438400" y="926592"/>
                  </a:lnTo>
                  <a:lnTo>
                    <a:pt x="0" y="926592"/>
                  </a:lnTo>
                  <a:close/>
                </a:path>
              </a:pathLst>
            </a:custGeom>
            <a:blipFill>
              <a:blip r:embed="rId3">
                <a:alphaModFix amt="0"/>
              </a:blip>
              <a:stretch>
                <a:fillRect l="0" t="-1276" r="0" b="-1276"/>
              </a:stretch>
            </a:blipFill>
          </p:spPr>
        </p:sp>
        <p:sp>
          <p:nvSpPr>
            <p:cNvPr name="TextBox 98" id="98"/>
            <p:cNvSpPr txBox="true"/>
            <p:nvPr/>
          </p:nvSpPr>
          <p:spPr>
            <a:xfrm>
              <a:off x="0" y="-38100"/>
              <a:ext cx="2438400" cy="964692"/>
            </a:xfrm>
            <a:prstGeom prst="rect">
              <a:avLst/>
            </a:prstGeom>
          </p:spPr>
          <p:txBody>
            <a:bodyPr anchor="ctr" rtlCol="false" tIns="0" lIns="0" bIns="0" rIns="0"/>
            <a:lstStyle/>
            <a:p>
              <a:pPr algn="ctr">
                <a:lnSpc>
                  <a:spcPts val="2400"/>
                </a:lnSpc>
              </a:pPr>
              <a:r>
                <a:rPr lang="en-US" sz="2000" b="true">
                  <a:solidFill>
                    <a:srgbClr val="1E2761"/>
                  </a:solidFill>
                  <a:latin typeface="Calibri (MS) Bold"/>
                  <a:ea typeface="Calibri (MS) Bold"/>
                  <a:cs typeface="Calibri (MS) Bold"/>
                  <a:sym typeface="Calibri (MS) Bold"/>
                </a:rPr>
                <a:t>5.066</a:t>
              </a:r>
            </a:p>
          </p:txBody>
        </p:sp>
      </p:grpSp>
      <p:grpSp>
        <p:nvGrpSpPr>
          <p:cNvPr name="Group 99" id="99"/>
          <p:cNvGrpSpPr/>
          <p:nvPr/>
        </p:nvGrpSpPr>
        <p:grpSpPr>
          <a:xfrm rot="0">
            <a:off x="16367760" y="5852160"/>
            <a:ext cx="1426464" cy="694944"/>
            <a:chOff x="0" y="0"/>
            <a:chExt cx="1901952" cy="926592"/>
          </a:xfrm>
        </p:grpSpPr>
        <p:sp>
          <p:nvSpPr>
            <p:cNvPr name="Freeform 100" id="100"/>
            <p:cNvSpPr/>
            <p:nvPr/>
          </p:nvSpPr>
          <p:spPr>
            <a:xfrm flipH="false" flipV="false" rot="0">
              <a:off x="0" y="0"/>
              <a:ext cx="1901952" cy="926592"/>
            </a:xfrm>
            <a:custGeom>
              <a:avLst/>
              <a:gdLst/>
              <a:ahLst/>
              <a:cxnLst/>
              <a:rect r="r" b="b" t="t" l="l"/>
              <a:pathLst>
                <a:path h="926592" w="1901952">
                  <a:moveTo>
                    <a:pt x="0" y="0"/>
                  </a:moveTo>
                  <a:lnTo>
                    <a:pt x="1901952" y="0"/>
                  </a:lnTo>
                  <a:lnTo>
                    <a:pt x="1901952" y="926592"/>
                  </a:lnTo>
                  <a:lnTo>
                    <a:pt x="0" y="926592"/>
                  </a:lnTo>
                  <a:close/>
                </a:path>
              </a:pathLst>
            </a:custGeom>
            <a:blipFill>
              <a:blip r:embed="rId3">
                <a:alphaModFix amt="0"/>
              </a:blip>
              <a:stretch>
                <a:fillRect l="-12506" t="0" r="-12506" b="0"/>
              </a:stretch>
            </a:blipFill>
          </p:spPr>
        </p:sp>
        <p:sp>
          <p:nvSpPr>
            <p:cNvPr name="TextBox 101" id="101"/>
            <p:cNvSpPr txBox="true"/>
            <p:nvPr/>
          </p:nvSpPr>
          <p:spPr>
            <a:xfrm>
              <a:off x="0" y="-38100"/>
              <a:ext cx="1901952" cy="964692"/>
            </a:xfrm>
            <a:prstGeom prst="rect">
              <a:avLst/>
            </a:prstGeom>
          </p:spPr>
          <p:txBody>
            <a:bodyPr anchor="ctr" rtlCol="false" tIns="0" lIns="0" bIns="0" rIns="0"/>
            <a:lstStyle/>
            <a:p>
              <a:pPr algn="ctr">
                <a:lnSpc>
                  <a:spcPts val="2039"/>
                </a:lnSpc>
              </a:pPr>
              <a:r>
                <a:rPr lang="en-US" sz="1700">
                  <a:solidFill>
                    <a:srgbClr val="10B981"/>
                  </a:solidFill>
                  <a:latin typeface="Calibri (MS)"/>
                  <a:ea typeface="Calibri (MS)"/>
                  <a:cs typeface="Calibri (MS)"/>
                  <a:sym typeface="Calibri (MS)"/>
                </a:rPr>
                <a:t>p=0.000</a:t>
              </a:r>
            </a:p>
          </p:txBody>
        </p:sp>
      </p:grpSp>
      <p:grpSp>
        <p:nvGrpSpPr>
          <p:cNvPr name="Group 102" id="102"/>
          <p:cNvGrpSpPr/>
          <p:nvPr/>
        </p:nvGrpSpPr>
        <p:grpSpPr>
          <a:xfrm rot="0">
            <a:off x="11234423" y="6717287"/>
            <a:ext cx="6572507" cy="1086107"/>
            <a:chOff x="0" y="0"/>
            <a:chExt cx="8763343" cy="1448143"/>
          </a:xfrm>
        </p:grpSpPr>
        <p:sp>
          <p:nvSpPr>
            <p:cNvPr name="Freeform 103" id="103"/>
            <p:cNvSpPr/>
            <p:nvPr/>
          </p:nvSpPr>
          <p:spPr>
            <a:xfrm flipH="false" flipV="false" rot="0">
              <a:off x="16891" y="16891"/>
              <a:ext cx="8729472" cy="1414272"/>
            </a:xfrm>
            <a:custGeom>
              <a:avLst/>
              <a:gdLst/>
              <a:ahLst/>
              <a:cxnLst/>
              <a:rect r="r" b="b" t="t" l="l"/>
              <a:pathLst>
                <a:path h="1414272" w="8729472">
                  <a:moveTo>
                    <a:pt x="0" y="0"/>
                  </a:moveTo>
                  <a:lnTo>
                    <a:pt x="8729472" y="0"/>
                  </a:lnTo>
                  <a:lnTo>
                    <a:pt x="8729472" y="1414272"/>
                  </a:lnTo>
                  <a:lnTo>
                    <a:pt x="0" y="1414272"/>
                  </a:lnTo>
                  <a:close/>
                </a:path>
              </a:pathLst>
            </a:custGeom>
            <a:solidFill>
              <a:srgbClr val="1E2761"/>
            </a:solidFill>
          </p:spPr>
        </p:sp>
        <p:sp>
          <p:nvSpPr>
            <p:cNvPr name="Freeform 104" id="104"/>
            <p:cNvSpPr/>
            <p:nvPr/>
          </p:nvSpPr>
          <p:spPr>
            <a:xfrm flipH="false" flipV="false" rot="0">
              <a:off x="0" y="0"/>
              <a:ext cx="8763254" cy="1448054"/>
            </a:xfrm>
            <a:custGeom>
              <a:avLst/>
              <a:gdLst/>
              <a:ahLst/>
              <a:cxnLst/>
              <a:rect r="r" b="b" t="t" l="l"/>
              <a:pathLst>
                <a:path h="1448054" w="8763254">
                  <a:moveTo>
                    <a:pt x="16891" y="0"/>
                  </a:moveTo>
                  <a:lnTo>
                    <a:pt x="8746363" y="0"/>
                  </a:lnTo>
                  <a:cubicBezTo>
                    <a:pt x="8755761" y="0"/>
                    <a:pt x="8763254" y="7620"/>
                    <a:pt x="8763254" y="16891"/>
                  </a:cubicBezTo>
                  <a:lnTo>
                    <a:pt x="8763254" y="1431163"/>
                  </a:lnTo>
                  <a:cubicBezTo>
                    <a:pt x="8763254" y="1440561"/>
                    <a:pt x="8755634" y="1448054"/>
                    <a:pt x="8746363"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8746363" y="1414272"/>
                  </a:lnTo>
                  <a:lnTo>
                    <a:pt x="8746363" y="1431163"/>
                  </a:lnTo>
                  <a:lnTo>
                    <a:pt x="8729472" y="1431163"/>
                  </a:lnTo>
                  <a:lnTo>
                    <a:pt x="8729472" y="16891"/>
                  </a:lnTo>
                  <a:lnTo>
                    <a:pt x="8746363" y="16891"/>
                  </a:lnTo>
                  <a:lnTo>
                    <a:pt x="8746363" y="33909"/>
                  </a:lnTo>
                  <a:lnTo>
                    <a:pt x="16891" y="33909"/>
                  </a:lnTo>
                  <a:close/>
                </a:path>
              </a:pathLst>
            </a:custGeom>
            <a:solidFill>
              <a:srgbClr val="1E2761"/>
            </a:solidFill>
          </p:spPr>
        </p:sp>
      </p:grpSp>
      <p:grpSp>
        <p:nvGrpSpPr>
          <p:cNvPr name="Group 105" id="105"/>
          <p:cNvGrpSpPr/>
          <p:nvPr/>
        </p:nvGrpSpPr>
        <p:grpSpPr>
          <a:xfrm rot="0">
            <a:off x="11247120" y="6766560"/>
            <a:ext cx="6547104" cy="493776"/>
            <a:chOff x="0" y="0"/>
            <a:chExt cx="8729472" cy="658368"/>
          </a:xfrm>
        </p:grpSpPr>
        <p:sp>
          <p:nvSpPr>
            <p:cNvPr name="Freeform 106" id="106"/>
            <p:cNvSpPr/>
            <p:nvPr/>
          </p:nvSpPr>
          <p:spPr>
            <a:xfrm flipH="false" flipV="false" rot="0">
              <a:off x="0" y="0"/>
              <a:ext cx="8729472" cy="658368"/>
            </a:xfrm>
            <a:custGeom>
              <a:avLst/>
              <a:gdLst/>
              <a:ahLst/>
              <a:cxnLst/>
              <a:rect r="r" b="b" t="t" l="l"/>
              <a:pathLst>
                <a:path h="658368" w="8729472">
                  <a:moveTo>
                    <a:pt x="0" y="0"/>
                  </a:moveTo>
                  <a:lnTo>
                    <a:pt x="8729472" y="0"/>
                  </a:lnTo>
                  <a:lnTo>
                    <a:pt x="8729472" y="658368"/>
                  </a:lnTo>
                  <a:lnTo>
                    <a:pt x="0" y="658368"/>
                  </a:lnTo>
                  <a:close/>
                </a:path>
              </a:pathLst>
            </a:custGeom>
            <a:blipFill>
              <a:blip r:embed="rId3">
                <a:alphaModFix amt="0"/>
              </a:blip>
              <a:stretch>
                <a:fillRect l="0" t="-208357" r="0" b="-208357"/>
              </a:stretch>
            </a:blipFill>
          </p:spPr>
        </p:sp>
        <p:sp>
          <p:nvSpPr>
            <p:cNvPr name="TextBox 107" id="107"/>
            <p:cNvSpPr txBox="true"/>
            <p:nvPr/>
          </p:nvSpPr>
          <p:spPr>
            <a:xfrm>
              <a:off x="0" y="-66675"/>
              <a:ext cx="8729472" cy="725043"/>
            </a:xfrm>
            <a:prstGeom prst="rect">
              <a:avLst/>
            </a:prstGeom>
          </p:spPr>
          <p:txBody>
            <a:bodyPr anchor="ctr" rtlCol="false" tIns="0" lIns="0" bIns="0" rIns="0"/>
            <a:lstStyle/>
            <a:p>
              <a:pPr algn="ctr">
                <a:lnSpc>
                  <a:spcPts val="3600"/>
                </a:lnSpc>
              </a:pPr>
              <a:r>
                <a:rPr lang="en-US" sz="3000" b="true">
                  <a:solidFill>
                    <a:srgbClr val="F59E0B"/>
                  </a:solidFill>
                  <a:latin typeface="Calibri (MS) Bold"/>
                  <a:ea typeface="Calibri (MS) Bold"/>
                  <a:cs typeface="Calibri (MS) Bold"/>
                  <a:sym typeface="Calibri (MS) Bold"/>
                </a:rPr>
                <a:t>α₁ + β₁  =  1.0000</a:t>
              </a:r>
            </a:p>
          </p:txBody>
        </p:sp>
      </p:grpSp>
      <p:grpSp>
        <p:nvGrpSpPr>
          <p:cNvPr name="Group 108" id="108"/>
          <p:cNvGrpSpPr/>
          <p:nvPr/>
        </p:nvGrpSpPr>
        <p:grpSpPr>
          <a:xfrm rot="0">
            <a:off x="11247120" y="7242048"/>
            <a:ext cx="6547104" cy="457200"/>
            <a:chOff x="0" y="0"/>
            <a:chExt cx="8729472" cy="609600"/>
          </a:xfrm>
        </p:grpSpPr>
        <p:sp>
          <p:nvSpPr>
            <p:cNvPr name="Freeform 109" id="109"/>
            <p:cNvSpPr/>
            <p:nvPr/>
          </p:nvSpPr>
          <p:spPr>
            <a:xfrm flipH="false" flipV="false" rot="0">
              <a:off x="0" y="0"/>
              <a:ext cx="8729472" cy="609600"/>
            </a:xfrm>
            <a:custGeom>
              <a:avLst/>
              <a:gdLst/>
              <a:ahLst/>
              <a:cxnLst/>
              <a:rect r="r" b="b" t="t" l="l"/>
              <a:pathLst>
                <a:path h="609600" w="8729472">
                  <a:moveTo>
                    <a:pt x="0" y="0"/>
                  </a:moveTo>
                  <a:lnTo>
                    <a:pt x="8729472" y="0"/>
                  </a:lnTo>
                  <a:lnTo>
                    <a:pt x="8729472" y="609600"/>
                  </a:lnTo>
                  <a:lnTo>
                    <a:pt x="0" y="609600"/>
                  </a:lnTo>
                  <a:close/>
                </a:path>
              </a:pathLst>
            </a:custGeom>
            <a:blipFill>
              <a:blip r:embed="rId3">
                <a:alphaModFix amt="0"/>
              </a:blip>
              <a:stretch>
                <a:fillRect l="0" t="-229025" r="0" b="-229025"/>
              </a:stretch>
            </a:blipFill>
          </p:spPr>
        </p:sp>
        <p:sp>
          <p:nvSpPr>
            <p:cNvPr name="TextBox 110" id="110"/>
            <p:cNvSpPr txBox="true"/>
            <p:nvPr/>
          </p:nvSpPr>
          <p:spPr>
            <a:xfrm>
              <a:off x="0" y="-38100"/>
              <a:ext cx="8729472" cy="647700"/>
            </a:xfrm>
            <a:prstGeom prst="rect">
              <a:avLst/>
            </a:prstGeom>
          </p:spPr>
          <p:txBody>
            <a:bodyPr anchor="ctr" rtlCol="false" tIns="0" lIns="0" bIns="0" rIns="0"/>
            <a:lstStyle/>
            <a:p>
              <a:pPr algn="ctr">
                <a:lnSpc>
                  <a:spcPts val="2039"/>
                </a:lnSpc>
              </a:pPr>
              <a:r>
                <a:rPr lang="en-US" sz="1700">
                  <a:solidFill>
                    <a:srgbClr val="CADCFC"/>
                  </a:solidFill>
                  <a:latin typeface="Calibri (MS)"/>
                  <a:ea typeface="Calibri (MS)"/>
                  <a:cs typeface="Calibri (MS)"/>
                  <a:sym typeface="Calibri (MS)"/>
                </a:rPr>
                <a:t>Near-IGARCH: Volatility shocks are extremely persistent</a:t>
              </a:r>
            </a:p>
          </p:txBody>
        </p:sp>
      </p:grpSp>
      <p:grpSp>
        <p:nvGrpSpPr>
          <p:cNvPr name="Group 111" id="111"/>
          <p:cNvGrpSpPr/>
          <p:nvPr/>
        </p:nvGrpSpPr>
        <p:grpSpPr>
          <a:xfrm rot="0">
            <a:off x="685345" y="7974844"/>
            <a:ext cx="17121585" cy="1385059"/>
            <a:chOff x="0" y="0"/>
            <a:chExt cx="4509389" cy="364789"/>
          </a:xfrm>
        </p:grpSpPr>
        <p:sp>
          <p:nvSpPr>
            <p:cNvPr name="Freeform 112" id="112"/>
            <p:cNvSpPr/>
            <p:nvPr/>
          </p:nvSpPr>
          <p:spPr>
            <a:xfrm flipH="false" flipV="false" rot="0">
              <a:off x="0" y="0"/>
              <a:ext cx="4509389" cy="364789"/>
            </a:xfrm>
            <a:custGeom>
              <a:avLst/>
              <a:gdLst/>
              <a:ahLst/>
              <a:cxnLst/>
              <a:rect r="r" b="b" t="t" l="l"/>
              <a:pathLst>
                <a:path h="364789" w="4509389">
                  <a:moveTo>
                    <a:pt x="0" y="0"/>
                  </a:moveTo>
                  <a:lnTo>
                    <a:pt x="4509389" y="0"/>
                  </a:lnTo>
                  <a:lnTo>
                    <a:pt x="4509389" y="364789"/>
                  </a:lnTo>
                  <a:lnTo>
                    <a:pt x="0" y="364789"/>
                  </a:lnTo>
                  <a:close/>
                </a:path>
              </a:pathLst>
            </a:custGeom>
            <a:solidFill>
              <a:srgbClr val="EFF6FF"/>
            </a:solidFill>
          </p:spPr>
        </p:sp>
        <p:sp>
          <p:nvSpPr>
            <p:cNvPr name="TextBox 113" id="113"/>
            <p:cNvSpPr txBox="true"/>
            <p:nvPr/>
          </p:nvSpPr>
          <p:spPr>
            <a:xfrm>
              <a:off x="0" y="-38100"/>
              <a:ext cx="4509389" cy="402889"/>
            </a:xfrm>
            <a:prstGeom prst="rect">
              <a:avLst/>
            </a:prstGeom>
          </p:spPr>
          <p:txBody>
            <a:bodyPr anchor="ctr" rtlCol="false" tIns="50800" lIns="50800" bIns="50800" rIns="50800"/>
            <a:lstStyle/>
            <a:p>
              <a:pPr algn="ctr">
                <a:lnSpc>
                  <a:spcPts val="2400"/>
                </a:lnSpc>
              </a:pPr>
            </a:p>
          </p:txBody>
        </p:sp>
      </p:grpSp>
      <p:grpSp>
        <p:nvGrpSpPr>
          <p:cNvPr name="Group 114" id="114"/>
          <p:cNvGrpSpPr/>
          <p:nvPr/>
        </p:nvGrpSpPr>
        <p:grpSpPr>
          <a:xfrm rot="0">
            <a:off x="1290858" y="8027294"/>
            <a:ext cx="15910560" cy="1280160"/>
            <a:chOff x="0" y="0"/>
            <a:chExt cx="21214080" cy="1706880"/>
          </a:xfrm>
        </p:grpSpPr>
        <p:sp>
          <p:nvSpPr>
            <p:cNvPr name="Freeform 115" id="115"/>
            <p:cNvSpPr/>
            <p:nvPr/>
          </p:nvSpPr>
          <p:spPr>
            <a:xfrm flipH="false" flipV="false" rot="0">
              <a:off x="0" y="0"/>
              <a:ext cx="21214080" cy="1706880"/>
            </a:xfrm>
            <a:custGeom>
              <a:avLst/>
              <a:gdLst/>
              <a:ahLst/>
              <a:cxnLst/>
              <a:rect r="r" b="b" t="t" l="l"/>
              <a:pathLst>
                <a:path h="1706880" w="21214080">
                  <a:moveTo>
                    <a:pt x="0" y="0"/>
                  </a:moveTo>
                  <a:lnTo>
                    <a:pt x="21214080" y="0"/>
                  </a:lnTo>
                  <a:lnTo>
                    <a:pt x="21214080" y="1706880"/>
                  </a:lnTo>
                  <a:lnTo>
                    <a:pt x="0" y="1706880"/>
                  </a:lnTo>
                  <a:close/>
                </a:path>
              </a:pathLst>
            </a:custGeom>
            <a:blipFill>
              <a:blip r:embed="rId3">
                <a:alphaModFix amt="0"/>
              </a:blip>
              <a:stretch>
                <a:fillRect l="0" t="-192171" r="0" b="-192171"/>
              </a:stretch>
            </a:blipFill>
          </p:spPr>
        </p:sp>
        <p:sp>
          <p:nvSpPr>
            <p:cNvPr name="TextBox 116" id="116"/>
            <p:cNvSpPr txBox="true"/>
            <p:nvPr/>
          </p:nvSpPr>
          <p:spPr>
            <a:xfrm>
              <a:off x="0" y="-38100"/>
              <a:ext cx="21214080" cy="1744980"/>
            </a:xfrm>
            <a:prstGeom prst="rect">
              <a:avLst/>
            </a:prstGeom>
          </p:spPr>
          <p:txBody>
            <a:bodyPr anchor="ctr" rtlCol="false" tIns="0" lIns="0" bIns="0" rIns="0"/>
            <a:lstStyle/>
            <a:p>
              <a:pPr algn="l">
                <a:lnSpc>
                  <a:spcPts val="2400"/>
                </a:lnSpc>
              </a:pPr>
              <a:r>
                <a:rPr lang="en-US" sz="2000" b="true">
                  <a:solidFill>
                    <a:srgbClr val="334155"/>
                  </a:solidFill>
                  <a:latin typeface="Calibri (MS) Bold"/>
                  <a:ea typeface="Calibri (MS) Bold"/>
                  <a:cs typeface="Calibri (MS) Bold"/>
                  <a:sym typeface="Calibri (MS) Bold"/>
                </a:rPr>
                <a:t>alpha₁ = 0.134: </a:t>
              </a:r>
              <a:r>
                <a:rPr lang="en-US" sz="2000">
                  <a:solidFill>
                    <a:srgbClr val="334155"/>
                  </a:solidFill>
                  <a:latin typeface="Calibri (MS)"/>
                  <a:ea typeface="Calibri (MS)"/>
                  <a:cs typeface="Calibri (MS)"/>
                  <a:sym typeface="Calibri (MS)"/>
                </a:rPr>
                <a:t>Shocks raise conditional variance by 13.4%  |  </a:t>
              </a:r>
              <a:r>
                <a:rPr lang="en-US" sz="2000" b="true">
                  <a:solidFill>
                    <a:srgbClr val="334155"/>
                  </a:solidFill>
                  <a:latin typeface="Calibri (MS) Bold"/>
                  <a:ea typeface="Calibri (MS) Bold"/>
                  <a:cs typeface="Calibri (MS) Bold"/>
                  <a:sym typeface="Calibri (MS) Bold"/>
                </a:rPr>
                <a:t>beta₁ = 0.866: </a:t>
              </a:r>
              <a:r>
                <a:rPr lang="en-US" sz="2000">
                  <a:solidFill>
                    <a:srgbClr val="334155"/>
                  </a:solidFill>
                  <a:latin typeface="Calibri (MS)"/>
                  <a:ea typeface="Calibri (MS)"/>
                  <a:cs typeface="Calibri (MS)"/>
                  <a:sym typeface="Calibri (MS)"/>
                </a:rPr>
                <a:t>86.6% of yesterday's volatility persists  |  </a:t>
              </a:r>
              <a:r>
                <a:rPr lang="en-US" sz="2000" b="true">
                  <a:solidFill>
                    <a:srgbClr val="334155"/>
                  </a:solidFill>
                  <a:latin typeface="Calibri (MS) Bold"/>
                  <a:ea typeface="Calibri (MS) Bold"/>
                  <a:cs typeface="Calibri (MS) Bold"/>
                  <a:sym typeface="Calibri (MS) Bold"/>
                </a:rPr>
                <a:t>ν = 5.07: </a:t>
              </a:r>
              <a:r>
                <a:rPr lang="en-US" sz="2000">
                  <a:solidFill>
                    <a:srgbClr val="334155"/>
                  </a:solidFill>
                  <a:latin typeface="Calibri (MS)"/>
                  <a:ea typeface="Calibri (MS)"/>
                  <a:cs typeface="Calibri (MS)"/>
                  <a:sym typeface="Calibri (MS)"/>
                </a:rPr>
                <a:t>Very fat tails confirmed — extreme MSFT price moves are far more frequent than Normal distribution predicts</a:t>
              </a:r>
            </a:p>
          </p:txBody>
        </p:sp>
      </p:grpSp>
      <p:grpSp>
        <p:nvGrpSpPr>
          <p:cNvPr name="Group 117" id="117"/>
          <p:cNvGrpSpPr/>
          <p:nvPr/>
        </p:nvGrpSpPr>
        <p:grpSpPr>
          <a:xfrm rot="0">
            <a:off x="901703" y="279906"/>
            <a:ext cx="1031243" cy="1031243"/>
            <a:chOff x="0" y="0"/>
            <a:chExt cx="1374991" cy="1374991"/>
          </a:xfrm>
        </p:grpSpPr>
        <p:sp>
          <p:nvSpPr>
            <p:cNvPr name="Freeform 118" id="118"/>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119" id="119"/>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120" id="120"/>
          <p:cNvGrpSpPr/>
          <p:nvPr/>
        </p:nvGrpSpPr>
        <p:grpSpPr>
          <a:xfrm rot="0">
            <a:off x="914400" y="292603"/>
            <a:ext cx="1005840" cy="1005840"/>
            <a:chOff x="0" y="0"/>
            <a:chExt cx="1341120" cy="1341120"/>
          </a:xfrm>
        </p:grpSpPr>
        <p:sp>
          <p:nvSpPr>
            <p:cNvPr name="Freeform 121" id="121"/>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122" id="122"/>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04</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68217"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280914"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3 · GARCH</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GARCH Diagnostics</a:t>
              </a:r>
            </a:p>
          </p:txBody>
        </p:sp>
      </p:grpSp>
      <p:grpSp>
        <p:nvGrpSpPr>
          <p:cNvPr name="Group 11" id="11"/>
          <p:cNvGrpSpPr/>
          <p:nvPr/>
        </p:nvGrpSpPr>
        <p:grpSpPr>
          <a:xfrm rot="0">
            <a:off x="850364" y="2527173"/>
            <a:ext cx="8187872" cy="4455414"/>
            <a:chOff x="0" y="0"/>
            <a:chExt cx="10917163" cy="5940552"/>
          </a:xfrm>
        </p:grpSpPr>
        <p:sp>
          <p:nvSpPr>
            <p:cNvPr name="Freeform 12" id="12"/>
            <p:cNvSpPr/>
            <p:nvPr/>
          </p:nvSpPr>
          <p:spPr>
            <a:xfrm flipH="false" flipV="false" rot="0">
              <a:off x="17133" y="15163"/>
              <a:ext cx="10882806" cy="5910147"/>
            </a:xfrm>
            <a:custGeom>
              <a:avLst/>
              <a:gdLst/>
              <a:ahLst/>
              <a:cxnLst/>
              <a:rect r="r" b="b" t="t" l="l"/>
              <a:pathLst>
                <a:path h="5910147" w="10882806">
                  <a:moveTo>
                    <a:pt x="0" y="0"/>
                  </a:moveTo>
                  <a:lnTo>
                    <a:pt x="10882806" y="0"/>
                  </a:lnTo>
                  <a:lnTo>
                    <a:pt x="10882806" y="5910147"/>
                  </a:lnTo>
                  <a:lnTo>
                    <a:pt x="0" y="5910147"/>
                  </a:lnTo>
                  <a:close/>
                </a:path>
              </a:pathLst>
            </a:custGeom>
            <a:solidFill>
              <a:srgbClr val="E8F0FE"/>
            </a:solidFill>
          </p:spPr>
        </p:sp>
        <p:sp>
          <p:nvSpPr>
            <p:cNvPr name="Freeform 13" id="13"/>
            <p:cNvSpPr/>
            <p:nvPr/>
          </p:nvSpPr>
          <p:spPr>
            <a:xfrm flipH="false" flipV="false" rot="0">
              <a:off x="0" y="0"/>
              <a:ext cx="10917072" cy="5940472"/>
            </a:xfrm>
            <a:custGeom>
              <a:avLst/>
              <a:gdLst/>
              <a:ahLst/>
              <a:cxnLst/>
              <a:rect r="r" b="b" t="t" l="l"/>
              <a:pathLst>
                <a:path h="5940472" w="10917072">
                  <a:moveTo>
                    <a:pt x="17133" y="0"/>
                  </a:moveTo>
                  <a:lnTo>
                    <a:pt x="10899939" y="0"/>
                  </a:lnTo>
                  <a:cubicBezTo>
                    <a:pt x="10909472" y="0"/>
                    <a:pt x="10917072" y="6840"/>
                    <a:pt x="10917072" y="15163"/>
                  </a:cubicBezTo>
                  <a:lnTo>
                    <a:pt x="10917072" y="5925310"/>
                  </a:lnTo>
                  <a:cubicBezTo>
                    <a:pt x="10917072" y="5933746"/>
                    <a:pt x="10909343" y="5940472"/>
                    <a:pt x="10899939" y="5940472"/>
                  </a:cubicBezTo>
                  <a:lnTo>
                    <a:pt x="17133" y="5940472"/>
                  </a:lnTo>
                  <a:cubicBezTo>
                    <a:pt x="7600" y="5940472"/>
                    <a:pt x="0" y="5933632"/>
                    <a:pt x="0" y="5925310"/>
                  </a:cubicBezTo>
                  <a:lnTo>
                    <a:pt x="0" y="15163"/>
                  </a:lnTo>
                  <a:cubicBezTo>
                    <a:pt x="0" y="6840"/>
                    <a:pt x="7729" y="0"/>
                    <a:pt x="17133" y="0"/>
                  </a:cubicBezTo>
                  <a:moveTo>
                    <a:pt x="17133" y="30440"/>
                  </a:moveTo>
                  <a:lnTo>
                    <a:pt x="17133" y="15163"/>
                  </a:lnTo>
                  <a:lnTo>
                    <a:pt x="34395" y="15163"/>
                  </a:lnTo>
                  <a:lnTo>
                    <a:pt x="34395" y="5925310"/>
                  </a:lnTo>
                  <a:lnTo>
                    <a:pt x="17133" y="5925310"/>
                  </a:lnTo>
                  <a:lnTo>
                    <a:pt x="17133" y="5910147"/>
                  </a:lnTo>
                  <a:lnTo>
                    <a:pt x="10899939" y="5910147"/>
                  </a:lnTo>
                  <a:lnTo>
                    <a:pt x="10899939" y="5925310"/>
                  </a:lnTo>
                  <a:lnTo>
                    <a:pt x="10882806" y="5925310"/>
                  </a:lnTo>
                  <a:lnTo>
                    <a:pt x="10882806" y="15163"/>
                  </a:lnTo>
                  <a:lnTo>
                    <a:pt x="10899939" y="15163"/>
                  </a:lnTo>
                  <a:lnTo>
                    <a:pt x="10899939" y="30440"/>
                  </a:lnTo>
                  <a:lnTo>
                    <a:pt x="17133" y="30440"/>
                  </a:lnTo>
                  <a:close/>
                </a:path>
              </a:pathLst>
            </a:custGeom>
            <a:solidFill>
              <a:srgbClr val="CADCFC"/>
            </a:solidFill>
          </p:spPr>
        </p:sp>
      </p:grpSp>
      <p:grpSp>
        <p:nvGrpSpPr>
          <p:cNvPr name="Group 14" id="14"/>
          <p:cNvGrpSpPr/>
          <p:nvPr/>
        </p:nvGrpSpPr>
        <p:grpSpPr>
          <a:xfrm rot="0">
            <a:off x="914400" y="2527173"/>
            <a:ext cx="8123836" cy="512064"/>
            <a:chOff x="0" y="0"/>
            <a:chExt cx="10831781" cy="682752"/>
          </a:xfrm>
        </p:grpSpPr>
        <p:sp>
          <p:nvSpPr>
            <p:cNvPr name="Freeform 15" id="15"/>
            <p:cNvSpPr/>
            <p:nvPr/>
          </p:nvSpPr>
          <p:spPr>
            <a:xfrm flipH="false" flipV="false" rot="0">
              <a:off x="0" y="0"/>
              <a:ext cx="10831781" cy="682752"/>
            </a:xfrm>
            <a:custGeom>
              <a:avLst/>
              <a:gdLst/>
              <a:ahLst/>
              <a:cxnLst/>
              <a:rect r="r" b="b" t="t" l="l"/>
              <a:pathLst>
                <a:path h="682752" w="10831781">
                  <a:moveTo>
                    <a:pt x="0" y="0"/>
                  </a:moveTo>
                  <a:lnTo>
                    <a:pt x="10831781" y="0"/>
                  </a:lnTo>
                  <a:lnTo>
                    <a:pt x="10831781" y="682752"/>
                  </a:lnTo>
                  <a:lnTo>
                    <a:pt x="0" y="682752"/>
                  </a:lnTo>
                  <a:close/>
                </a:path>
              </a:pathLst>
            </a:custGeom>
            <a:blipFill>
              <a:blip r:embed="rId3">
                <a:alphaModFix amt="0"/>
              </a:blip>
              <a:stretch>
                <a:fillRect l="0" t="-332741" r="-23813" b="-332741"/>
              </a:stretch>
            </a:blipFill>
          </p:spPr>
        </p:sp>
        <p:sp>
          <p:nvSpPr>
            <p:cNvPr name="TextBox 16" id="16"/>
            <p:cNvSpPr txBox="true"/>
            <p:nvPr/>
          </p:nvSpPr>
          <p:spPr>
            <a:xfrm>
              <a:off x="0" y="-47625"/>
              <a:ext cx="10831781"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Post-GARCH Diagnostics — Standardised Residuals</a:t>
              </a:r>
            </a:p>
          </p:txBody>
        </p:sp>
      </p:grpSp>
      <p:graphicFrame>
        <p:nvGraphicFramePr>
          <p:cNvPr name="Table 17" id="17"/>
          <p:cNvGraphicFramePr>
            <a:graphicFrameLocks noGrp="true"/>
          </p:cNvGraphicFramePr>
          <p:nvPr/>
        </p:nvGraphicFramePr>
        <p:xfrm>
          <a:off x="914400" y="2940939"/>
          <a:ext cx="8123836" cy="4041648"/>
        </p:xfrm>
        <a:graphic>
          <a:graphicData uri="http://schemas.openxmlformats.org/drawingml/2006/table">
            <a:tbl>
              <a:tblPr/>
              <a:tblGrid>
                <a:gridCol w="2652432"/>
                <a:gridCol w="1043913"/>
                <a:gridCol w="1482600"/>
                <a:gridCol w="2944891"/>
              </a:tblGrid>
              <a:tr h="577378">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Test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Lags</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p-value</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c>
                  <a:txBody>
                    <a:bodyPr anchor="t" rtlCol="false"/>
                    <a:lstStyle/>
                    <a:p>
                      <a:pPr algn="ctr">
                        <a:lnSpc>
                          <a:spcPts val="2280"/>
                        </a:lnSpc>
                        <a:defRPr/>
                      </a:pPr>
                      <a:r>
                        <a:rPr lang="en-US" sz="1900" b="true">
                          <a:solidFill>
                            <a:srgbClr val="FFFFFF"/>
                          </a:solidFill>
                          <a:latin typeface="Calibri (MS) Bold"/>
                          <a:ea typeface="Calibri (MS) Bold"/>
                          <a:cs typeface="Calibri (MS) Bold"/>
                          <a:sym typeface="Calibri (MS) Bold"/>
                        </a:rPr>
                        <a:t>Result</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solidFill>
                      <a:srgbClr val="1E2761"/>
                    </a:solidFill>
                  </a:tcPr>
                </a:tc>
              </a:tr>
              <a:tr h="577378">
                <a:tc>
                  <a:txBody>
                    <a:bodyPr anchor="t" rtlCol="false"/>
                    <a:lstStyle/>
                    <a:p>
                      <a:pPr algn="ctr">
                        <a:lnSpc>
                          <a:spcPts val="2280"/>
                        </a:lnSpc>
                        <a:defRPr/>
                      </a:pPr>
                      <a:r>
                        <a:rPr lang="en-US" sz="1900">
                          <a:solidFill>
                            <a:srgbClr val="000000"/>
                          </a:solidFill>
                          <a:latin typeface="Calibri (MS)"/>
                          <a:ea typeface="Calibri (MS)"/>
                          <a:cs typeface="Calibri (MS)"/>
                          <a:sym typeface="Calibri (MS)"/>
                        </a:rPr>
                        <a:t>Ljung-Box (std)</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0.847</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No autocorr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7378">
                <a:tc>
                  <a:txBody>
                    <a:bodyPr anchor="t" rtlCol="false"/>
                    <a:lstStyle/>
                    <a:p>
                      <a:pPr algn="ctr">
                        <a:lnSpc>
                          <a:spcPts val="2280"/>
                        </a:lnSpc>
                        <a:defRPr/>
                      </a:pPr>
                      <a:r>
                        <a:rPr lang="en-US" sz="1900">
                          <a:solidFill>
                            <a:srgbClr val="000000"/>
                          </a:solidFill>
                          <a:latin typeface="Calibri (MS)"/>
                          <a:ea typeface="Calibri (MS)"/>
                          <a:cs typeface="Calibri (MS)"/>
                          <a:sym typeface="Calibri (MS)"/>
                        </a:rPr>
                        <a:t>Ljung-Box (std)</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20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0.892</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No autocorr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7378">
                <a:tc>
                  <a:txBody>
                    <a:bodyPr anchor="t" rtlCol="false"/>
                    <a:lstStyle/>
                    <a:p>
                      <a:pPr algn="ctr">
                        <a:lnSpc>
                          <a:spcPts val="2280"/>
                        </a:lnSpc>
                        <a:defRPr/>
                      </a:pPr>
                      <a:r>
                        <a:rPr lang="en-US" sz="1900">
                          <a:solidFill>
                            <a:srgbClr val="000000"/>
                          </a:solidFill>
                          <a:latin typeface="Calibri (MS)"/>
                          <a:ea typeface="Calibri (MS)"/>
                          <a:cs typeface="Calibri (MS)"/>
                          <a:sym typeface="Calibri (MS)"/>
                        </a:rPr>
                        <a:t>Ljung-Box (std²)</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0.638</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No ARCH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7378">
                <a:tc>
                  <a:txBody>
                    <a:bodyPr anchor="t" rtlCol="false"/>
                    <a:lstStyle/>
                    <a:p>
                      <a:pPr algn="ctr">
                        <a:lnSpc>
                          <a:spcPts val="2280"/>
                        </a:lnSpc>
                        <a:defRPr/>
                      </a:pPr>
                      <a:r>
                        <a:rPr lang="en-US" sz="1900">
                          <a:solidFill>
                            <a:srgbClr val="000000"/>
                          </a:solidFill>
                          <a:latin typeface="Calibri (MS)"/>
                          <a:ea typeface="Calibri (MS)"/>
                          <a:cs typeface="Calibri (MS)"/>
                          <a:sym typeface="Calibri (MS)"/>
                        </a:rPr>
                        <a:t>Ljung-Box (std²)</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20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0.721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No ARCH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7378">
                <a:tc>
                  <a:txBody>
                    <a:bodyPr anchor="t" rtlCol="false"/>
                    <a:lstStyle/>
                    <a:p>
                      <a:pPr algn="ctr">
                        <a:lnSpc>
                          <a:spcPts val="2280"/>
                        </a:lnSpc>
                        <a:defRPr/>
                      </a:pPr>
                      <a:r>
                        <a:rPr lang="en-US" sz="1900">
                          <a:solidFill>
                            <a:srgbClr val="000000"/>
                          </a:solidFill>
                          <a:latin typeface="Calibri (MS)"/>
                          <a:ea typeface="Calibri (MS)"/>
                          <a:cs typeface="Calibri (MS)"/>
                          <a:sym typeface="Calibri (MS)"/>
                        </a:rPr>
                        <a:t>ARCH-LM (std)</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5</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0.752</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ARCH removed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r h="577378">
                <a:tc>
                  <a:txBody>
                    <a:bodyPr anchor="t" rtlCol="false"/>
                    <a:lstStyle/>
                    <a:p>
                      <a:pPr algn="ctr">
                        <a:lnSpc>
                          <a:spcPts val="2280"/>
                        </a:lnSpc>
                        <a:defRPr/>
                      </a:pPr>
                      <a:r>
                        <a:rPr lang="en-US" sz="1900">
                          <a:solidFill>
                            <a:srgbClr val="000000"/>
                          </a:solidFill>
                          <a:latin typeface="Calibri (MS)"/>
                          <a:ea typeface="Calibri (MS)"/>
                          <a:cs typeface="Calibri (MS)"/>
                          <a:sym typeface="Calibri (MS)"/>
                        </a:rPr>
                        <a:t>ARCH-LM (std)</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10</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a:solidFill>
                            <a:srgbClr val="000000"/>
                          </a:solidFill>
                          <a:latin typeface="Calibri (MS)"/>
                          <a:ea typeface="Calibri (MS)"/>
                          <a:cs typeface="Calibri (MS)"/>
                          <a:sym typeface="Calibri (MS)"/>
                        </a:rPr>
                        <a:t>0.581</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c>
                  <a:txBody>
                    <a:bodyPr anchor="t" rtlCol="false"/>
                    <a:lstStyle/>
                    <a:p>
                      <a:pPr algn="ctr">
                        <a:lnSpc>
                          <a:spcPts val="2280"/>
                        </a:lnSpc>
                        <a:defRPr/>
                      </a:pPr>
                      <a:r>
                        <a:rPr lang="en-US" sz="1900" b="true">
                          <a:solidFill>
                            <a:srgbClr val="10B981"/>
                          </a:solidFill>
                          <a:latin typeface="Calibri (MS) Bold"/>
                          <a:ea typeface="Calibri (MS) Bold"/>
                          <a:cs typeface="Calibri (MS) Bold"/>
                          <a:sym typeface="Calibri (MS) Bold"/>
                        </a:rPr>
                        <a:t>ARCH removed ✓</a:t>
                      </a:r>
                      <a:endParaRPr lang="en-US" sz="1100"/>
                    </a:p>
                  </a:txBody>
                  <a:tcPr marL="91440" marR="91440" marT="91440" marB="91440" anchor="ctr">
                    <a:lnL cmpd="sng" algn="ctr" cap="flat" w="6350">
                      <a:solidFill>
                        <a:srgbClr val="CADCFC"/>
                      </a:solidFill>
                      <a:prstDash val="solid"/>
                      <a:round/>
                      <a:headEnd type="none" w="med" len="med"/>
                      <a:tailEnd type="none" w="med" len="med"/>
                    </a:lnL>
                    <a:lnR cmpd="sng" algn="ctr" cap="flat" w="6350">
                      <a:solidFill>
                        <a:srgbClr val="CADCFC"/>
                      </a:solidFill>
                      <a:prstDash val="solid"/>
                      <a:round/>
                      <a:headEnd type="none" w="med" len="med"/>
                      <a:tailEnd type="none" w="med" len="med"/>
                    </a:lnR>
                    <a:lnT cmpd="sng" algn="ctr" cap="flat" w="6350">
                      <a:solidFill>
                        <a:srgbClr val="CADCFC"/>
                      </a:solidFill>
                      <a:prstDash val="solid"/>
                      <a:round/>
                      <a:headEnd type="none" w="med" len="med"/>
                      <a:tailEnd type="none" w="med" len="med"/>
                    </a:lnT>
                    <a:lnB cmpd="sng" algn="ctr" cap="flat" w="6350">
                      <a:solidFill>
                        <a:srgbClr val="CADCFC"/>
                      </a:solidFill>
                      <a:prstDash val="solid"/>
                      <a:round/>
                      <a:headEnd type="none" w="med" len="med"/>
                      <a:tailEnd type="none" w="med" len="med"/>
                    </a:lnB>
                  </a:tcPr>
                </a:tc>
              </a:tr>
            </a:tbl>
          </a:graphicData>
        </a:graphic>
      </p:graphicFrame>
      <p:grpSp>
        <p:nvGrpSpPr>
          <p:cNvPr name="Group 18" id="18"/>
          <p:cNvGrpSpPr/>
          <p:nvPr/>
        </p:nvGrpSpPr>
        <p:grpSpPr>
          <a:xfrm rot="0">
            <a:off x="850364" y="7144512"/>
            <a:ext cx="8187872" cy="2349690"/>
            <a:chOff x="0" y="0"/>
            <a:chExt cx="2156477" cy="618848"/>
          </a:xfrm>
        </p:grpSpPr>
        <p:sp>
          <p:nvSpPr>
            <p:cNvPr name="Freeform 19" id="19"/>
            <p:cNvSpPr/>
            <p:nvPr/>
          </p:nvSpPr>
          <p:spPr>
            <a:xfrm flipH="false" flipV="false" rot="0">
              <a:off x="0" y="0"/>
              <a:ext cx="2156477" cy="618848"/>
            </a:xfrm>
            <a:custGeom>
              <a:avLst/>
              <a:gdLst/>
              <a:ahLst/>
              <a:cxnLst/>
              <a:rect r="r" b="b" t="t" l="l"/>
              <a:pathLst>
                <a:path h="618848" w="2156477">
                  <a:moveTo>
                    <a:pt x="0" y="0"/>
                  </a:moveTo>
                  <a:lnTo>
                    <a:pt x="2156477" y="0"/>
                  </a:lnTo>
                  <a:lnTo>
                    <a:pt x="2156477" y="618848"/>
                  </a:lnTo>
                  <a:lnTo>
                    <a:pt x="0" y="618848"/>
                  </a:lnTo>
                  <a:close/>
                </a:path>
              </a:pathLst>
            </a:custGeom>
            <a:solidFill>
              <a:srgbClr val="FEF3C7"/>
            </a:solidFill>
          </p:spPr>
        </p:sp>
        <p:sp>
          <p:nvSpPr>
            <p:cNvPr name="TextBox 20" id="20"/>
            <p:cNvSpPr txBox="true"/>
            <p:nvPr/>
          </p:nvSpPr>
          <p:spPr>
            <a:xfrm>
              <a:off x="0" y="-38100"/>
              <a:ext cx="2156477" cy="656948"/>
            </a:xfrm>
            <a:prstGeom prst="rect">
              <a:avLst/>
            </a:prstGeom>
          </p:spPr>
          <p:txBody>
            <a:bodyPr anchor="ctr" rtlCol="false" tIns="50800" lIns="50800" bIns="50800" rIns="50800"/>
            <a:lstStyle/>
            <a:p>
              <a:pPr algn="ctr">
                <a:lnSpc>
                  <a:spcPts val="2400"/>
                </a:lnSpc>
              </a:pPr>
            </a:p>
          </p:txBody>
        </p:sp>
      </p:grpSp>
      <p:grpSp>
        <p:nvGrpSpPr>
          <p:cNvPr name="Group 21" id="21"/>
          <p:cNvGrpSpPr/>
          <p:nvPr/>
        </p:nvGrpSpPr>
        <p:grpSpPr>
          <a:xfrm rot="0">
            <a:off x="850364" y="7154037"/>
            <a:ext cx="8123836" cy="512064"/>
            <a:chOff x="0" y="0"/>
            <a:chExt cx="10831781" cy="682752"/>
          </a:xfrm>
        </p:grpSpPr>
        <p:sp>
          <p:nvSpPr>
            <p:cNvPr name="Freeform 22" id="22"/>
            <p:cNvSpPr/>
            <p:nvPr/>
          </p:nvSpPr>
          <p:spPr>
            <a:xfrm flipH="false" flipV="false" rot="0">
              <a:off x="0" y="0"/>
              <a:ext cx="10831781" cy="682752"/>
            </a:xfrm>
            <a:custGeom>
              <a:avLst/>
              <a:gdLst/>
              <a:ahLst/>
              <a:cxnLst/>
              <a:rect r="r" b="b" t="t" l="l"/>
              <a:pathLst>
                <a:path h="682752" w="10831781">
                  <a:moveTo>
                    <a:pt x="0" y="0"/>
                  </a:moveTo>
                  <a:lnTo>
                    <a:pt x="10831781" y="0"/>
                  </a:lnTo>
                  <a:lnTo>
                    <a:pt x="10831781" y="682752"/>
                  </a:lnTo>
                  <a:lnTo>
                    <a:pt x="0" y="682752"/>
                  </a:lnTo>
                  <a:close/>
                </a:path>
              </a:pathLst>
            </a:custGeom>
            <a:blipFill>
              <a:blip r:embed="rId3">
                <a:alphaModFix amt="0"/>
              </a:blip>
              <a:stretch>
                <a:fillRect l="0" t="-332741" r="-23813" b="-332741"/>
              </a:stretch>
            </a:blipFill>
          </p:spPr>
        </p:sp>
        <p:sp>
          <p:nvSpPr>
            <p:cNvPr name="TextBox 23" id="23"/>
            <p:cNvSpPr txBox="true"/>
            <p:nvPr/>
          </p:nvSpPr>
          <p:spPr>
            <a:xfrm>
              <a:off x="0" y="-47625"/>
              <a:ext cx="10831781"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Before vs After GARCH(1,1)-t</a:t>
              </a:r>
            </a:p>
          </p:txBody>
        </p:sp>
      </p:grpSp>
      <p:grpSp>
        <p:nvGrpSpPr>
          <p:cNvPr name="Group 24" id="24"/>
          <p:cNvGrpSpPr/>
          <p:nvPr/>
        </p:nvGrpSpPr>
        <p:grpSpPr>
          <a:xfrm rot="0">
            <a:off x="914400" y="8085449"/>
            <a:ext cx="2370478" cy="548640"/>
            <a:chOff x="0" y="0"/>
            <a:chExt cx="3160637" cy="731520"/>
          </a:xfrm>
        </p:grpSpPr>
        <p:sp>
          <p:nvSpPr>
            <p:cNvPr name="Freeform 25" id="25"/>
            <p:cNvSpPr/>
            <p:nvPr/>
          </p:nvSpPr>
          <p:spPr>
            <a:xfrm flipH="false" flipV="false" rot="0">
              <a:off x="0" y="0"/>
              <a:ext cx="3160637" cy="731520"/>
            </a:xfrm>
            <a:custGeom>
              <a:avLst/>
              <a:gdLst/>
              <a:ahLst/>
              <a:cxnLst/>
              <a:rect r="r" b="b" t="t" l="l"/>
              <a:pathLst>
                <a:path h="731520" w="3160637">
                  <a:moveTo>
                    <a:pt x="0" y="0"/>
                  </a:moveTo>
                  <a:lnTo>
                    <a:pt x="3160637" y="0"/>
                  </a:lnTo>
                  <a:lnTo>
                    <a:pt x="3160637" y="731520"/>
                  </a:lnTo>
                  <a:lnTo>
                    <a:pt x="0" y="731520"/>
                  </a:lnTo>
                  <a:close/>
                </a:path>
              </a:pathLst>
            </a:custGeom>
            <a:blipFill>
              <a:blip r:embed="rId3">
                <a:alphaModFix amt="0"/>
              </a:blip>
              <a:stretch>
                <a:fillRect l="0" t="-92890" r="-69727" b="-92890"/>
              </a:stretch>
            </a:blipFill>
          </p:spPr>
        </p:sp>
        <p:sp>
          <p:nvSpPr>
            <p:cNvPr name="TextBox 26" id="26"/>
            <p:cNvSpPr txBox="true"/>
            <p:nvPr/>
          </p:nvSpPr>
          <p:spPr>
            <a:xfrm>
              <a:off x="0" y="-38100"/>
              <a:ext cx="3160637" cy="769620"/>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ARCH-LM (lag 10)</a:t>
              </a:r>
            </a:p>
          </p:txBody>
        </p:sp>
      </p:grpSp>
      <p:grpSp>
        <p:nvGrpSpPr>
          <p:cNvPr name="Group 27" id="27"/>
          <p:cNvGrpSpPr/>
          <p:nvPr/>
        </p:nvGrpSpPr>
        <p:grpSpPr>
          <a:xfrm rot="0">
            <a:off x="3252113" y="8072752"/>
            <a:ext cx="2494283" cy="574043"/>
            <a:chOff x="0" y="0"/>
            <a:chExt cx="3325711" cy="765391"/>
          </a:xfrm>
        </p:grpSpPr>
        <p:sp>
          <p:nvSpPr>
            <p:cNvPr name="Freeform 28" id="28"/>
            <p:cNvSpPr/>
            <p:nvPr/>
          </p:nvSpPr>
          <p:spPr>
            <a:xfrm flipH="false" flipV="false" rot="0">
              <a:off x="16891" y="16891"/>
              <a:ext cx="3291840" cy="731520"/>
            </a:xfrm>
            <a:custGeom>
              <a:avLst/>
              <a:gdLst/>
              <a:ahLst/>
              <a:cxnLst/>
              <a:rect r="r" b="b" t="t" l="l"/>
              <a:pathLst>
                <a:path h="731520" w="3291840">
                  <a:moveTo>
                    <a:pt x="0" y="0"/>
                  </a:moveTo>
                  <a:lnTo>
                    <a:pt x="3291840" y="0"/>
                  </a:lnTo>
                  <a:lnTo>
                    <a:pt x="3291840" y="731520"/>
                  </a:lnTo>
                  <a:lnTo>
                    <a:pt x="0" y="731520"/>
                  </a:lnTo>
                  <a:close/>
                </a:path>
              </a:pathLst>
            </a:custGeom>
            <a:solidFill>
              <a:srgbClr val="FEE2E2"/>
            </a:solidFill>
          </p:spPr>
        </p:sp>
        <p:sp>
          <p:nvSpPr>
            <p:cNvPr name="Freeform 29" id="29"/>
            <p:cNvSpPr/>
            <p:nvPr/>
          </p:nvSpPr>
          <p:spPr>
            <a:xfrm flipH="false" flipV="false" rot="0">
              <a:off x="0" y="0"/>
              <a:ext cx="3325622" cy="765304"/>
            </a:xfrm>
            <a:custGeom>
              <a:avLst/>
              <a:gdLst/>
              <a:ahLst/>
              <a:cxnLst/>
              <a:rect r="r" b="b" t="t" l="l"/>
              <a:pathLst>
                <a:path h="765304" w="3325622">
                  <a:moveTo>
                    <a:pt x="16891" y="0"/>
                  </a:moveTo>
                  <a:lnTo>
                    <a:pt x="3308731" y="0"/>
                  </a:lnTo>
                  <a:cubicBezTo>
                    <a:pt x="3318129" y="0"/>
                    <a:pt x="3325622" y="7620"/>
                    <a:pt x="3325622" y="16891"/>
                  </a:cubicBezTo>
                  <a:lnTo>
                    <a:pt x="3325622" y="748411"/>
                  </a:lnTo>
                  <a:cubicBezTo>
                    <a:pt x="3325622" y="757809"/>
                    <a:pt x="3318002" y="765302"/>
                    <a:pt x="33087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308731" y="731520"/>
                  </a:lnTo>
                  <a:lnTo>
                    <a:pt x="3308731" y="748411"/>
                  </a:lnTo>
                  <a:lnTo>
                    <a:pt x="3291840" y="748411"/>
                  </a:lnTo>
                  <a:lnTo>
                    <a:pt x="3291840" y="16891"/>
                  </a:lnTo>
                  <a:lnTo>
                    <a:pt x="3308731" y="16891"/>
                  </a:lnTo>
                  <a:lnTo>
                    <a:pt x="3308731" y="33909"/>
                  </a:lnTo>
                  <a:lnTo>
                    <a:pt x="16891" y="33909"/>
                  </a:lnTo>
                  <a:close/>
                </a:path>
              </a:pathLst>
            </a:custGeom>
            <a:solidFill>
              <a:srgbClr val="FCA5A5"/>
            </a:solidFill>
          </p:spPr>
        </p:sp>
      </p:grpSp>
      <p:grpSp>
        <p:nvGrpSpPr>
          <p:cNvPr name="Group 30" id="30"/>
          <p:cNvGrpSpPr/>
          <p:nvPr/>
        </p:nvGrpSpPr>
        <p:grpSpPr>
          <a:xfrm rot="0">
            <a:off x="3264810" y="8085449"/>
            <a:ext cx="2468880" cy="548640"/>
            <a:chOff x="0" y="0"/>
            <a:chExt cx="3291840" cy="731520"/>
          </a:xfrm>
        </p:grpSpPr>
        <p:sp>
          <p:nvSpPr>
            <p:cNvPr name="Freeform 31" id="31"/>
            <p:cNvSpPr/>
            <p:nvPr/>
          </p:nvSpPr>
          <p:spPr>
            <a:xfrm flipH="false" flipV="false" rot="0">
              <a:off x="0" y="0"/>
              <a:ext cx="3291840" cy="731520"/>
            </a:xfrm>
            <a:custGeom>
              <a:avLst/>
              <a:gdLst/>
              <a:ahLst/>
              <a:cxnLst/>
              <a:rect r="r" b="b" t="t" l="l"/>
              <a:pathLst>
                <a:path h="731520" w="3291840">
                  <a:moveTo>
                    <a:pt x="0" y="0"/>
                  </a:moveTo>
                  <a:lnTo>
                    <a:pt x="3291840" y="0"/>
                  </a:lnTo>
                  <a:lnTo>
                    <a:pt x="3291840" y="731520"/>
                  </a:lnTo>
                  <a:lnTo>
                    <a:pt x="0" y="731520"/>
                  </a:lnTo>
                  <a:close/>
                </a:path>
              </a:pathLst>
            </a:custGeom>
            <a:blipFill>
              <a:blip r:embed="rId3">
                <a:alphaModFix amt="0"/>
              </a:blip>
              <a:stretch>
                <a:fillRect l="0" t="-37682" r="0" b="-37682"/>
              </a:stretch>
            </a:blipFill>
          </p:spPr>
        </p:sp>
        <p:sp>
          <p:nvSpPr>
            <p:cNvPr name="TextBox 32" id="32"/>
            <p:cNvSpPr txBox="true"/>
            <p:nvPr/>
          </p:nvSpPr>
          <p:spPr>
            <a:xfrm>
              <a:off x="0" y="-38100"/>
              <a:ext cx="3291840" cy="769620"/>
            </a:xfrm>
            <a:prstGeom prst="rect">
              <a:avLst/>
            </a:prstGeom>
          </p:spPr>
          <p:txBody>
            <a:bodyPr anchor="ctr" rtlCol="false" tIns="0" lIns="0" bIns="0" rIns="0"/>
            <a:lstStyle/>
            <a:p>
              <a:pPr algn="ctr">
                <a:lnSpc>
                  <a:spcPts val="2039"/>
                </a:lnSpc>
              </a:pPr>
              <a:r>
                <a:rPr lang="en-US" sz="1700" b="true">
                  <a:solidFill>
                    <a:srgbClr val="EF4444"/>
                  </a:solidFill>
                  <a:latin typeface="Calibri (MS) Bold"/>
                  <a:ea typeface="Calibri (MS) Bold"/>
                  <a:cs typeface="Calibri (MS) Bold"/>
                  <a:sym typeface="Calibri (MS) Bold"/>
                </a:rPr>
                <a:t>p = 0.000 ❌</a:t>
              </a:r>
            </a:p>
          </p:txBody>
        </p:sp>
      </p:grpSp>
      <p:grpSp>
        <p:nvGrpSpPr>
          <p:cNvPr name="Group 33" id="33"/>
          <p:cNvGrpSpPr/>
          <p:nvPr/>
        </p:nvGrpSpPr>
        <p:grpSpPr>
          <a:xfrm rot="0">
            <a:off x="5903873" y="8072752"/>
            <a:ext cx="3134363" cy="574043"/>
            <a:chOff x="0" y="0"/>
            <a:chExt cx="4179151" cy="765391"/>
          </a:xfrm>
        </p:grpSpPr>
        <p:sp>
          <p:nvSpPr>
            <p:cNvPr name="Freeform 34" id="34"/>
            <p:cNvSpPr/>
            <p:nvPr/>
          </p:nvSpPr>
          <p:spPr>
            <a:xfrm flipH="false" flipV="false" rot="0">
              <a:off x="16891" y="16891"/>
              <a:ext cx="4145280" cy="731520"/>
            </a:xfrm>
            <a:custGeom>
              <a:avLst/>
              <a:gdLst/>
              <a:ahLst/>
              <a:cxnLst/>
              <a:rect r="r" b="b" t="t" l="l"/>
              <a:pathLst>
                <a:path h="731520" w="4145280">
                  <a:moveTo>
                    <a:pt x="0" y="0"/>
                  </a:moveTo>
                  <a:lnTo>
                    <a:pt x="4145280" y="0"/>
                  </a:lnTo>
                  <a:lnTo>
                    <a:pt x="4145280" y="731520"/>
                  </a:lnTo>
                  <a:lnTo>
                    <a:pt x="0" y="731520"/>
                  </a:lnTo>
                  <a:close/>
                </a:path>
              </a:pathLst>
            </a:custGeom>
            <a:solidFill>
              <a:srgbClr val="D1FAE5"/>
            </a:solidFill>
          </p:spPr>
        </p:sp>
        <p:sp>
          <p:nvSpPr>
            <p:cNvPr name="Freeform 35" id="35"/>
            <p:cNvSpPr/>
            <p:nvPr/>
          </p:nvSpPr>
          <p:spPr>
            <a:xfrm flipH="false" flipV="false" rot="0">
              <a:off x="0" y="0"/>
              <a:ext cx="4179062" cy="765304"/>
            </a:xfrm>
            <a:custGeom>
              <a:avLst/>
              <a:gdLst/>
              <a:ahLst/>
              <a:cxnLst/>
              <a:rect r="r" b="b" t="t" l="l"/>
              <a:pathLst>
                <a:path h="765304" w="4179062">
                  <a:moveTo>
                    <a:pt x="16891" y="0"/>
                  </a:moveTo>
                  <a:lnTo>
                    <a:pt x="4162171" y="0"/>
                  </a:lnTo>
                  <a:cubicBezTo>
                    <a:pt x="4171569" y="0"/>
                    <a:pt x="4179062" y="7620"/>
                    <a:pt x="4179062" y="16891"/>
                  </a:cubicBezTo>
                  <a:lnTo>
                    <a:pt x="4179062" y="748411"/>
                  </a:lnTo>
                  <a:cubicBezTo>
                    <a:pt x="4179062" y="757809"/>
                    <a:pt x="4171442" y="765302"/>
                    <a:pt x="416217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162171" y="731520"/>
                  </a:lnTo>
                  <a:lnTo>
                    <a:pt x="4162171" y="748411"/>
                  </a:lnTo>
                  <a:lnTo>
                    <a:pt x="4145280" y="748411"/>
                  </a:lnTo>
                  <a:lnTo>
                    <a:pt x="4145280" y="16891"/>
                  </a:lnTo>
                  <a:lnTo>
                    <a:pt x="4162171" y="16891"/>
                  </a:lnTo>
                  <a:lnTo>
                    <a:pt x="4162171" y="33909"/>
                  </a:lnTo>
                  <a:lnTo>
                    <a:pt x="16891" y="33909"/>
                  </a:lnTo>
                  <a:close/>
                </a:path>
              </a:pathLst>
            </a:custGeom>
            <a:solidFill>
              <a:srgbClr val="6EE7B7"/>
            </a:solidFill>
          </p:spPr>
        </p:sp>
      </p:grpSp>
      <p:grpSp>
        <p:nvGrpSpPr>
          <p:cNvPr name="Group 36" id="36"/>
          <p:cNvGrpSpPr/>
          <p:nvPr/>
        </p:nvGrpSpPr>
        <p:grpSpPr>
          <a:xfrm rot="0">
            <a:off x="5916570" y="8085449"/>
            <a:ext cx="3108960" cy="548640"/>
            <a:chOff x="0" y="0"/>
            <a:chExt cx="4145280" cy="731520"/>
          </a:xfrm>
        </p:grpSpPr>
        <p:sp>
          <p:nvSpPr>
            <p:cNvPr name="Freeform 37" id="37"/>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38" id="38"/>
            <p:cNvSpPr txBox="true"/>
            <p:nvPr/>
          </p:nvSpPr>
          <p:spPr>
            <a:xfrm>
              <a:off x="0" y="-38100"/>
              <a:ext cx="4145280" cy="769620"/>
            </a:xfrm>
            <a:prstGeom prst="rect">
              <a:avLst/>
            </a:prstGeom>
          </p:spPr>
          <p:txBody>
            <a:bodyPr anchor="ctr" rtlCol="false" tIns="0" lIns="0" bIns="0" rIns="0"/>
            <a:lstStyle/>
            <a:p>
              <a:pPr algn="ctr">
                <a:lnSpc>
                  <a:spcPts val="2039"/>
                </a:lnSpc>
              </a:pPr>
              <a:r>
                <a:rPr lang="en-US" sz="1700" b="true">
                  <a:solidFill>
                    <a:srgbClr val="10B981"/>
                  </a:solidFill>
                  <a:latin typeface="Calibri (MS) Bold"/>
                  <a:ea typeface="Calibri (MS) Bold"/>
                  <a:cs typeface="Calibri (MS) Bold"/>
                  <a:sym typeface="Calibri (MS) Bold"/>
                </a:rPr>
                <a:t>p = 0.581 ✓</a:t>
              </a:r>
            </a:p>
          </p:txBody>
        </p:sp>
      </p:grpSp>
      <p:grpSp>
        <p:nvGrpSpPr>
          <p:cNvPr name="Group 39" id="39"/>
          <p:cNvGrpSpPr/>
          <p:nvPr/>
        </p:nvGrpSpPr>
        <p:grpSpPr>
          <a:xfrm rot="0">
            <a:off x="914400" y="8725529"/>
            <a:ext cx="2370478" cy="548640"/>
            <a:chOff x="0" y="0"/>
            <a:chExt cx="3160637" cy="731520"/>
          </a:xfrm>
        </p:grpSpPr>
        <p:sp>
          <p:nvSpPr>
            <p:cNvPr name="Freeform 40" id="40"/>
            <p:cNvSpPr/>
            <p:nvPr/>
          </p:nvSpPr>
          <p:spPr>
            <a:xfrm flipH="false" flipV="false" rot="0">
              <a:off x="0" y="0"/>
              <a:ext cx="3160637" cy="731520"/>
            </a:xfrm>
            <a:custGeom>
              <a:avLst/>
              <a:gdLst/>
              <a:ahLst/>
              <a:cxnLst/>
              <a:rect r="r" b="b" t="t" l="l"/>
              <a:pathLst>
                <a:path h="731520" w="3160637">
                  <a:moveTo>
                    <a:pt x="0" y="0"/>
                  </a:moveTo>
                  <a:lnTo>
                    <a:pt x="3160637" y="0"/>
                  </a:lnTo>
                  <a:lnTo>
                    <a:pt x="3160637" y="731520"/>
                  </a:lnTo>
                  <a:lnTo>
                    <a:pt x="0" y="731520"/>
                  </a:lnTo>
                  <a:close/>
                </a:path>
              </a:pathLst>
            </a:custGeom>
            <a:blipFill>
              <a:blip r:embed="rId3">
                <a:alphaModFix amt="0"/>
              </a:blip>
              <a:stretch>
                <a:fillRect l="0" t="-92890" r="-69727" b="-92890"/>
              </a:stretch>
            </a:blipFill>
          </p:spPr>
        </p:sp>
        <p:sp>
          <p:nvSpPr>
            <p:cNvPr name="TextBox 41" id="41"/>
            <p:cNvSpPr txBox="true"/>
            <p:nvPr/>
          </p:nvSpPr>
          <p:spPr>
            <a:xfrm>
              <a:off x="0" y="-38100"/>
              <a:ext cx="3160637" cy="769620"/>
            </a:xfrm>
            <a:prstGeom prst="rect">
              <a:avLst/>
            </a:prstGeom>
          </p:spPr>
          <p:txBody>
            <a:bodyPr anchor="ctr" rtlCol="false" tIns="0" lIns="0" bIns="0" rIns="0"/>
            <a:lstStyle/>
            <a:p>
              <a:pPr algn="l">
                <a:lnSpc>
                  <a:spcPts val="2280"/>
                </a:lnSpc>
              </a:pPr>
              <a:r>
                <a:rPr lang="en-US" sz="1900">
                  <a:solidFill>
                    <a:srgbClr val="334155"/>
                  </a:solidFill>
                  <a:latin typeface="Calibri (MS)"/>
                  <a:ea typeface="Calibri (MS)"/>
                  <a:cs typeface="Calibri (MS)"/>
                  <a:sym typeface="Calibri (MS)"/>
                </a:rPr>
                <a:t>LB Squared (lag 10)</a:t>
              </a:r>
            </a:p>
          </p:txBody>
        </p:sp>
      </p:grpSp>
      <p:grpSp>
        <p:nvGrpSpPr>
          <p:cNvPr name="Group 42" id="42"/>
          <p:cNvGrpSpPr/>
          <p:nvPr/>
        </p:nvGrpSpPr>
        <p:grpSpPr>
          <a:xfrm rot="0">
            <a:off x="3252113" y="8712832"/>
            <a:ext cx="2494283" cy="574043"/>
            <a:chOff x="0" y="0"/>
            <a:chExt cx="3325711" cy="765391"/>
          </a:xfrm>
        </p:grpSpPr>
        <p:sp>
          <p:nvSpPr>
            <p:cNvPr name="Freeform 43" id="43"/>
            <p:cNvSpPr/>
            <p:nvPr/>
          </p:nvSpPr>
          <p:spPr>
            <a:xfrm flipH="false" flipV="false" rot="0">
              <a:off x="16891" y="16891"/>
              <a:ext cx="3291840" cy="731520"/>
            </a:xfrm>
            <a:custGeom>
              <a:avLst/>
              <a:gdLst/>
              <a:ahLst/>
              <a:cxnLst/>
              <a:rect r="r" b="b" t="t" l="l"/>
              <a:pathLst>
                <a:path h="731520" w="3291840">
                  <a:moveTo>
                    <a:pt x="0" y="0"/>
                  </a:moveTo>
                  <a:lnTo>
                    <a:pt x="3291840" y="0"/>
                  </a:lnTo>
                  <a:lnTo>
                    <a:pt x="3291840" y="731520"/>
                  </a:lnTo>
                  <a:lnTo>
                    <a:pt x="0" y="731520"/>
                  </a:lnTo>
                  <a:close/>
                </a:path>
              </a:pathLst>
            </a:custGeom>
            <a:solidFill>
              <a:srgbClr val="FEE2E2"/>
            </a:solidFill>
          </p:spPr>
        </p:sp>
        <p:sp>
          <p:nvSpPr>
            <p:cNvPr name="Freeform 44" id="44"/>
            <p:cNvSpPr/>
            <p:nvPr/>
          </p:nvSpPr>
          <p:spPr>
            <a:xfrm flipH="false" flipV="false" rot="0">
              <a:off x="0" y="0"/>
              <a:ext cx="3325622" cy="765304"/>
            </a:xfrm>
            <a:custGeom>
              <a:avLst/>
              <a:gdLst/>
              <a:ahLst/>
              <a:cxnLst/>
              <a:rect r="r" b="b" t="t" l="l"/>
              <a:pathLst>
                <a:path h="765304" w="3325622">
                  <a:moveTo>
                    <a:pt x="16891" y="0"/>
                  </a:moveTo>
                  <a:lnTo>
                    <a:pt x="3308731" y="0"/>
                  </a:lnTo>
                  <a:cubicBezTo>
                    <a:pt x="3318129" y="0"/>
                    <a:pt x="3325622" y="7620"/>
                    <a:pt x="3325622" y="16891"/>
                  </a:cubicBezTo>
                  <a:lnTo>
                    <a:pt x="3325622" y="748411"/>
                  </a:lnTo>
                  <a:cubicBezTo>
                    <a:pt x="3325622" y="757809"/>
                    <a:pt x="3318002" y="765302"/>
                    <a:pt x="330873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3308731" y="731520"/>
                  </a:lnTo>
                  <a:lnTo>
                    <a:pt x="3308731" y="748411"/>
                  </a:lnTo>
                  <a:lnTo>
                    <a:pt x="3291840" y="748411"/>
                  </a:lnTo>
                  <a:lnTo>
                    <a:pt x="3291840" y="16891"/>
                  </a:lnTo>
                  <a:lnTo>
                    <a:pt x="3308731" y="16891"/>
                  </a:lnTo>
                  <a:lnTo>
                    <a:pt x="3308731" y="33909"/>
                  </a:lnTo>
                  <a:lnTo>
                    <a:pt x="16891" y="33909"/>
                  </a:lnTo>
                  <a:close/>
                </a:path>
              </a:pathLst>
            </a:custGeom>
            <a:solidFill>
              <a:srgbClr val="FCA5A5"/>
            </a:solidFill>
          </p:spPr>
        </p:sp>
      </p:grpSp>
      <p:grpSp>
        <p:nvGrpSpPr>
          <p:cNvPr name="Group 45" id="45"/>
          <p:cNvGrpSpPr/>
          <p:nvPr/>
        </p:nvGrpSpPr>
        <p:grpSpPr>
          <a:xfrm rot="0">
            <a:off x="3264810" y="8725529"/>
            <a:ext cx="2468880" cy="548640"/>
            <a:chOff x="0" y="0"/>
            <a:chExt cx="3291840" cy="731520"/>
          </a:xfrm>
        </p:grpSpPr>
        <p:sp>
          <p:nvSpPr>
            <p:cNvPr name="Freeform 46" id="46"/>
            <p:cNvSpPr/>
            <p:nvPr/>
          </p:nvSpPr>
          <p:spPr>
            <a:xfrm flipH="false" flipV="false" rot="0">
              <a:off x="0" y="0"/>
              <a:ext cx="3291840" cy="731520"/>
            </a:xfrm>
            <a:custGeom>
              <a:avLst/>
              <a:gdLst/>
              <a:ahLst/>
              <a:cxnLst/>
              <a:rect r="r" b="b" t="t" l="l"/>
              <a:pathLst>
                <a:path h="731520" w="3291840">
                  <a:moveTo>
                    <a:pt x="0" y="0"/>
                  </a:moveTo>
                  <a:lnTo>
                    <a:pt x="3291840" y="0"/>
                  </a:lnTo>
                  <a:lnTo>
                    <a:pt x="3291840" y="731520"/>
                  </a:lnTo>
                  <a:lnTo>
                    <a:pt x="0" y="731520"/>
                  </a:lnTo>
                  <a:close/>
                </a:path>
              </a:pathLst>
            </a:custGeom>
            <a:blipFill>
              <a:blip r:embed="rId3">
                <a:alphaModFix amt="0"/>
              </a:blip>
              <a:stretch>
                <a:fillRect l="0" t="-37682" r="0" b="-37682"/>
              </a:stretch>
            </a:blipFill>
          </p:spPr>
        </p:sp>
        <p:sp>
          <p:nvSpPr>
            <p:cNvPr name="TextBox 47" id="47"/>
            <p:cNvSpPr txBox="true"/>
            <p:nvPr/>
          </p:nvSpPr>
          <p:spPr>
            <a:xfrm>
              <a:off x="0" y="-38100"/>
              <a:ext cx="3291840" cy="769620"/>
            </a:xfrm>
            <a:prstGeom prst="rect">
              <a:avLst/>
            </a:prstGeom>
          </p:spPr>
          <p:txBody>
            <a:bodyPr anchor="ctr" rtlCol="false" tIns="0" lIns="0" bIns="0" rIns="0"/>
            <a:lstStyle/>
            <a:p>
              <a:pPr algn="ctr">
                <a:lnSpc>
                  <a:spcPts val="2039"/>
                </a:lnSpc>
              </a:pPr>
              <a:r>
                <a:rPr lang="en-US" sz="1700" b="true">
                  <a:solidFill>
                    <a:srgbClr val="EF4444"/>
                  </a:solidFill>
                  <a:latin typeface="Calibri (MS) Bold"/>
                  <a:ea typeface="Calibri (MS) Bold"/>
                  <a:cs typeface="Calibri (MS) Bold"/>
                  <a:sym typeface="Calibri (MS) Bold"/>
                </a:rPr>
                <a:t>significant ❌</a:t>
              </a:r>
            </a:p>
          </p:txBody>
        </p:sp>
      </p:grpSp>
      <p:grpSp>
        <p:nvGrpSpPr>
          <p:cNvPr name="Group 48" id="48"/>
          <p:cNvGrpSpPr/>
          <p:nvPr/>
        </p:nvGrpSpPr>
        <p:grpSpPr>
          <a:xfrm rot="0">
            <a:off x="5903873" y="8712832"/>
            <a:ext cx="3134363" cy="574043"/>
            <a:chOff x="0" y="0"/>
            <a:chExt cx="4179151" cy="765391"/>
          </a:xfrm>
        </p:grpSpPr>
        <p:sp>
          <p:nvSpPr>
            <p:cNvPr name="Freeform 49" id="49"/>
            <p:cNvSpPr/>
            <p:nvPr/>
          </p:nvSpPr>
          <p:spPr>
            <a:xfrm flipH="false" flipV="false" rot="0">
              <a:off x="16891" y="16891"/>
              <a:ext cx="4145280" cy="731520"/>
            </a:xfrm>
            <a:custGeom>
              <a:avLst/>
              <a:gdLst/>
              <a:ahLst/>
              <a:cxnLst/>
              <a:rect r="r" b="b" t="t" l="l"/>
              <a:pathLst>
                <a:path h="731520" w="4145280">
                  <a:moveTo>
                    <a:pt x="0" y="0"/>
                  </a:moveTo>
                  <a:lnTo>
                    <a:pt x="4145280" y="0"/>
                  </a:lnTo>
                  <a:lnTo>
                    <a:pt x="4145280" y="731520"/>
                  </a:lnTo>
                  <a:lnTo>
                    <a:pt x="0" y="731520"/>
                  </a:lnTo>
                  <a:close/>
                </a:path>
              </a:pathLst>
            </a:custGeom>
            <a:solidFill>
              <a:srgbClr val="D1FAE5"/>
            </a:solidFill>
          </p:spPr>
        </p:sp>
        <p:sp>
          <p:nvSpPr>
            <p:cNvPr name="Freeform 50" id="50"/>
            <p:cNvSpPr/>
            <p:nvPr/>
          </p:nvSpPr>
          <p:spPr>
            <a:xfrm flipH="false" flipV="false" rot="0">
              <a:off x="0" y="0"/>
              <a:ext cx="4179062" cy="765304"/>
            </a:xfrm>
            <a:custGeom>
              <a:avLst/>
              <a:gdLst/>
              <a:ahLst/>
              <a:cxnLst/>
              <a:rect r="r" b="b" t="t" l="l"/>
              <a:pathLst>
                <a:path h="765304" w="4179062">
                  <a:moveTo>
                    <a:pt x="16891" y="0"/>
                  </a:moveTo>
                  <a:lnTo>
                    <a:pt x="4162171" y="0"/>
                  </a:lnTo>
                  <a:cubicBezTo>
                    <a:pt x="4171569" y="0"/>
                    <a:pt x="4179062" y="7620"/>
                    <a:pt x="4179062" y="16891"/>
                  </a:cubicBezTo>
                  <a:lnTo>
                    <a:pt x="4179062" y="748411"/>
                  </a:lnTo>
                  <a:cubicBezTo>
                    <a:pt x="4179062" y="757809"/>
                    <a:pt x="4171442" y="765302"/>
                    <a:pt x="4162171" y="765302"/>
                  </a:cubicBezTo>
                  <a:lnTo>
                    <a:pt x="16891" y="765302"/>
                  </a:lnTo>
                  <a:cubicBezTo>
                    <a:pt x="7620" y="765429"/>
                    <a:pt x="0" y="757809"/>
                    <a:pt x="0" y="748411"/>
                  </a:cubicBezTo>
                  <a:lnTo>
                    <a:pt x="0" y="16891"/>
                  </a:lnTo>
                  <a:cubicBezTo>
                    <a:pt x="0" y="7620"/>
                    <a:pt x="7620" y="0"/>
                    <a:pt x="16891" y="0"/>
                  </a:cubicBezTo>
                  <a:moveTo>
                    <a:pt x="16891" y="33909"/>
                  </a:moveTo>
                  <a:lnTo>
                    <a:pt x="16891" y="16891"/>
                  </a:lnTo>
                  <a:lnTo>
                    <a:pt x="33909" y="16891"/>
                  </a:lnTo>
                  <a:lnTo>
                    <a:pt x="33909" y="748411"/>
                  </a:lnTo>
                  <a:lnTo>
                    <a:pt x="16891" y="748411"/>
                  </a:lnTo>
                  <a:lnTo>
                    <a:pt x="16891" y="731520"/>
                  </a:lnTo>
                  <a:lnTo>
                    <a:pt x="4162171" y="731520"/>
                  </a:lnTo>
                  <a:lnTo>
                    <a:pt x="4162171" y="748411"/>
                  </a:lnTo>
                  <a:lnTo>
                    <a:pt x="4145280" y="748411"/>
                  </a:lnTo>
                  <a:lnTo>
                    <a:pt x="4145280" y="16891"/>
                  </a:lnTo>
                  <a:lnTo>
                    <a:pt x="4162171" y="16891"/>
                  </a:lnTo>
                  <a:lnTo>
                    <a:pt x="4162171" y="33909"/>
                  </a:lnTo>
                  <a:lnTo>
                    <a:pt x="16891" y="33909"/>
                  </a:lnTo>
                  <a:close/>
                </a:path>
              </a:pathLst>
            </a:custGeom>
            <a:solidFill>
              <a:srgbClr val="6EE7B7"/>
            </a:solidFill>
          </p:spPr>
        </p:sp>
      </p:grpSp>
      <p:grpSp>
        <p:nvGrpSpPr>
          <p:cNvPr name="Group 51" id="51"/>
          <p:cNvGrpSpPr/>
          <p:nvPr/>
        </p:nvGrpSpPr>
        <p:grpSpPr>
          <a:xfrm rot="0">
            <a:off x="5916570" y="8725529"/>
            <a:ext cx="3108960" cy="548640"/>
            <a:chOff x="0" y="0"/>
            <a:chExt cx="4145280" cy="731520"/>
          </a:xfrm>
        </p:grpSpPr>
        <p:sp>
          <p:nvSpPr>
            <p:cNvPr name="Freeform 52" id="52"/>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53" id="53"/>
            <p:cNvSpPr txBox="true"/>
            <p:nvPr/>
          </p:nvSpPr>
          <p:spPr>
            <a:xfrm>
              <a:off x="0" y="-38100"/>
              <a:ext cx="4145280" cy="769620"/>
            </a:xfrm>
            <a:prstGeom prst="rect">
              <a:avLst/>
            </a:prstGeom>
          </p:spPr>
          <p:txBody>
            <a:bodyPr anchor="ctr" rtlCol="false" tIns="0" lIns="0" bIns="0" rIns="0"/>
            <a:lstStyle/>
            <a:p>
              <a:pPr algn="ctr">
                <a:lnSpc>
                  <a:spcPts val="2039"/>
                </a:lnSpc>
              </a:pPr>
              <a:r>
                <a:rPr lang="en-US" sz="1700" b="true">
                  <a:solidFill>
                    <a:srgbClr val="10B981"/>
                  </a:solidFill>
                  <a:latin typeface="Calibri (MS) Bold"/>
                  <a:ea typeface="Calibri (MS) Bold"/>
                  <a:cs typeface="Calibri (MS) Bold"/>
                  <a:sym typeface="Calibri (MS) Bold"/>
                </a:rPr>
                <a:t>p = 0.638 ✓</a:t>
              </a:r>
            </a:p>
          </p:txBody>
        </p:sp>
      </p:grpSp>
      <p:grpSp>
        <p:nvGrpSpPr>
          <p:cNvPr name="Group 54" id="54"/>
          <p:cNvGrpSpPr/>
          <p:nvPr/>
        </p:nvGrpSpPr>
        <p:grpSpPr>
          <a:xfrm rot="0">
            <a:off x="914400" y="289055"/>
            <a:ext cx="1031243" cy="1031243"/>
            <a:chOff x="0" y="0"/>
            <a:chExt cx="1374991" cy="1374991"/>
          </a:xfrm>
        </p:grpSpPr>
        <p:sp>
          <p:nvSpPr>
            <p:cNvPr name="Freeform 55" id="55"/>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56" id="56"/>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57" id="57"/>
          <p:cNvGrpSpPr/>
          <p:nvPr/>
        </p:nvGrpSpPr>
        <p:grpSpPr>
          <a:xfrm rot="0">
            <a:off x="927097" y="301752"/>
            <a:ext cx="1005840" cy="1005840"/>
            <a:chOff x="0" y="0"/>
            <a:chExt cx="1341120" cy="1341120"/>
          </a:xfrm>
        </p:grpSpPr>
        <p:sp>
          <p:nvSpPr>
            <p:cNvPr name="Freeform 58" id="58"/>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59" id="59"/>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04</a:t>
              </a:r>
            </a:p>
          </p:txBody>
        </p:sp>
      </p:grpSp>
      <p:grpSp>
        <p:nvGrpSpPr>
          <p:cNvPr name="Group 60" id="60"/>
          <p:cNvGrpSpPr/>
          <p:nvPr/>
        </p:nvGrpSpPr>
        <p:grpSpPr>
          <a:xfrm rot="0">
            <a:off x="3252113" y="7458837"/>
            <a:ext cx="2468880" cy="548640"/>
            <a:chOff x="0" y="0"/>
            <a:chExt cx="3291840" cy="731520"/>
          </a:xfrm>
        </p:grpSpPr>
        <p:sp>
          <p:nvSpPr>
            <p:cNvPr name="Freeform 61" id="61"/>
            <p:cNvSpPr/>
            <p:nvPr/>
          </p:nvSpPr>
          <p:spPr>
            <a:xfrm flipH="false" flipV="false" rot="0">
              <a:off x="0" y="0"/>
              <a:ext cx="3291840" cy="731520"/>
            </a:xfrm>
            <a:custGeom>
              <a:avLst/>
              <a:gdLst/>
              <a:ahLst/>
              <a:cxnLst/>
              <a:rect r="r" b="b" t="t" l="l"/>
              <a:pathLst>
                <a:path h="731520" w="3291840">
                  <a:moveTo>
                    <a:pt x="0" y="0"/>
                  </a:moveTo>
                  <a:lnTo>
                    <a:pt x="3291840" y="0"/>
                  </a:lnTo>
                  <a:lnTo>
                    <a:pt x="3291840" y="731520"/>
                  </a:lnTo>
                  <a:lnTo>
                    <a:pt x="0" y="731520"/>
                  </a:lnTo>
                  <a:close/>
                </a:path>
              </a:pathLst>
            </a:custGeom>
            <a:blipFill>
              <a:blip r:embed="rId3">
                <a:alphaModFix amt="0"/>
              </a:blip>
              <a:stretch>
                <a:fillRect l="0" t="-37682" r="0" b="-37682"/>
              </a:stretch>
            </a:blipFill>
          </p:spPr>
        </p:sp>
        <p:sp>
          <p:nvSpPr>
            <p:cNvPr name="TextBox 62" id="62"/>
            <p:cNvSpPr txBox="true"/>
            <p:nvPr/>
          </p:nvSpPr>
          <p:spPr>
            <a:xfrm>
              <a:off x="0" y="-38100"/>
              <a:ext cx="3291840" cy="769620"/>
            </a:xfrm>
            <a:prstGeom prst="rect">
              <a:avLst/>
            </a:prstGeom>
          </p:spPr>
          <p:txBody>
            <a:bodyPr anchor="ctr" rtlCol="false" tIns="0" lIns="0" bIns="0" rIns="0"/>
            <a:lstStyle/>
            <a:p>
              <a:pPr algn="ctr">
                <a:lnSpc>
                  <a:spcPts val="2039"/>
                </a:lnSpc>
              </a:pPr>
              <a:r>
                <a:rPr lang="en-US" sz="1700" b="true">
                  <a:solidFill>
                    <a:srgbClr val="EF4444"/>
                  </a:solidFill>
                  <a:latin typeface="Calibri (MS) Bold"/>
                  <a:ea typeface="Calibri (MS) Bold"/>
                  <a:cs typeface="Calibri (MS) Bold"/>
                  <a:sym typeface="Calibri (MS) Bold"/>
                </a:rPr>
                <a:t>Before</a:t>
              </a:r>
            </a:p>
          </p:txBody>
        </p:sp>
      </p:grpSp>
      <p:grpSp>
        <p:nvGrpSpPr>
          <p:cNvPr name="Group 63" id="63"/>
          <p:cNvGrpSpPr/>
          <p:nvPr/>
        </p:nvGrpSpPr>
        <p:grpSpPr>
          <a:xfrm rot="0">
            <a:off x="5916575" y="7458837"/>
            <a:ext cx="3108960" cy="548640"/>
            <a:chOff x="0" y="0"/>
            <a:chExt cx="4145280" cy="731520"/>
          </a:xfrm>
        </p:grpSpPr>
        <p:sp>
          <p:nvSpPr>
            <p:cNvPr name="Freeform 64" id="64"/>
            <p:cNvSpPr/>
            <p:nvPr/>
          </p:nvSpPr>
          <p:spPr>
            <a:xfrm flipH="false" flipV="false" rot="0">
              <a:off x="0" y="0"/>
              <a:ext cx="4145280" cy="731520"/>
            </a:xfrm>
            <a:custGeom>
              <a:avLst/>
              <a:gdLst/>
              <a:ahLst/>
              <a:cxnLst/>
              <a:rect r="r" b="b" t="t" l="l"/>
              <a:pathLst>
                <a:path h="731520" w="4145280">
                  <a:moveTo>
                    <a:pt x="0" y="0"/>
                  </a:moveTo>
                  <a:lnTo>
                    <a:pt x="4145280" y="0"/>
                  </a:lnTo>
                  <a:lnTo>
                    <a:pt x="4145280" y="731520"/>
                  </a:lnTo>
                  <a:lnTo>
                    <a:pt x="0" y="731520"/>
                  </a:lnTo>
                  <a:close/>
                </a:path>
              </a:pathLst>
            </a:custGeom>
            <a:blipFill>
              <a:blip r:embed="rId3">
                <a:alphaModFix amt="0"/>
              </a:blip>
              <a:stretch>
                <a:fillRect l="0" t="-60415" r="0" b="-60415"/>
              </a:stretch>
            </a:blipFill>
          </p:spPr>
        </p:sp>
        <p:sp>
          <p:nvSpPr>
            <p:cNvPr name="TextBox 65" id="65"/>
            <p:cNvSpPr txBox="true"/>
            <p:nvPr/>
          </p:nvSpPr>
          <p:spPr>
            <a:xfrm>
              <a:off x="0" y="-38100"/>
              <a:ext cx="4145280" cy="769620"/>
            </a:xfrm>
            <a:prstGeom prst="rect">
              <a:avLst/>
            </a:prstGeom>
          </p:spPr>
          <p:txBody>
            <a:bodyPr anchor="ctr" rtlCol="false" tIns="0" lIns="0" bIns="0" rIns="0"/>
            <a:lstStyle/>
            <a:p>
              <a:pPr algn="ctr">
                <a:lnSpc>
                  <a:spcPts val="2039"/>
                </a:lnSpc>
              </a:pPr>
              <a:r>
                <a:rPr lang="en-US" sz="1700" b="true">
                  <a:solidFill>
                    <a:srgbClr val="10B981"/>
                  </a:solidFill>
                  <a:latin typeface="Calibri (MS) Bold"/>
                  <a:ea typeface="Calibri (MS) Bold"/>
                  <a:cs typeface="Calibri (MS) Bold"/>
                  <a:sym typeface="Calibri (MS) Bold"/>
                </a:rPr>
                <a:t>After</a:t>
              </a:r>
            </a:p>
          </p:txBody>
        </p:sp>
      </p:grpSp>
      <p:sp>
        <p:nvSpPr>
          <p:cNvPr name="Freeform 66" id="66"/>
          <p:cNvSpPr/>
          <p:nvPr/>
        </p:nvSpPr>
        <p:spPr>
          <a:xfrm flipH="false" flipV="false" rot="0">
            <a:off x="9296239" y="2783205"/>
            <a:ext cx="4331523" cy="2751036"/>
          </a:xfrm>
          <a:custGeom>
            <a:avLst/>
            <a:gdLst/>
            <a:ahLst/>
            <a:cxnLst/>
            <a:rect r="r" b="b" t="t" l="l"/>
            <a:pathLst>
              <a:path h="2751036" w="4331523">
                <a:moveTo>
                  <a:pt x="0" y="0"/>
                </a:moveTo>
                <a:lnTo>
                  <a:pt x="4331523" y="0"/>
                </a:lnTo>
                <a:lnTo>
                  <a:pt x="4331523" y="2751036"/>
                </a:lnTo>
                <a:lnTo>
                  <a:pt x="0" y="2751036"/>
                </a:lnTo>
                <a:lnTo>
                  <a:pt x="0" y="0"/>
                </a:lnTo>
                <a:close/>
              </a:path>
            </a:pathLst>
          </a:custGeom>
          <a:blipFill>
            <a:blip r:embed="rId4"/>
            <a:stretch>
              <a:fillRect l="0" t="0" r="0" b="0"/>
            </a:stretch>
          </a:blipFill>
          <a:ln w="38100" cap="sq">
            <a:solidFill>
              <a:srgbClr val="000000"/>
            </a:solidFill>
            <a:prstDash val="solid"/>
            <a:miter/>
          </a:ln>
        </p:spPr>
      </p:sp>
      <p:sp>
        <p:nvSpPr>
          <p:cNvPr name="Freeform 67" id="67"/>
          <p:cNvSpPr/>
          <p:nvPr/>
        </p:nvSpPr>
        <p:spPr>
          <a:xfrm flipH="false" flipV="false" rot="0">
            <a:off x="9296239" y="6041575"/>
            <a:ext cx="4331523" cy="2834524"/>
          </a:xfrm>
          <a:custGeom>
            <a:avLst/>
            <a:gdLst/>
            <a:ahLst/>
            <a:cxnLst/>
            <a:rect r="r" b="b" t="t" l="l"/>
            <a:pathLst>
              <a:path h="2834524" w="4331523">
                <a:moveTo>
                  <a:pt x="0" y="0"/>
                </a:moveTo>
                <a:lnTo>
                  <a:pt x="4331523" y="0"/>
                </a:lnTo>
                <a:lnTo>
                  <a:pt x="4331523" y="2834524"/>
                </a:lnTo>
                <a:lnTo>
                  <a:pt x="0" y="2834524"/>
                </a:lnTo>
                <a:lnTo>
                  <a:pt x="0" y="0"/>
                </a:lnTo>
                <a:close/>
              </a:path>
            </a:pathLst>
          </a:custGeom>
          <a:blipFill>
            <a:blip r:embed="rId5"/>
            <a:stretch>
              <a:fillRect l="0" t="0" r="0" b="0"/>
            </a:stretch>
          </a:blipFill>
          <a:ln w="38100" cap="sq">
            <a:solidFill>
              <a:srgbClr val="000000"/>
            </a:solidFill>
            <a:prstDash val="solid"/>
            <a:miter/>
          </a:ln>
        </p:spPr>
      </p:sp>
      <p:sp>
        <p:nvSpPr>
          <p:cNvPr name="Freeform 68" id="68"/>
          <p:cNvSpPr/>
          <p:nvPr/>
        </p:nvSpPr>
        <p:spPr>
          <a:xfrm flipH="false" flipV="false" rot="0">
            <a:off x="13884937" y="2783205"/>
            <a:ext cx="4235004" cy="2667027"/>
          </a:xfrm>
          <a:custGeom>
            <a:avLst/>
            <a:gdLst/>
            <a:ahLst/>
            <a:cxnLst/>
            <a:rect r="r" b="b" t="t" l="l"/>
            <a:pathLst>
              <a:path h="2667027" w="4235004">
                <a:moveTo>
                  <a:pt x="0" y="0"/>
                </a:moveTo>
                <a:lnTo>
                  <a:pt x="4235004" y="0"/>
                </a:lnTo>
                <a:lnTo>
                  <a:pt x="4235004" y="2667027"/>
                </a:lnTo>
                <a:lnTo>
                  <a:pt x="0" y="2667027"/>
                </a:lnTo>
                <a:lnTo>
                  <a:pt x="0" y="0"/>
                </a:lnTo>
                <a:close/>
              </a:path>
            </a:pathLst>
          </a:custGeom>
          <a:blipFill>
            <a:blip r:embed="rId6"/>
            <a:stretch>
              <a:fillRect l="0" t="0" r="0" b="0"/>
            </a:stretch>
          </a:blipFill>
          <a:ln w="38100" cap="sq">
            <a:solidFill>
              <a:srgbClr val="000000"/>
            </a:solidFill>
            <a:prstDash val="solid"/>
            <a:miter/>
          </a:ln>
        </p:spPr>
      </p:sp>
      <p:sp>
        <p:nvSpPr>
          <p:cNvPr name="Freeform 69" id="69"/>
          <p:cNvSpPr/>
          <p:nvPr/>
        </p:nvSpPr>
        <p:spPr>
          <a:xfrm flipH="false" flipV="false" rot="0">
            <a:off x="13884937" y="6110686"/>
            <a:ext cx="4235004" cy="2765413"/>
          </a:xfrm>
          <a:custGeom>
            <a:avLst/>
            <a:gdLst/>
            <a:ahLst/>
            <a:cxnLst/>
            <a:rect r="r" b="b" t="t" l="l"/>
            <a:pathLst>
              <a:path h="2765413" w="4235004">
                <a:moveTo>
                  <a:pt x="0" y="0"/>
                </a:moveTo>
                <a:lnTo>
                  <a:pt x="4235004" y="0"/>
                </a:lnTo>
                <a:lnTo>
                  <a:pt x="4235004" y="2765413"/>
                </a:lnTo>
                <a:lnTo>
                  <a:pt x="0" y="2765413"/>
                </a:lnTo>
                <a:lnTo>
                  <a:pt x="0" y="0"/>
                </a:lnTo>
                <a:close/>
              </a:path>
            </a:pathLst>
          </a:custGeom>
          <a:blipFill>
            <a:blip r:embed="rId7"/>
            <a:stretch>
              <a:fillRect l="0" t="0" r="0" b="0"/>
            </a:stretch>
          </a:blipFill>
          <a:ln w="38100" cap="sq">
            <a:solidFill>
              <a:srgbClr val="000000"/>
            </a:solidFill>
            <a:prstDash val="solid"/>
            <a:miter/>
          </a:ln>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268217"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280914"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3 · GARCH</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Conditional Volatility</a:t>
              </a:r>
            </a:p>
          </p:txBody>
        </p:sp>
      </p:grpSp>
      <p:grpSp>
        <p:nvGrpSpPr>
          <p:cNvPr name="Group 11" id="11"/>
          <p:cNvGrpSpPr/>
          <p:nvPr/>
        </p:nvGrpSpPr>
        <p:grpSpPr>
          <a:xfrm rot="0">
            <a:off x="10478751" y="2960498"/>
            <a:ext cx="6489724" cy="5648715"/>
            <a:chOff x="0" y="0"/>
            <a:chExt cx="1709228" cy="1487728"/>
          </a:xfrm>
        </p:grpSpPr>
        <p:sp>
          <p:nvSpPr>
            <p:cNvPr name="Freeform 12" id="12"/>
            <p:cNvSpPr/>
            <p:nvPr/>
          </p:nvSpPr>
          <p:spPr>
            <a:xfrm flipH="false" flipV="false" rot="0">
              <a:off x="0" y="0"/>
              <a:ext cx="1709228" cy="1487728"/>
            </a:xfrm>
            <a:custGeom>
              <a:avLst/>
              <a:gdLst/>
              <a:ahLst/>
              <a:cxnLst/>
              <a:rect r="r" b="b" t="t" l="l"/>
              <a:pathLst>
                <a:path h="1487728" w="1709228">
                  <a:moveTo>
                    <a:pt x="0" y="0"/>
                  </a:moveTo>
                  <a:lnTo>
                    <a:pt x="1709228" y="0"/>
                  </a:lnTo>
                  <a:lnTo>
                    <a:pt x="1709228" y="1487728"/>
                  </a:lnTo>
                  <a:lnTo>
                    <a:pt x="0" y="1487728"/>
                  </a:lnTo>
                  <a:close/>
                </a:path>
              </a:pathLst>
            </a:custGeom>
            <a:solidFill>
              <a:srgbClr val="FEF3C7"/>
            </a:solidFill>
          </p:spPr>
        </p:sp>
        <p:sp>
          <p:nvSpPr>
            <p:cNvPr name="TextBox 13" id="13"/>
            <p:cNvSpPr txBox="true"/>
            <p:nvPr/>
          </p:nvSpPr>
          <p:spPr>
            <a:xfrm>
              <a:off x="0" y="-38100"/>
              <a:ext cx="1709228" cy="1525828"/>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10617212" y="3803724"/>
            <a:ext cx="6126480" cy="4527723"/>
            <a:chOff x="0" y="0"/>
            <a:chExt cx="8168640" cy="6036965"/>
          </a:xfrm>
        </p:grpSpPr>
        <p:sp>
          <p:nvSpPr>
            <p:cNvPr name="Freeform 15" id="15"/>
            <p:cNvSpPr/>
            <p:nvPr/>
          </p:nvSpPr>
          <p:spPr>
            <a:xfrm flipH="false" flipV="false" rot="0">
              <a:off x="0" y="0"/>
              <a:ext cx="8168640" cy="6036964"/>
            </a:xfrm>
            <a:custGeom>
              <a:avLst/>
              <a:gdLst/>
              <a:ahLst/>
              <a:cxnLst/>
              <a:rect r="r" b="b" t="t" l="l"/>
              <a:pathLst>
                <a:path h="6036964" w="8168640">
                  <a:moveTo>
                    <a:pt x="0" y="0"/>
                  </a:moveTo>
                  <a:lnTo>
                    <a:pt x="8168640" y="0"/>
                  </a:lnTo>
                  <a:lnTo>
                    <a:pt x="8168640" y="6036964"/>
                  </a:lnTo>
                  <a:lnTo>
                    <a:pt x="0" y="6036964"/>
                  </a:lnTo>
                  <a:close/>
                </a:path>
              </a:pathLst>
            </a:custGeom>
            <a:blipFill>
              <a:blip r:embed="rId3">
                <a:alphaModFix amt="0"/>
              </a:blip>
              <a:stretch>
                <a:fillRect l="0" t="-11218" r="0" b="58488"/>
              </a:stretch>
            </a:blipFill>
          </p:spPr>
        </p:sp>
        <p:sp>
          <p:nvSpPr>
            <p:cNvPr name="TextBox 16" id="16"/>
            <p:cNvSpPr txBox="true"/>
            <p:nvPr/>
          </p:nvSpPr>
          <p:spPr>
            <a:xfrm>
              <a:off x="0" y="-47625"/>
              <a:ext cx="8168640" cy="6084590"/>
            </a:xfrm>
            <a:prstGeom prst="rect">
              <a:avLst/>
            </a:prstGeom>
          </p:spPr>
          <p:txBody>
            <a:bodyPr anchor="ctr" rtlCol="false" tIns="0" lIns="0" bIns="0" rIns="0"/>
            <a:lstStyle/>
            <a:p>
              <a:pPr algn="l" marL="431799" indent="-215899" lvl="1">
                <a:lnSpc>
                  <a:spcPts val="2399"/>
                </a:lnSpc>
                <a:buFont typeface="Arial"/>
                <a:buChar char="•"/>
              </a:pPr>
              <a:r>
                <a:rPr lang="en-US" sz="1999">
                  <a:solidFill>
                    <a:srgbClr val="334155"/>
                  </a:solidFill>
                  <a:latin typeface="Calibri (MS)"/>
                  <a:ea typeface="Calibri (MS)"/>
                  <a:cs typeface="Calibri (MS)"/>
                  <a:sym typeface="Calibri (MS)"/>
                </a:rPr>
                <a:t>Pre-2020: Low, stable volatility consistent with the prolonged bull  market following the 2015–2016 correction. </a:t>
              </a:r>
            </a:p>
            <a:p>
              <a:pPr algn="l" marL="431799" indent="-215899" lvl="1">
                <a:lnSpc>
                  <a:spcPts val="2399"/>
                </a:lnSpc>
                <a:buFont typeface="Arial"/>
                <a:buChar char="•"/>
              </a:pPr>
              <a:r>
                <a:rPr lang="en-US" sz="1999">
                  <a:solidFill>
                    <a:srgbClr val="334155"/>
                  </a:solidFill>
                  <a:latin typeface="Calibri (MS)"/>
                  <a:ea typeface="Calibri (MS)"/>
                  <a:cs typeface="Calibri (MS)"/>
                  <a:sym typeface="Calibri (MS)"/>
                </a:rPr>
                <a:t>COVID-19 Spike (Mar 2020): Largest volatility surge in the full sample.  Confirms the structural break identified in Task 1.</a:t>
              </a:r>
            </a:p>
            <a:p>
              <a:pPr algn="l" marL="431799" indent="-215899" lvl="1">
                <a:lnSpc>
                  <a:spcPts val="2399"/>
                </a:lnSpc>
                <a:buFont typeface="Arial"/>
                <a:buChar char="•"/>
              </a:pPr>
              <a:r>
                <a:rPr lang="en-US" sz="1999">
                  <a:solidFill>
                    <a:srgbClr val="334155"/>
                  </a:solidFill>
                  <a:latin typeface="Calibri (MS)"/>
                  <a:ea typeface="Calibri (MS)"/>
                  <a:cs typeface="Calibri (MS)"/>
                  <a:sym typeface="Calibri (MS)"/>
                </a:rPr>
                <a:t>Post-2020 Recovery: Gradual decline but remains elevated above pre-COVID  levels — driven by high GARCH persistence (β₁ = 0.866). </a:t>
              </a:r>
            </a:p>
            <a:p>
              <a:pPr algn="l" marL="431799" indent="-215899" lvl="1">
                <a:lnSpc>
                  <a:spcPts val="2399"/>
                </a:lnSpc>
                <a:buFont typeface="Arial"/>
                <a:buChar char="•"/>
              </a:pPr>
              <a:r>
                <a:rPr lang="en-US" sz="1999">
                  <a:solidFill>
                    <a:srgbClr val="334155"/>
                  </a:solidFill>
                  <a:latin typeface="Calibri (MS)"/>
                  <a:ea typeface="Calibri (MS)"/>
                  <a:cs typeface="Calibri (MS)"/>
                  <a:sym typeface="Calibri (MS)"/>
                </a:rPr>
                <a:t>2022 Correction: Secondary spike linked to the Federal Reserve's  aggressive interest rate hiking cycle and the broad equity selloff.</a:t>
              </a:r>
            </a:p>
            <a:p>
              <a:pPr algn="l" marL="431799" indent="-215899" lvl="1">
                <a:lnSpc>
                  <a:spcPts val="2399"/>
                </a:lnSpc>
                <a:buFont typeface="Arial"/>
                <a:buChar char="•"/>
              </a:pPr>
              <a:r>
                <a:rPr lang="en-US" sz="1999">
                  <a:solidFill>
                    <a:srgbClr val="334155"/>
                  </a:solidFill>
                  <a:latin typeface="Calibri (MS)"/>
                  <a:ea typeface="Calibri (MS)"/>
                  <a:cs typeface="Calibri (MS)"/>
                  <a:sym typeface="Calibri (MS)"/>
                </a:rPr>
                <a:t>Conclusion: GARCH(1,1)-t successfully captures all four volatility  regimes that the SARIMA conditional mean model entirely misses.</a:t>
              </a:r>
            </a:p>
          </p:txBody>
        </p:sp>
      </p:grpSp>
      <p:grpSp>
        <p:nvGrpSpPr>
          <p:cNvPr name="Group 17" id="17"/>
          <p:cNvGrpSpPr/>
          <p:nvPr/>
        </p:nvGrpSpPr>
        <p:grpSpPr>
          <a:xfrm rot="0">
            <a:off x="914400" y="289055"/>
            <a:ext cx="1031243" cy="1031243"/>
            <a:chOff x="0" y="0"/>
            <a:chExt cx="1374991" cy="1374991"/>
          </a:xfrm>
        </p:grpSpPr>
        <p:sp>
          <p:nvSpPr>
            <p:cNvPr name="Freeform 18" id="18"/>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19" id="19"/>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20" id="20"/>
          <p:cNvGrpSpPr/>
          <p:nvPr/>
        </p:nvGrpSpPr>
        <p:grpSpPr>
          <a:xfrm rot="0">
            <a:off x="927097" y="301752"/>
            <a:ext cx="1005840" cy="1005840"/>
            <a:chOff x="0" y="0"/>
            <a:chExt cx="1341120" cy="1341120"/>
          </a:xfrm>
        </p:grpSpPr>
        <p:sp>
          <p:nvSpPr>
            <p:cNvPr name="Freeform 21" id="21"/>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22" id="22"/>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04</a:t>
              </a:r>
            </a:p>
          </p:txBody>
        </p:sp>
      </p:grpSp>
      <p:grpSp>
        <p:nvGrpSpPr>
          <p:cNvPr name="Group 23" id="23"/>
          <p:cNvGrpSpPr/>
          <p:nvPr/>
        </p:nvGrpSpPr>
        <p:grpSpPr>
          <a:xfrm rot="0">
            <a:off x="11649493" y="3104104"/>
            <a:ext cx="4061918" cy="512064"/>
            <a:chOff x="0" y="0"/>
            <a:chExt cx="5415891" cy="682752"/>
          </a:xfrm>
        </p:grpSpPr>
        <p:sp>
          <p:nvSpPr>
            <p:cNvPr name="Freeform 24" id="24"/>
            <p:cNvSpPr/>
            <p:nvPr/>
          </p:nvSpPr>
          <p:spPr>
            <a:xfrm flipH="false" flipV="false" rot="0">
              <a:off x="0" y="0"/>
              <a:ext cx="5415891" cy="682752"/>
            </a:xfrm>
            <a:custGeom>
              <a:avLst/>
              <a:gdLst/>
              <a:ahLst/>
              <a:cxnLst/>
              <a:rect r="r" b="b" t="t" l="l"/>
              <a:pathLst>
                <a:path h="682752" w="5415891">
                  <a:moveTo>
                    <a:pt x="0" y="0"/>
                  </a:moveTo>
                  <a:lnTo>
                    <a:pt x="5415891" y="0"/>
                  </a:lnTo>
                  <a:lnTo>
                    <a:pt x="5415891" y="682752"/>
                  </a:lnTo>
                  <a:lnTo>
                    <a:pt x="0" y="682752"/>
                  </a:lnTo>
                  <a:close/>
                </a:path>
              </a:pathLst>
            </a:custGeom>
            <a:blipFill>
              <a:blip r:embed="rId3">
                <a:alphaModFix amt="0"/>
              </a:blip>
              <a:stretch>
                <a:fillRect l="0" t="-332741" r="-147626" b="-332741"/>
              </a:stretch>
            </a:blipFill>
          </p:spPr>
        </p:sp>
        <p:sp>
          <p:nvSpPr>
            <p:cNvPr name="TextBox 25" id="25"/>
            <p:cNvSpPr txBox="true"/>
            <p:nvPr/>
          </p:nvSpPr>
          <p:spPr>
            <a:xfrm>
              <a:off x="0" y="-47625"/>
              <a:ext cx="5415891"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Key Observations</a:t>
              </a:r>
            </a:p>
          </p:txBody>
        </p:sp>
      </p:grpSp>
      <p:sp>
        <p:nvSpPr>
          <p:cNvPr name="Freeform 26" id="26"/>
          <p:cNvSpPr/>
          <p:nvPr/>
        </p:nvSpPr>
        <p:spPr>
          <a:xfrm flipH="false" flipV="false" rot="0">
            <a:off x="1028700" y="3731411"/>
            <a:ext cx="9260744" cy="3889405"/>
          </a:xfrm>
          <a:custGeom>
            <a:avLst/>
            <a:gdLst/>
            <a:ahLst/>
            <a:cxnLst/>
            <a:rect r="r" b="b" t="t" l="l"/>
            <a:pathLst>
              <a:path h="3889405" w="9260744">
                <a:moveTo>
                  <a:pt x="0" y="0"/>
                </a:moveTo>
                <a:lnTo>
                  <a:pt x="9260744" y="0"/>
                </a:lnTo>
                <a:lnTo>
                  <a:pt x="9260744" y="3889405"/>
                </a:lnTo>
                <a:lnTo>
                  <a:pt x="0" y="3889405"/>
                </a:lnTo>
                <a:lnTo>
                  <a:pt x="0" y="0"/>
                </a:lnTo>
                <a:close/>
              </a:path>
            </a:pathLst>
          </a:custGeom>
          <a:blipFill>
            <a:blip r:embed="rId4"/>
            <a:stretch>
              <a:fillRect l="0" t="0" r="0" b="0"/>
            </a:stretch>
          </a:blipFill>
          <a:ln w="38100" cap="sq">
            <a:solidFill>
              <a:srgbClr val="000000"/>
            </a:solidFill>
            <a:prstDash val="solid"/>
            <a:miter/>
          </a:ln>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350770"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363467"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3 · GARCH</a:t>
              </a:r>
            </a:p>
          </p:txBody>
        </p:sp>
      </p:grpSp>
      <p:grpSp>
        <p:nvGrpSpPr>
          <p:cNvPr name="Group 8" id="8"/>
          <p:cNvGrpSpPr/>
          <p:nvPr/>
        </p:nvGrpSpPr>
        <p:grpSpPr>
          <a:xfrm rot="0">
            <a:off x="914400" y="1280160"/>
            <a:ext cx="16459200" cy="1188720"/>
            <a:chOff x="0" y="0"/>
            <a:chExt cx="21945600" cy="1584960"/>
          </a:xfrm>
        </p:grpSpPr>
        <p:sp>
          <p:nvSpPr>
            <p:cNvPr name="Freeform 9" id="9"/>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0" id="10"/>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GARCH Model Selection &amp; Parameter Estimates</a:t>
              </a:r>
            </a:p>
          </p:txBody>
        </p:sp>
      </p:grpSp>
      <p:grpSp>
        <p:nvGrpSpPr>
          <p:cNvPr name="Group 11" id="11"/>
          <p:cNvGrpSpPr/>
          <p:nvPr/>
        </p:nvGrpSpPr>
        <p:grpSpPr>
          <a:xfrm rot="0">
            <a:off x="11234423" y="3593639"/>
            <a:ext cx="6559801" cy="4242594"/>
            <a:chOff x="0" y="0"/>
            <a:chExt cx="1727684" cy="1117391"/>
          </a:xfrm>
        </p:grpSpPr>
        <p:sp>
          <p:nvSpPr>
            <p:cNvPr name="Freeform 12" id="12"/>
            <p:cNvSpPr/>
            <p:nvPr/>
          </p:nvSpPr>
          <p:spPr>
            <a:xfrm flipH="false" flipV="false" rot="0">
              <a:off x="0" y="0"/>
              <a:ext cx="1727684" cy="1117391"/>
            </a:xfrm>
            <a:custGeom>
              <a:avLst/>
              <a:gdLst/>
              <a:ahLst/>
              <a:cxnLst/>
              <a:rect r="r" b="b" t="t" l="l"/>
              <a:pathLst>
                <a:path h="1117391" w="1727684">
                  <a:moveTo>
                    <a:pt x="0" y="0"/>
                  </a:moveTo>
                  <a:lnTo>
                    <a:pt x="1727684" y="0"/>
                  </a:lnTo>
                  <a:lnTo>
                    <a:pt x="1727684" y="1117391"/>
                  </a:lnTo>
                  <a:lnTo>
                    <a:pt x="0" y="1117391"/>
                  </a:lnTo>
                  <a:close/>
                </a:path>
              </a:pathLst>
            </a:custGeom>
            <a:solidFill>
              <a:srgbClr val="FEE2E2"/>
            </a:solidFill>
          </p:spPr>
        </p:sp>
        <p:sp>
          <p:nvSpPr>
            <p:cNvPr name="TextBox 13" id="13"/>
            <p:cNvSpPr txBox="true"/>
            <p:nvPr/>
          </p:nvSpPr>
          <p:spPr>
            <a:xfrm>
              <a:off x="0" y="-38100"/>
              <a:ext cx="1727684" cy="1155491"/>
            </a:xfrm>
            <a:prstGeom prst="rect">
              <a:avLst/>
            </a:prstGeom>
          </p:spPr>
          <p:txBody>
            <a:bodyPr anchor="ctr" rtlCol="false" tIns="50800" lIns="50800" bIns="50800" rIns="50800"/>
            <a:lstStyle/>
            <a:p>
              <a:pPr algn="ctr">
                <a:lnSpc>
                  <a:spcPts val="2400"/>
                </a:lnSpc>
              </a:pPr>
            </a:p>
          </p:txBody>
        </p:sp>
      </p:grpSp>
      <p:grpSp>
        <p:nvGrpSpPr>
          <p:cNvPr name="Group 14" id="14"/>
          <p:cNvGrpSpPr/>
          <p:nvPr/>
        </p:nvGrpSpPr>
        <p:grpSpPr>
          <a:xfrm rot="0">
            <a:off x="11247120" y="3593639"/>
            <a:ext cx="6583680" cy="866198"/>
            <a:chOff x="0" y="0"/>
            <a:chExt cx="8778240" cy="1154931"/>
          </a:xfrm>
        </p:grpSpPr>
        <p:sp>
          <p:nvSpPr>
            <p:cNvPr name="Freeform 15" id="15"/>
            <p:cNvSpPr/>
            <p:nvPr/>
          </p:nvSpPr>
          <p:spPr>
            <a:xfrm flipH="false" flipV="false" rot="0">
              <a:off x="0" y="0"/>
              <a:ext cx="8778240" cy="1154931"/>
            </a:xfrm>
            <a:custGeom>
              <a:avLst/>
              <a:gdLst/>
              <a:ahLst/>
              <a:cxnLst/>
              <a:rect r="r" b="b" t="t" l="l"/>
              <a:pathLst>
                <a:path h="1154931" w="8778240">
                  <a:moveTo>
                    <a:pt x="0" y="0"/>
                  </a:moveTo>
                  <a:lnTo>
                    <a:pt x="8778240" y="0"/>
                  </a:lnTo>
                  <a:lnTo>
                    <a:pt x="8778240" y="1154931"/>
                  </a:lnTo>
                  <a:lnTo>
                    <a:pt x="0" y="1154931"/>
                  </a:lnTo>
                  <a:close/>
                </a:path>
              </a:pathLst>
            </a:custGeom>
            <a:blipFill>
              <a:blip r:embed="rId3">
                <a:alphaModFix amt="0"/>
              </a:blip>
              <a:stretch>
                <a:fillRect l="0" t="-118541" r="0" b="-77657"/>
              </a:stretch>
            </a:blipFill>
          </p:spPr>
        </p:sp>
        <p:sp>
          <p:nvSpPr>
            <p:cNvPr name="TextBox 16" id="16"/>
            <p:cNvSpPr txBox="true"/>
            <p:nvPr/>
          </p:nvSpPr>
          <p:spPr>
            <a:xfrm>
              <a:off x="0" y="-47625"/>
              <a:ext cx="8778240" cy="1202556"/>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GARCH(1,1)-t on VECM Residuals — MSFT Equation:</a:t>
              </a:r>
            </a:p>
          </p:txBody>
        </p:sp>
      </p:grpSp>
      <p:grpSp>
        <p:nvGrpSpPr>
          <p:cNvPr name="Group 17" id="17"/>
          <p:cNvGrpSpPr/>
          <p:nvPr/>
        </p:nvGrpSpPr>
        <p:grpSpPr>
          <a:xfrm rot="0">
            <a:off x="11234423" y="4434665"/>
            <a:ext cx="3134363" cy="720347"/>
            <a:chOff x="0" y="0"/>
            <a:chExt cx="4179151" cy="960463"/>
          </a:xfrm>
        </p:grpSpPr>
        <p:sp>
          <p:nvSpPr>
            <p:cNvPr name="Freeform 18" id="18"/>
            <p:cNvSpPr/>
            <p:nvPr/>
          </p:nvSpPr>
          <p:spPr>
            <a:xfrm flipH="false" flipV="false" rot="0">
              <a:off x="16891" y="16891"/>
              <a:ext cx="4145280" cy="926592"/>
            </a:xfrm>
            <a:custGeom>
              <a:avLst/>
              <a:gdLst/>
              <a:ahLst/>
              <a:cxnLst/>
              <a:rect r="r" b="b" t="t" l="l"/>
              <a:pathLst>
                <a:path h="926592" w="4145280">
                  <a:moveTo>
                    <a:pt x="0" y="0"/>
                  </a:moveTo>
                  <a:lnTo>
                    <a:pt x="4145280" y="0"/>
                  </a:lnTo>
                  <a:lnTo>
                    <a:pt x="4145280" y="926592"/>
                  </a:lnTo>
                  <a:lnTo>
                    <a:pt x="0" y="926592"/>
                  </a:lnTo>
                  <a:close/>
                </a:path>
              </a:pathLst>
            </a:custGeom>
            <a:solidFill>
              <a:srgbClr val="E8F0FE"/>
            </a:solidFill>
          </p:spPr>
        </p:sp>
        <p:sp>
          <p:nvSpPr>
            <p:cNvPr name="Freeform 19" id="19"/>
            <p:cNvSpPr/>
            <p:nvPr/>
          </p:nvSpPr>
          <p:spPr>
            <a:xfrm flipH="false" flipV="false" rot="0">
              <a:off x="0" y="0"/>
              <a:ext cx="4179062" cy="960376"/>
            </a:xfrm>
            <a:custGeom>
              <a:avLst/>
              <a:gdLst/>
              <a:ahLst/>
              <a:cxnLst/>
              <a:rect r="r" b="b" t="t" l="l"/>
              <a:pathLst>
                <a:path h="960376" w="4179062">
                  <a:moveTo>
                    <a:pt x="16891" y="0"/>
                  </a:moveTo>
                  <a:lnTo>
                    <a:pt x="4162171" y="0"/>
                  </a:lnTo>
                  <a:cubicBezTo>
                    <a:pt x="4171569" y="0"/>
                    <a:pt x="4179062" y="7620"/>
                    <a:pt x="4179062" y="16891"/>
                  </a:cubicBezTo>
                  <a:lnTo>
                    <a:pt x="4179062" y="943483"/>
                  </a:lnTo>
                  <a:cubicBezTo>
                    <a:pt x="4179062" y="952881"/>
                    <a:pt x="4171442" y="960374"/>
                    <a:pt x="416217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4162171" y="926592"/>
                  </a:lnTo>
                  <a:lnTo>
                    <a:pt x="4162171" y="943483"/>
                  </a:lnTo>
                  <a:lnTo>
                    <a:pt x="4145280" y="943483"/>
                  </a:lnTo>
                  <a:lnTo>
                    <a:pt x="4145280" y="16891"/>
                  </a:lnTo>
                  <a:lnTo>
                    <a:pt x="4162171" y="16891"/>
                  </a:lnTo>
                  <a:lnTo>
                    <a:pt x="4162171" y="33909"/>
                  </a:lnTo>
                  <a:lnTo>
                    <a:pt x="16891" y="33909"/>
                  </a:lnTo>
                  <a:close/>
                </a:path>
              </a:pathLst>
            </a:custGeom>
            <a:solidFill>
              <a:srgbClr val="CADCFC"/>
            </a:solidFill>
          </p:spPr>
        </p:sp>
      </p:grpSp>
      <p:grpSp>
        <p:nvGrpSpPr>
          <p:cNvPr name="Group 20" id="20"/>
          <p:cNvGrpSpPr/>
          <p:nvPr/>
        </p:nvGrpSpPr>
        <p:grpSpPr>
          <a:xfrm rot="0">
            <a:off x="14434823" y="4434665"/>
            <a:ext cx="1854203" cy="720347"/>
            <a:chOff x="0" y="0"/>
            <a:chExt cx="2472271" cy="960463"/>
          </a:xfrm>
        </p:grpSpPr>
        <p:sp>
          <p:nvSpPr>
            <p:cNvPr name="Freeform 21" id="21"/>
            <p:cNvSpPr/>
            <p:nvPr/>
          </p:nvSpPr>
          <p:spPr>
            <a:xfrm flipH="false" flipV="false" rot="0">
              <a:off x="16891" y="16891"/>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CADCFC"/>
            </a:solidFill>
          </p:spPr>
        </p:sp>
        <p:sp>
          <p:nvSpPr>
            <p:cNvPr name="Freeform 22" id="22"/>
            <p:cNvSpPr/>
            <p:nvPr/>
          </p:nvSpPr>
          <p:spPr>
            <a:xfrm flipH="false" flipV="false" rot="0">
              <a:off x="0" y="0"/>
              <a:ext cx="2472182" cy="960376"/>
            </a:xfrm>
            <a:custGeom>
              <a:avLst/>
              <a:gdLst/>
              <a:ahLst/>
              <a:cxnLst/>
              <a:rect r="r" b="b" t="t" l="l"/>
              <a:pathLst>
                <a:path h="960376" w="2472182">
                  <a:moveTo>
                    <a:pt x="16891" y="0"/>
                  </a:moveTo>
                  <a:lnTo>
                    <a:pt x="2455291" y="0"/>
                  </a:lnTo>
                  <a:cubicBezTo>
                    <a:pt x="2464689" y="0"/>
                    <a:pt x="2472182" y="7620"/>
                    <a:pt x="2472182" y="16891"/>
                  </a:cubicBezTo>
                  <a:lnTo>
                    <a:pt x="2472182" y="943483"/>
                  </a:lnTo>
                  <a:cubicBezTo>
                    <a:pt x="2472182" y="952881"/>
                    <a:pt x="2464562" y="960374"/>
                    <a:pt x="24552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455291" y="926592"/>
                  </a:lnTo>
                  <a:lnTo>
                    <a:pt x="2455291" y="943483"/>
                  </a:lnTo>
                  <a:lnTo>
                    <a:pt x="2438400" y="943483"/>
                  </a:lnTo>
                  <a:lnTo>
                    <a:pt x="2438400" y="16891"/>
                  </a:lnTo>
                  <a:lnTo>
                    <a:pt x="2455291" y="16891"/>
                  </a:lnTo>
                  <a:lnTo>
                    <a:pt x="2455291" y="33909"/>
                  </a:lnTo>
                  <a:lnTo>
                    <a:pt x="16891" y="33909"/>
                  </a:lnTo>
                  <a:close/>
                </a:path>
              </a:pathLst>
            </a:custGeom>
            <a:solidFill>
              <a:srgbClr val="CADCFC"/>
            </a:solidFill>
          </p:spPr>
        </p:sp>
      </p:grpSp>
      <p:grpSp>
        <p:nvGrpSpPr>
          <p:cNvPr name="Group 23" id="23"/>
          <p:cNvGrpSpPr/>
          <p:nvPr/>
        </p:nvGrpSpPr>
        <p:grpSpPr>
          <a:xfrm rot="0">
            <a:off x="16355063" y="4434665"/>
            <a:ext cx="1451867" cy="720347"/>
            <a:chOff x="0" y="0"/>
            <a:chExt cx="1935823" cy="960463"/>
          </a:xfrm>
        </p:grpSpPr>
        <p:sp>
          <p:nvSpPr>
            <p:cNvPr name="Freeform 24" id="24"/>
            <p:cNvSpPr/>
            <p:nvPr/>
          </p:nvSpPr>
          <p:spPr>
            <a:xfrm flipH="false" flipV="false" rot="0">
              <a:off x="16891" y="16891"/>
              <a:ext cx="1901952" cy="926592"/>
            </a:xfrm>
            <a:custGeom>
              <a:avLst/>
              <a:gdLst/>
              <a:ahLst/>
              <a:cxnLst/>
              <a:rect r="r" b="b" t="t" l="l"/>
              <a:pathLst>
                <a:path h="926592" w="1901952">
                  <a:moveTo>
                    <a:pt x="0" y="0"/>
                  </a:moveTo>
                  <a:lnTo>
                    <a:pt x="1901952" y="0"/>
                  </a:lnTo>
                  <a:lnTo>
                    <a:pt x="1901952" y="926592"/>
                  </a:lnTo>
                  <a:lnTo>
                    <a:pt x="0" y="926592"/>
                  </a:lnTo>
                  <a:close/>
                </a:path>
              </a:pathLst>
            </a:custGeom>
            <a:solidFill>
              <a:srgbClr val="FEF3C7"/>
            </a:solidFill>
          </p:spPr>
        </p:sp>
        <p:sp>
          <p:nvSpPr>
            <p:cNvPr name="Freeform 25" id="25"/>
            <p:cNvSpPr/>
            <p:nvPr/>
          </p:nvSpPr>
          <p:spPr>
            <a:xfrm flipH="false" flipV="false" rot="0">
              <a:off x="0" y="0"/>
              <a:ext cx="1935734" cy="960376"/>
            </a:xfrm>
            <a:custGeom>
              <a:avLst/>
              <a:gdLst/>
              <a:ahLst/>
              <a:cxnLst/>
              <a:rect r="r" b="b" t="t" l="l"/>
              <a:pathLst>
                <a:path h="960376" w="1935734">
                  <a:moveTo>
                    <a:pt x="16891" y="0"/>
                  </a:moveTo>
                  <a:lnTo>
                    <a:pt x="1918843" y="0"/>
                  </a:lnTo>
                  <a:cubicBezTo>
                    <a:pt x="1928241" y="0"/>
                    <a:pt x="1935734" y="7620"/>
                    <a:pt x="1935734" y="16891"/>
                  </a:cubicBezTo>
                  <a:lnTo>
                    <a:pt x="1935734" y="943483"/>
                  </a:lnTo>
                  <a:cubicBezTo>
                    <a:pt x="1935734" y="952881"/>
                    <a:pt x="1928114" y="960374"/>
                    <a:pt x="191884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918843" y="926592"/>
                  </a:lnTo>
                  <a:lnTo>
                    <a:pt x="1918843" y="943483"/>
                  </a:lnTo>
                  <a:lnTo>
                    <a:pt x="1901952" y="943483"/>
                  </a:lnTo>
                  <a:lnTo>
                    <a:pt x="1901952" y="16891"/>
                  </a:lnTo>
                  <a:lnTo>
                    <a:pt x="1918843" y="16891"/>
                  </a:lnTo>
                  <a:lnTo>
                    <a:pt x="1918843" y="33909"/>
                  </a:lnTo>
                  <a:lnTo>
                    <a:pt x="16891" y="33909"/>
                  </a:lnTo>
                  <a:close/>
                </a:path>
              </a:pathLst>
            </a:custGeom>
            <a:solidFill>
              <a:srgbClr val="CADCFC"/>
            </a:solidFill>
          </p:spPr>
        </p:sp>
      </p:grpSp>
      <p:grpSp>
        <p:nvGrpSpPr>
          <p:cNvPr name="Group 26" id="26"/>
          <p:cNvGrpSpPr/>
          <p:nvPr/>
        </p:nvGrpSpPr>
        <p:grpSpPr>
          <a:xfrm rot="0">
            <a:off x="11375136" y="4447362"/>
            <a:ext cx="2926080" cy="694944"/>
            <a:chOff x="0" y="0"/>
            <a:chExt cx="3901440" cy="926592"/>
          </a:xfrm>
        </p:grpSpPr>
        <p:sp>
          <p:nvSpPr>
            <p:cNvPr name="Freeform 27" id="27"/>
            <p:cNvSpPr/>
            <p:nvPr/>
          </p:nvSpPr>
          <p:spPr>
            <a:xfrm flipH="false" flipV="false" rot="0">
              <a:off x="0" y="0"/>
              <a:ext cx="3901440" cy="926592"/>
            </a:xfrm>
            <a:custGeom>
              <a:avLst/>
              <a:gdLst/>
              <a:ahLst/>
              <a:cxnLst/>
              <a:rect r="r" b="b" t="t" l="l"/>
              <a:pathLst>
                <a:path h="926592" w="3901440">
                  <a:moveTo>
                    <a:pt x="0" y="0"/>
                  </a:moveTo>
                  <a:lnTo>
                    <a:pt x="3901440" y="0"/>
                  </a:lnTo>
                  <a:lnTo>
                    <a:pt x="3901440" y="926592"/>
                  </a:lnTo>
                  <a:lnTo>
                    <a:pt x="0" y="926592"/>
                  </a:lnTo>
                  <a:close/>
                </a:path>
              </a:pathLst>
            </a:custGeom>
            <a:blipFill>
              <a:blip r:embed="rId3">
                <a:alphaModFix amt="0"/>
              </a:blip>
              <a:stretch>
                <a:fillRect l="0" t="-32042" r="0" b="-32042"/>
              </a:stretch>
            </a:blipFill>
          </p:spPr>
        </p:sp>
        <p:sp>
          <p:nvSpPr>
            <p:cNvPr name="TextBox 28" id="28"/>
            <p:cNvSpPr txBox="true"/>
            <p:nvPr/>
          </p:nvSpPr>
          <p:spPr>
            <a:xfrm>
              <a:off x="0" y="-38100"/>
              <a:ext cx="3901440" cy="964692"/>
            </a:xfrm>
            <a:prstGeom prst="rect">
              <a:avLst/>
            </a:prstGeom>
          </p:spPr>
          <p:txBody>
            <a:bodyPr anchor="ctr" rtlCol="false" tIns="0" lIns="0" bIns="0" rIns="0"/>
            <a:lstStyle/>
            <a:p>
              <a:pPr algn="l">
                <a:lnSpc>
                  <a:spcPts val="2280"/>
                </a:lnSpc>
              </a:pPr>
              <a:r>
                <a:rPr lang="en-US" sz="1900" b="true">
                  <a:solidFill>
                    <a:srgbClr val="1E2761"/>
                  </a:solidFill>
                  <a:latin typeface="Calibri (MS) Bold"/>
                  <a:ea typeface="Calibri (MS) Bold"/>
                  <a:cs typeface="Calibri (MS) Bold"/>
                  <a:sym typeface="Calibri (MS) Bold"/>
                </a:rPr>
                <a:t>omega</a:t>
              </a:r>
            </a:p>
          </p:txBody>
        </p:sp>
      </p:grpSp>
      <p:grpSp>
        <p:nvGrpSpPr>
          <p:cNvPr name="Group 29" id="29"/>
          <p:cNvGrpSpPr/>
          <p:nvPr/>
        </p:nvGrpSpPr>
        <p:grpSpPr>
          <a:xfrm rot="0">
            <a:off x="14447520" y="4447362"/>
            <a:ext cx="1828800" cy="694944"/>
            <a:chOff x="0" y="0"/>
            <a:chExt cx="2438400" cy="926592"/>
          </a:xfrm>
        </p:grpSpPr>
        <p:sp>
          <p:nvSpPr>
            <p:cNvPr name="Freeform 30" id="30"/>
            <p:cNvSpPr/>
            <p:nvPr/>
          </p:nvSpPr>
          <p:spPr>
            <a:xfrm flipH="false" flipV="false" rot="0">
              <a:off x="0" y="0"/>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FEE2E2">
                <a:alpha val="0"/>
              </a:srgbClr>
            </a:solidFill>
          </p:spPr>
        </p:sp>
        <p:sp>
          <p:nvSpPr>
            <p:cNvPr name="TextBox 31" id="31"/>
            <p:cNvSpPr txBox="true"/>
            <p:nvPr/>
          </p:nvSpPr>
          <p:spPr>
            <a:xfrm>
              <a:off x="0" y="-38100"/>
              <a:ext cx="2438400" cy="964692"/>
            </a:xfrm>
            <a:prstGeom prst="rect">
              <a:avLst/>
            </a:prstGeom>
          </p:spPr>
          <p:txBody>
            <a:bodyPr anchor="ctr" rtlCol="false" tIns="0" lIns="0" bIns="0" rIns="0"/>
            <a:lstStyle/>
            <a:p>
              <a:pPr algn="ctr">
                <a:lnSpc>
                  <a:spcPts val="2400"/>
                </a:lnSpc>
              </a:pPr>
              <a:r>
                <a:rPr lang="en-US" sz="2000" b="true">
                  <a:solidFill>
                    <a:srgbClr val="1E2761"/>
                  </a:solidFill>
                  <a:latin typeface="Calibri (MS) Bold"/>
                  <a:ea typeface="Calibri (MS) Bold"/>
                  <a:cs typeface="Calibri (MS) Bold"/>
                  <a:sym typeface="Calibri (MS) Bold"/>
                </a:rPr>
                <a:t>0.0061</a:t>
              </a:r>
            </a:p>
          </p:txBody>
        </p:sp>
      </p:grpSp>
      <p:grpSp>
        <p:nvGrpSpPr>
          <p:cNvPr name="Group 32" id="32"/>
          <p:cNvGrpSpPr/>
          <p:nvPr/>
        </p:nvGrpSpPr>
        <p:grpSpPr>
          <a:xfrm rot="0">
            <a:off x="16367760" y="4447362"/>
            <a:ext cx="1426464" cy="694944"/>
            <a:chOff x="0" y="0"/>
            <a:chExt cx="1901952" cy="926592"/>
          </a:xfrm>
        </p:grpSpPr>
        <p:sp>
          <p:nvSpPr>
            <p:cNvPr name="Freeform 33" id="33"/>
            <p:cNvSpPr/>
            <p:nvPr/>
          </p:nvSpPr>
          <p:spPr>
            <a:xfrm flipH="false" flipV="false" rot="0">
              <a:off x="0" y="0"/>
              <a:ext cx="1901952" cy="926592"/>
            </a:xfrm>
            <a:custGeom>
              <a:avLst/>
              <a:gdLst/>
              <a:ahLst/>
              <a:cxnLst/>
              <a:rect r="r" b="b" t="t" l="l"/>
              <a:pathLst>
                <a:path h="926592" w="1901952">
                  <a:moveTo>
                    <a:pt x="0" y="0"/>
                  </a:moveTo>
                  <a:lnTo>
                    <a:pt x="1901952" y="0"/>
                  </a:lnTo>
                  <a:lnTo>
                    <a:pt x="1901952" y="926592"/>
                  </a:lnTo>
                  <a:lnTo>
                    <a:pt x="0" y="926592"/>
                  </a:lnTo>
                  <a:close/>
                </a:path>
              </a:pathLst>
            </a:custGeom>
            <a:blipFill>
              <a:blip r:embed="rId3">
                <a:alphaModFix amt="0"/>
              </a:blip>
              <a:stretch>
                <a:fillRect l="-12506" t="0" r="-12506" b="0"/>
              </a:stretch>
            </a:blipFill>
          </p:spPr>
        </p:sp>
        <p:sp>
          <p:nvSpPr>
            <p:cNvPr name="TextBox 34" id="34"/>
            <p:cNvSpPr txBox="true"/>
            <p:nvPr/>
          </p:nvSpPr>
          <p:spPr>
            <a:xfrm>
              <a:off x="0" y="-38100"/>
              <a:ext cx="1901952" cy="964692"/>
            </a:xfrm>
            <a:prstGeom prst="rect">
              <a:avLst/>
            </a:prstGeom>
          </p:spPr>
          <p:txBody>
            <a:bodyPr anchor="ctr" rtlCol="false" tIns="0" lIns="0" bIns="0" rIns="0"/>
            <a:lstStyle/>
            <a:p>
              <a:pPr algn="ctr">
                <a:lnSpc>
                  <a:spcPts val="2039"/>
                </a:lnSpc>
              </a:pPr>
              <a:r>
                <a:rPr lang="en-US" sz="1700">
                  <a:solidFill>
                    <a:srgbClr val="10B981"/>
                  </a:solidFill>
                  <a:latin typeface="Calibri (MS)"/>
                  <a:ea typeface="Calibri (MS)"/>
                  <a:cs typeface="Calibri (MS)"/>
                  <a:sym typeface="Calibri (MS)"/>
                </a:rPr>
                <a:t>p=0.156</a:t>
              </a:r>
            </a:p>
          </p:txBody>
        </p:sp>
      </p:grpSp>
      <p:grpSp>
        <p:nvGrpSpPr>
          <p:cNvPr name="Group 35" id="35"/>
          <p:cNvGrpSpPr/>
          <p:nvPr/>
        </p:nvGrpSpPr>
        <p:grpSpPr>
          <a:xfrm rot="0">
            <a:off x="11234423" y="5275913"/>
            <a:ext cx="3134363" cy="720347"/>
            <a:chOff x="0" y="0"/>
            <a:chExt cx="4179151" cy="960463"/>
          </a:xfrm>
        </p:grpSpPr>
        <p:sp>
          <p:nvSpPr>
            <p:cNvPr name="Freeform 36" id="36"/>
            <p:cNvSpPr/>
            <p:nvPr/>
          </p:nvSpPr>
          <p:spPr>
            <a:xfrm flipH="false" flipV="false" rot="0">
              <a:off x="16891" y="16891"/>
              <a:ext cx="4145280" cy="926592"/>
            </a:xfrm>
            <a:custGeom>
              <a:avLst/>
              <a:gdLst/>
              <a:ahLst/>
              <a:cxnLst/>
              <a:rect r="r" b="b" t="t" l="l"/>
              <a:pathLst>
                <a:path h="926592" w="4145280">
                  <a:moveTo>
                    <a:pt x="0" y="0"/>
                  </a:moveTo>
                  <a:lnTo>
                    <a:pt x="4145280" y="0"/>
                  </a:lnTo>
                  <a:lnTo>
                    <a:pt x="4145280" y="926592"/>
                  </a:lnTo>
                  <a:lnTo>
                    <a:pt x="0" y="926592"/>
                  </a:lnTo>
                  <a:close/>
                </a:path>
              </a:pathLst>
            </a:custGeom>
            <a:solidFill>
              <a:srgbClr val="E8F0FE"/>
            </a:solidFill>
          </p:spPr>
        </p:sp>
        <p:sp>
          <p:nvSpPr>
            <p:cNvPr name="Freeform 37" id="37"/>
            <p:cNvSpPr/>
            <p:nvPr/>
          </p:nvSpPr>
          <p:spPr>
            <a:xfrm flipH="false" flipV="false" rot="0">
              <a:off x="0" y="0"/>
              <a:ext cx="4179062" cy="960376"/>
            </a:xfrm>
            <a:custGeom>
              <a:avLst/>
              <a:gdLst/>
              <a:ahLst/>
              <a:cxnLst/>
              <a:rect r="r" b="b" t="t" l="l"/>
              <a:pathLst>
                <a:path h="960376" w="4179062">
                  <a:moveTo>
                    <a:pt x="16891" y="0"/>
                  </a:moveTo>
                  <a:lnTo>
                    <a:pt x="4162171" y="0"/>
                  </a:lnTo>
                  <a:cubicBezTo>
                    <a:pt x="4171569" y="0"/>
                    <a:pt x="4179062" y="7620"/>
                    <a:pt x="4179062" y="16891"/>
                  </a:cubicBezTo>
                  <a:lnTo>
                    <a:pt x="4179062" y="943483"/>
                  </a:lnTo>
                  <a:cubicBezTo>
                    <a:pt x="4179062" y="952881"/>
                    <a:pt x="4171442" y="960374"/>
                    <a:pt x="416217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4162171" y="926592"/>
                  </a:lnTo>
                  <a:lnTo>
                    <a:pt x="4162171" y="943483"/>
                  </a:lnTo>
                  <a:lnTo>
                    <a:pt x="4145280" y="943483"/>
                  </a:lnTo>
                  <a:lnTo>
                    <a:pt x="4145280" y="16891"/>
                  </a:lnTo>
                  <a:lnTo>
                    <a:pt x="4162171" y="16891"/>
                  </a:lnTo>
                  <a:lnTo>
                    <a:pt x="4162171" y="33909"/>
                  </a:lnTo>
                  <a:lnTo>
                    <a:pt x="16891" y="33909"/>
                  </a:lnTo>
                  <a:close/>
                </a:path>
              </a:pathLst>
            </a:custGeom>
            <a:solidFill>
              <a:srgbClr val="CADCFC"/>
            </a:solidFill>
          </p:spPr>
        </p:sp>
      </p:grpSp>
      <p:grpSp>
        <p:nvGrpSpPr>
          <p:cNvPr name="Group 38" id="38"/>
          <p:cNvGrpSpPr/>
          <p:nvPr/>
        </p:nvGrpSpPr>
        <p:grpSpPr>
          <a:xfrm rot="0">
            <a:off x="14434823" y="5275913"/>
            <a:ext cx="1854203" cy="720347"/>
            <a:chOff x="0" y="0"/>
            <a:chExt cx="2472271" cy="960463"/>
          </a:xfrm>
        </p:grpSpPr>
        <p:sp>
          <p:nvSpPr>
            <p:cNvPr name="Freeform 39" id="39"/>
            <p:cNvSpPr/>
            <p:nvPr/>
          </p:nvSpPr>
          <p:spPr>
            <a:xfrm flipH="false" flipV="false" rot="0">
              <a:off x="16891" y="16891"/>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CADCFC"/>
            </a:solidFill>
          </p:spPr>
        </p:sp>
        <p:sp>
          <p:nvSpPr>
            <p:cNvPr name="Freeform 40" id="40"/>
            <p:cNvSpPr/>
            <p:nvPr/>
          </p:nvSpPr>
          <p:spPr>
            <a:xfrm flipH="false" flipV="false" rot="0">
              <a:off x="0" y="0"/>
              <a:ext cx="2472182" cy="960376"/>
            </a:xfrm>
            <a:custGeom>
              <a:avLst/>
              <a:gdLst/>
              <a:ahLst/>
              <a:cxnLst/>
              <a:rect r="r" b="b" t="t" l="l"/>
              <a:pathLst>
                <a:path h="960376" w="2472182">
                  <a:moveTo>
                    <a:pt x="16891" y="0"/>
                  </a:moveTo>
                  <a:lnTo>
                    <a:pt x="2455291" y="0"/>
                  </a:lnTo>
                  <a:cubicBezTo>
                    <a:pt x="2464689" y="0"/>
                    <a:pt x="2472182" y="7620"/>
                    <a:pt x="2472182" y="16891"/>
                  </a:cubicBezTo>
                  <a:lnTo>
                    <a:pt x="2472182" y="943483"/>
                  </a:lnTo>
                  <a:cubicBezTo>
                    <a:pt x="2472182" y="952881"/>
                    <a:pt x="2464562" y="960374"/>
                    <a:pt x="24552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455291" y="926592"/>
                  </a:lnTo>
                  <a:lnTo>
                    <a:pt x="2455291" y="943483"/>
                  </a:lnTo>
                  <a:lnTo>
                    <a:pt x="2438400" y="943483"/>
                  </a:lnTo>
                  <a:lnTo>
                    <a:pt x="2438400" y="16891"/>
                  </a:lnTo>
                  <a:lnTo>
                    <a:pt x="2455291" y="16891"/>
                  </a:lnTo>
                  <a:lnTo>
                    <a:pt x="2455291" y="33909"/>
                  </a:lnTo>
                  <a:lnTo>
                    <a:pt x="16891" y="33909"/>
                  </a:lnTo>
                  <a:close/>
                </a:path>
              </a:pathLst>
            </a:custGeom>
            <a:solidFill>
              <a:srgbClr val="CADCFC"/>
            </a:solidFill>
          </p:spPr>
        </p:sp>
      </p:grpSp>
      <p:grpSp>
        <p:nvGrpSpPr>
          <p:cNvPr name="Group 41" id="41"/>
          <p:cNvGrpSpPr/>
          <p:nvPr/>
        </p:nvGrpSpPr>
        <p:grpSpPr>
          <a:xfrm rot="0">
            <a:off x="16355063" y="5275913"/>
            <a:ext cx="1451867" cy="720347"/>
            <a:chOff x="0" y="0"/>
            <a:chExt cx="1935823" cy="960463"/>
          </a:xfrm>
        </p:grpSpPr>
        <p:sp>
          <p:nvSpPr>
            <p:cNvPr name="Freeform 42" id="42"/>
            <p:cNvSpPr/>
            <p:nvPr/>
          </p:nvSpPr>
          <p:spPr>
            <a:xfrm flipH="false" flipV="false" rot="0">
              <a:off x="16891" y="16891"/>
              <a:ext cx="1901952" cy="926592"/>
            </a:xfrm>
            <a:custGeom>
              <a:avLst/>
              <a:gdLst/>
              <a:ahLst/>
              <a:cxnLst/>
              <a:rect r="r" b="b" t="t" l="l"/>
              <a:pathLst>
                <a:path h="926592" w="1901952">
                  <a:moveTo>
                    <a:pt x="0" y="0"/>
                  </a:moveTo>
                  <a:lnTo>
                    <a:pt x="1901952" y="0"/>
                  </a:lnTo>
                  <a:lnTo>
                    <a:pt x="1901952" y="926592"/>
                  </a:lnTo>
                  <a:lnTo>
                    <a:pt x="0" y="926592"/>
                  </a:lnTo>
                  <a:close/>
                </a:path>
              </a:pathLst>
            </a:custGeom>
            <a:solidFill>
              <a:srgbClr val="D1FAE5"/>
            </a:solidFill>
          </p:spPr>
        </p:sp>
        <p:sp>
          <p:nvSpPr>
            <p:cNvPr name="Freeform 43" id="43"/>
            <p:cNvSpPr/>
            <p:nvPr/>
          </p:nvSpPr>
          <p:spPr>
            <a:xfrm flipH="false" flipV="false" rot="0">
              <a:off x="0" y="0"/>
              <a:ext cx="1935734" cy="960376"/>
            </a:xfrm>
            <a:custGeom>
              <a:avLst/>
              <a:gdLst/>
              <a:ahLst/>
              <a:cxnLst/>
              <a:rect r="r" b="b" t="t" l="l"/>
              <a:pathLst>
                <a:path h="960376" w="1935734">
                  <a:moveTo>
                    <a:pt x="16891" y="0"/>
                  </a:moveTo>
                  <a:lnTo>
                    <a:pt x="1918843" y="0"/>
                  </a:lnTo>
                  <a:cubicBezTo>
                    <a:pt x="1928241" y="0"/>
                    <a:pt x="1935734" y="7620"/>
                    <a:pt x="1935734" y="16891"/>
                  </a:cubicBezTo>
                  <a:lnTo>
                    <a:pt x="1935734" y="943483"/>
                  </a:lnTo>
                  <a:cubicBezTo>
                    <a:pt x="1935734" y="952881"/>
                    <a:pt x="1928114" y="960374"/>
                    <a:pt x="191884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918843" y="926592"/>
                  </a:lnTo>
                  <a:lnTo>
                    <a:pt x="1918843" y="943483"/>
                  </a:lnTo>
                  <a:lnTo>
                    <a:pt x="1901952" y="943483"/>
                  </a:lnTo>
                  <a:lnTo>
                    <a:pt x="1901952" y="16891"/>
                  </a:lnTo>
                  <a:lnTo>
                    <a:pt x="1918843" y="16891"/>
                  </a:lnTo>
                  <a:lnTo>
                    <a:pt x="1918843" y="33909"/>
                  </a:lnTo>
                  <a:lnTo>
                    <a:pt x="16891" y="33909"/>
                  </a:lnTo>
                  <a:close/>
                </a:path>
              </a:pathLst>
            </a:custGeom>
            <a:solidFill>
              <a:srgbClr val="CADCFC"/>
            </a:solidFill>
          </p:spPr>
        </p:sp>
      </p:grpSp>
      <p:grpSp>
        <p:nvGrpSpPr>
          <p:cNvPr name="Group 44" id="44"/>
          <p:cNvGrpSpPr/>
          <p:nvPr/>
        </p:nvGrpSpPr>
        <p:grpSpPr>
          <a:xfrm rot="0">
            <a:off x="11375136" y="5288610"/>
            <a:ext cx="2926080" cy="694944"/>
            <a:chOff x="0" y="0"/>
            <a:chExt cx="3901440" cy="926592"/>
          </a:xfrm>
        </p:grpSpPr>
        <p:sp>
          <p:nvSpPr>
            <p:cNvPr name="Freeform 45" id="45"/>
            <p:cNvSpPr/>
            <p:nvPr/>
          </p:nvSpPr>
          <p:spPr>
            <a:xfrm flipH="false" flipV="false" rot="0">
              <a:off x="0" y="0"/>
              <a:ext cx="3901440" cy="926592"/>
            </a:xfrm>
            <a:custGeom>
              <a:avLst/>
              <a:gdLst/>
              <a:ahLst/>
              <a:cxnLst/>
              <a:rect r="r" b="b" t="t" l="l"/>
              <a:pathLst>
                <a:path h="926592" w="3901440">
                  <a:moveTo>
                    <a:pt x="0" y="0"/>
                  </a:moveTo>
                  <a:lnTo>
                    <a:pt x="3901440" y="0"/>
                  </a:lnTo>
                  <a:lnTo>
                    <a:pt x="3901440" y="926592"/>
                  </a:lnTo>
                  <a:lnTo>
                    <a:pt x="0" y="926592"/>
                  </a:lnTo>
                  <a:close/>
                </a:path>
              </a:pathLst>
            </a:custGeom>
            <a:blipFill>
              <a:blip r:embed="rId3">
                <a:alphaModFix amt="0"/>
              </a:blip>
              <a:stretch>
                <a:fillRect l="0" t="-32042" r="0" b="-32042"/>
              </a:stretch>
            </a:blipFill>
          </p:spPr>
        </p:sp>
        <p:sp>
          <p:nvSpPr>
            <p:cNvPr name="TextBox 46" id="46"/>
            <p:cNvSpPr txBox="true"/>
            <p:nvPr/>
          </p:nvSpPr>
          <p:spPr>
            <a:xfrm>
              <a:off x="0" y="-38100"/>
              <a:ext cx="3901440" cy="964692"/>
            </a:xfrm>
            <a:prstGeom prst="rect">
              <a:avLst/>
            </a:prstGeom>
          </p:spPr>
          <p:txBody>
            <a:bodyPr anchor="ctr" rtlCol="false" tIns="0" lIns="0" bIns="0" rIns="0"/>
            <a:lstStyle/>
            <a:p>
              <a:pPr algn="l">
                <a:lnSpc>
                  <a:spcPts val="2280"/>
                </a:lnSpc>
              </a:pPr>
              <a:r>
                <a:rPr lang="en-US" sz="1900" b="true">
                  <a:solidFill>
                    <a:srgbClr val="1E2761"/>
                  </a:solidFill>
                  <a:latin typeface="Calibri (MS) Bold"/>
                  <a:ea typeface="Calibri (MS) Bold"/>
                  <a:cs typeface="Calibri (MS) Bold"/>
                  <a:sym typeface="Calibri (MS) Bold"/>
                </a:rPr>
                <a:t>alpha₁ (ARCH)</a:t>
              </a:r>
            </a:p>
          </p:txBody>
        </p:sp>
      </p:grpSp>
      <p:grpSp>
        <p:nvGrpSpPr>
          <p:cNvPr name="Group 47" id="47"/>
          <p:cNvGrpSpPr/>
          <p:nvPr/>
        </p:nvGrpSpPr>
        <p:grpSpPr>
          <a:xfrm rot="0">
            <a:off x="14447520" y="5288610"/>
            <a:ext cx="1828800" cy="694944"/>
            <a:chOff x="0" y="0"/>
            <a:chExt cx="2438400" cy="926592"/>
          </a:xfrm>
        </p:grpSpPr>
        <p:sp>
          <p:nvSpPr>
            <p:cNvPr name="Freeform 48" id="48"/>
            <p:cNvSpPr/>
            <p:nvPr/>
          </p:nvSpPr>
          <p:spPr>
            <a:xfrm flipH="false" flipV="false" rot="0">
              <a:off x="0" y="0"/>
              <a:ext cx="2438400" cy="926592"/>
            </a:xfrm>
            <a:custGeom>
              <a:avLst/>
              <a:gdLst/>
              <a:ahLst/>
              <a:cxnLst/>
              <a:rect r="r" b="b" t="t" l="l"/>
              <a:pathLst>
                <a:path h="926592" w="2438400">
                  <a:moveTo>
                    <a:pt x="0" y="0"/>
                  </a:moveTo>
                  <a:lnTo>
                    <a:pt x="2438400" y="0"/>
                  </a:lnTo>
                  <a:lnTo>
                    <a:pt x="2438400" y="926592"/>
                  </a:lnTo>
                  <a:lnTo>
                    <a:pt x="0" y="926592"/>
                  </a:lnTo>
                  <a:close/>
                </a:path>
              </a:pathLst>
            </a:custGeom>
            <a:blipFill>
              <a:blip r:embed="rId3">
                <a:alphaModFix amt="0"/>
              </a:blip>
              <a:stretch>
                <a:fillRect l="0" t="-1276" r="0" b="-1276"/>
              </a:stretch>
            </a:blipFill>
          </p:spPr>
        </p:sp>
        <p:sp>
          <p:nvSpPr>
            <p:cNvPr name="TextBox 49" id="49"/>
            <p:cNvSpPr txBox="true"/>
            <p:nvPr/>
          </p:nvSpPr>
          <p:spPr>
            <a:xfrm>
              <a:off x="0" y="-38100"/>
              <a:ext cx="2438400" cy="964692"/>
            </a:xfrm>
            <a:prstGeom prst="rect">
              <a:avLst/>
            </a:prstGeom>
          </p:spPr>
          <p:txBody>
            <a:bodyPr anchor="ctr" rtlCol="false" tIns="0" lIns="0" bIns="0" rIns="0"/>
            <a:lstStyle/>
            <a:p>
              <a:pPr algn="ctr">
                <a:lnSpc>
                  <a:spcPts val="2400"/>
                </a:lnSpc>
              </a:pPr>
              <a:r>
                <a:rPr lang="en-US" sz="2000" b="true">
                  <a:solidFill>
                    <a:srgbClr val="1E2761"/>
                  </a:solidFill>
                  <a:latin typeface="Calibri (MS) Bold"/>
                  <a:ea typeface="Calibri (MS) Bold"/>
                  <a:cs typeface="Calibri (MS) Bold"/>
                  <a:sym typeface="Calibri (MS) Bold"/>
                </a:rPr>
                <a:t>0.0721</a:t>
              </a:r>
            </a:p>
          </p:txBody>
        </p:sp>
      </p:grpSp>
      <p:grpSp>
        <p:nvGrpSpPr>
          <p:cNvPr name="Group 50" id="50"/>
          <p:cNvGrpSpPr/>
          <p:nvPr/>
        </p:nvGrpSpPr>
        <p:grpSpPr>
          <a:xfrm rot="0">
            <a:off x="16367760" y="5288610"/>
            <a:ext cx="1426464" cy="694944"/>
            <a:chOff x="0" y="0"/>
            <a:chExt cx="1901952" cy="926592"/>
          </a:xfrm>
        </p:grpSpPr>
        <p:sp>
          <p:nvSpPr>
            <p:cNvPr name="Freeform 51" id="51"/>
            <p:cNvSpPr/>
            <p:nvPr/>
          </p:nvSpPr>
          <p:spPr>
            <a:xfrm flipH="false" flipV="false" rot="0">
              <a:off x="0" y="0"/>
              <a:ext cx="1901952" cy="926592"/>
            </a:xfrm>
            <a:custGeom>
              <a:avLst/>
              <a:gdLst/>
              <a:ahLst/>
              <a:cxnLst/>
              <a:rect r="r" b="b" t="t" l="l"/>
              <a:pathLst>
                <a:path h="926592" w="1901952">
                  <a:moveTo>
                    <a:pt x="0" y="0"/>
                  </a:moveTo>
                  <a:lnTo>
                    <a:pt x="1901952" y="0"/>
                  </a:lnTo>
                  <a:lnTo>
                    <a:pt x="1901952" y="926592"/>
                  </a:lnTo>
                  <a:lnTo>
                    <a:pt x="0" y="926592"/>
                  </a:lnTo>
                  <a:close/>
                </a:path>
              </a:pathLst>
            </a:custGeom>
            <a:blipFill>
              <a:blip r:embed="rId3">
                <a:alphaModFix amt="0"/>
              </a:blip>
              <a:stretch>
                <a:fillRect l="-12506" t="0" r="-12506" b="0"/>
              </a:stretch>
            </a:blipFill>
          </p:spPr>
        </p:sp>
        <p:sp>
          <p:nvSpPr>
            <p:cNvPr name="TextBox 52" id="52"/>
            <p:cNvSpPr txBox="true"/>
            <p:nvPr/>
          </p:nvSpPr>
          <p:spPr>
            <a:xfrm>
              <a:off x="0" y="-38100"/>
              <a:ext cx="1901952" cy="964692"/>
            </a:xfrm>
            <a:prstGeom prst="rect">
              <a:avLst/>
            </a:prstGeom>
          </p:spPr>
          <p:txBody>
            <a:bodyPr anchor="ctr" rtlCol="false" tIns="0" lIns="0" bIns="0" rIns="0"/>
            <a:lstStyle/>
            <a:p>
              <a:pPr algn="ctr">
                <a:lnSpc>
                  <a:spcPts val="2039"/>
                </a:lnSpc>
              </a:pPr>
              <a:r>
                <a:rPr lang="en-US" sz="1700">
                  <a:solidFill>
                    <a:srgbClr val="10B981"/>
                  </a:solidFill>
                  <a:latin typeface="Calibri (MS)"/>
                  <a:ea typeface="Calibri (MS)"/>
                  <a:cs typeface="Calibri (MS)"/>
                  <a:sym typeface="Calibri (MS)"/>
                </a:rPr>
                <a:t>p=0.000</a:t>
              </a:r>
            </a:p>
          </p:txBody>
        </p:sp>
      </p:grpSp>
      <p:grpSp>
        <p:nvGrpSpPr>
          <p:cNvPr name="Group 53" id="53"/>
          <p:cNvGrpSpPr/>
          <p:nvPr/>
        </p:nvGrpSpPr>
        <p:grpSpPr>
          <a:xfrm rot="0">
            <a:off x="11234423" y="6117161"/>
            <a:ext cx="3134363" cy="720347"/>
            <a:chOff x="0" y="0"/>
            <a:chExt cx="4179151" cy="960463"/>
          </a:xfrm>
        </p:grpSpPr>
        <p:sp>
          <p:nvSpPr>
            <p:cNvPr name="Freeform 54" id="54"/>
            <p:cNvSpPr/>
            <p:nvPr/>
          </p:nvSpPr>
          <p:spPr>
            <a:xfrm flipH="false" flipV="false" rot="0">
              <a:off x="16891" y="16891"/>
              <a:ext cx="4145280" cy="926592"/>
            </a:xfrm>
            <a:custGeom>
              <a:avLst/>
              <a:gdLst/>
              <a:ahLst/>
              <a:cxnLst/>
              <a:rect r="r" b="b" t="t" l="l"/>
              <a:pathLst>
                <a:path h="926592" w="4145280">
                  <a:moveTo>
                    <a:pt x="0" y="0"/>
                  </a:moveTo>
                  <a:lnTo>
                    <a:pt x="4145280" y="0"/>
                  </a:lnTo>
                  <a:lnTo>
                    <a:pt x="4145280" y="926592"/>
                  </a:lnTo>
                  <a:lnTo>
                    <a:pt x="0" y="926592"/>
                  </a:lnTo>
                  <a:close/>
                </a:path>
              </a:pathLst>
            </a:custGeom>
            <a:solidFill>
              <a:srgbClr val="E8F0FE"/>
            </a:solidFill>
          </p:spPr>
        </p:sp>
        <p:sp>
          <p:nvSpPr>
            <p:cNvPr name="Freeform 55" id="55"/>
            <p:cNvSpPr/>
            <p:nvPr/>
          </p:nvSpPr>
          <p:spPr>
            <a:xfrm flipH="false" flipV="false" rot="0">
              <a:off x="0" y="0"/>
              <a:ext cx="4179062" cy="960376"/>
            </a:xfrm>
            <a:custGeom>
              <a:avLst/>
              <a:gdLst/>
              <a:ahLst/>
              <a:cxnLst/>
              <a:rect r="r" b="b" t="t" l="l"/>
              <a:pathLst>
                <a:path h="960376" w="4179062">
                  <a:moveTo>
                    <a:pt x="16891" y="0"/>
                  </a:moveTo>
                  <a:lnTo>
                    <a:pt x="4162171" y="0"/>
                  </a:lnTo>
                  <a:cubicBezTo>
                    <a:pt x="4171569" y="0"/>
                    <a:pt x="4179062" y="7620"/>
                    <a:pt x="4179062" y="16891"/>
                  </a:cubicBezTo>
                  <a:lnTo>
                    <a:pt x="4179062" y="943483"/>
                  </a:lnTo>
                  <a:cubicBezTo>
                    <a:pt x="4179062" y="952881"/>
                    <a:pt x="4171442" y="960374"/>
                    <a:pt x="416217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4162171" y="926592"/>
                  </a:lnTo>
                  <a:lnTo>
                    <a:pt x="4162171" y="943483"/>
                  </a:lnTo>
                  <a:lnTo>
                    <a:pt x="4145280" y="943483"/>
                  </a:lnTo>
                  <a:lnTo>
                    <a:pt x="4145280" y="16891"/>
                  </a:lnTo>
                  <a:lnTo>
                    <a:pt x="4162171" y="16891"/>
                  </a:lnTo>
                  <a:lnTo>
                    <a:pt x="4162171" y="33909"/>
                  </a:lnTo>
                  <a:lnTo>
                    <a:pt x="16891" y="33909"/>
                  </a:lnTo>
                  <a:close/>
                </a:path>
              </a:pathLst>
            </a:custGeom>
            <a:solidFill>
              <a:srgbClr val="CADCFC"/>
            </a:solidFill>
          </p:spPr>
        </p:sp>
      </p:grpSp>
      <p:grpSp>
        <p:nvGrpSpPr>
          <p:cNvPr name="Group 56" id="56"/>
          <p:cNvGrpSpPr/>
          <p:nvPr/>
        </p:nvGrpSpPr>
        <p:grpSpPr>
          <a:xfrm rot="0">
            <a:off x="14434823" y="6117161"/>
            <a:ext cx="1854203" cy="720347"/>
            <a:chOff x="0" y="0"/>
            <a:chExt cx="2472271" cy="960463"/>
          </a:xfrm>
        </p:grpSpPr>
        <p:sp>
          <p:nvSpPr>
            <p:cNvPr name="Freeform 57" id="57"/>
            <p:cNvSpPr/>
            <p:nvPr/>
          </p:nvSpPr>
          <p:spPr>
            <a:xfrm flipH="false" flipV="false" rot="0">
              <a:off x="16891" y="16891"/>
              <a:ext cx="2438400" cy="926592"/>
            </a:xfrm>
            <a:custGeom>
              <a:avLst/>
              <a:gdLst/>
              <a:ahLst/>
              <a:cxnLst/>
              <a:rect r="r" b="b" t="t" l="l"/>
              <a:pathLst>
                <a:path h="926592" w="2438400">
                  <a:moveTo>
                    <a:pt x="0" y="0"/>
                  </a:moveTo>
                  <a:lnTo>
                    <a:pt x="2438400" y="0"/>
                  </a:lnTo>
                  <a:lnTo>
                    <a:pt x="2438400" y="926592"/>
                  </a:lnTo>
                  <a:lnTo>
                    <a:pt x="0" y="926592"/>
                  </a:lnTo>
                  <a:close/>
                </a:path>
              </a:pathLst>
            </a:custGeom>
            <a:solidFill>
              <a:srgbClr val="CADCFC"/>
            </a:solidFill>
          </p:spPr>
        </p:sp>
        <p:sp>
          <p:nvSpPr>
            <p:cNvPr name="Freeform 58" id="58"/>
            <p:cNvSpPr/>
            <p:nvPr/>
          </p:nvSpPr>
          <p:spPr>
            <a:xfrm flipH="false" flipV="false" rot="0">
              <a:off x="0" y="0"/>
              <a:ext cx="2472182" cy="960376"/>
            </a:xfrm>
            <a:custGeom>
              <a:avLst/>
              <a:gdLst/>
              <a:ahLst/>
              <a:cxnLst/>
              <a:rect r="r" b="b" t="t" l="l"/>
              <a:pathLst>
                <a:path h="960376" w="2472182">
                  <a:moveTo>
                    <a:pt x="16891" y="0"/>
                  </a:moveTo>
                  <a:lnTo>
                    <a:pt x="2455291" y="0"/>
                  </a:lnTo>
                  <a:cubicBezTo>
                    <a:pt x="2464689" y="0"/>
                    <a:pt x="2472182" y="7620"/>
                    <a:pt x="2472182" y="16891"/>
                  </a:cubicBezTo>
                  <a:lnTo>
                    <a:pt x="2472182" y="943483"/>
                  </a:lnTo>
                  <a:cubicBezTo>
                    <a:pt x="2472182" y="952881"/>
                    <a:pt x="2464562" y="960374"/>
                    <a:pt x="2455291"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2455291" y="926592"/>
                  </a:lnTo>
                  <a:lnTo>
                    <a:pt x="2455291" y="943483"/>
                  </a:lnTo>
                  <a:lnTo>
                    <a:pt x="2438400" y="943483"/>
                  </a:lnTo>
                  <a:lnTo>
                    <a:pt x="2438400" y="16891"/>
                  </a:lnTo>
                  <a:lnTo>
                    <a:pt x="2455291" y="16891"/>
                  </a:lnTo>
                  <a:lnTo>
                    <a:pt x="2455291" y="33909"/>
                  </a:lnTo>
                  <a:lnTo>
                    <a:pt x="16891" y="33909"/>
                  </a:lnTo>
                  <a:close/>
                </a:path>
              </a:pathLst>
            </a:custGeom>
            <a:solidFill>
              <a:srgbClr val="CADCFC"/>
            </a:solidFill>
          </p:spPr>
        </p:sp>
      </p:grpSp>
      <p:grpSp>
        <p:nvGrpSpPr>
          <p:cNvPr name="Group 59" id="59"/>
          <p:cNvGrpSpPr/>
          <p:nvPr/>
        </p:nvGrpSpPr>
        <p:grpSpPr>
          <a:xfrm rot="0">
            <a:off x="16355063" y="6117161"/>
            <a:ext cx="1451867" cy="720347"/>
            <a:chOff x="0" y="0"/>
            <a:chExt cx="1935823" cy="960463"/>
          </a:xfrm>
        </p:grpSpPr>
        <p:sp>
          <p:nvSpPr>
            <p:cNvPr name="Freeform 60" id="60"/>
            <p:cNvSpPr/>
            <p:nvPr/>
          </p:nvSpPr>
          <p:spPr>
            <a:xfrm flipH="false" flipV="false" rot="0">
              <a:off x="16891" y="16891"/>
              <a:ext cx="1901952" cy="926592"/>
            </a:xfrm>
            <a:custGeom>
              <a:avLst/>
              <a:gdLst/>
              <a:ahLst/>
              <a:cxnLst/>
              <a:rect r="r" b="b" t="t" l="l"/>
              <a:pathLst>
                <a:path h="926592" w="1901952">
                  <a:moveTo>
                    <a:pt x="0" y="0"/>
                  </a:moveTo>
                  <a:lnTo>
                    <a:pt x="1901952" y="0"/>
                  </a:lnTo>
                  <a:lnTo>
                    <a:pt x="1901952" y="926592"/>
                  </a:lnTo>
                  <a:lnTo>
                    <a:pt x="0" y="926592"/>
                  </a:lnTo>
                  <a:close/>
                </a:path>
              </a:pathLst>
            </a:custGeom>
            <a:solidFill>
              <a:srgbClr val="D1FAE5"/>
            </a:solidFill>
          </p:spPr>
        </p:sp>
        <p:sp>
          <p:nvSpPr>
            <p:cNvPr name="Freeform 61" id="61"/>
            <p:cNvSpPr/>
            <p:nvPr/>
          </p:nvSpPr>
          <p:spPr>
            <a:xfrm flipH="false" flipV="false" rot="0">
              <a:off x="0" y="0"/>
              <a:ext cx="1935734" cy="960376"/>
            </a:xfrm>
            <a:custGeom>
              <a:avLst/>
              <a:gdLst/>
              <a:ahLst/>
              <a:cxnLst/>
              <a:rect r="r" b="b" t="t" l="l"/>
              <a:pathLst>
                <a:path h="960376" w="1935734">
                  <a:moveTo>
                    <a:pt x="16891" y="0"/>
                  </a:moveTo>
                  <a:lnTo>
                    <a:pt x="1918843" y="0"/>
                  </a:lnTo>
                  <a:cubicBezTo>
                    <a:pt x="1928241" y="0"/>
                    <a:pt x="1935734" y="7620"/>
                    <a:pt x="1935734" y="16891"/>
                  </a:cubicBezTo>
                  <a:lnTo>
                    <a:pt x="1935734" y="943483"/>
                  </a:lnTo>
                  <a:cubicBezTo>
                    <a:pt x="1935734" y="952881"/>
                    <a:pt x="1928114" y="960374"/>
                    <a:pt x="1918843" y="960374"/>
                  </a:cubicBezTo>
                  <a:lnTo>
                    <a:pt x="16891" y="960374"/>
                  </a:lnTo>
                  <a:cubicBezTo>
                    <a:pt x="7620" y="960501"/>
                    <a:pt x="0" y="952881"/>
                    <a:pt x="0" y="943483"/>
                  </a:cubicBezTo>
                  <a:lnTo>
                    <a:pt x="0" y="16891"/>
                  </a:lnTo>
                  <a:cubicBezTo>
                    <a:pt x="0" y="7620"/>
                    <a:pt x="7620" y="0"/>
                    <a:pt x="16891" y="0"/>
                  </a:cubicBezTo>
                  <a:moveTo>
                    <a:pt x="16891" y="33909"/>
                  </a:moveTo>
                  <a:lnTo>
                    <a:pt x="16891" y="16891"/>
                  </a:lnTo>
                  <a:lnTo>
                    <a:pt x="33909" y="16891"/>
                  </a:lnTo>
                  <a:lnTo>
                    <a:pt x="33909" y="943483"/>
                  </a:lnTo>
                  <a:lnTo>
                    <a:pt x="16891" y="943483"/>
                  </a:lnTo>
                  <a:lnTo>
                    <a:pt x="16891" y="926592"/>
                  </a:lnTo>
                  <a:lnTo>
                    <a:pt x="1918843" y="926592"/>
                  </a:lnTo>
                  <a:lnTo>
                    <a:pt x="1918843" y="943483"/>
                  </a:lnTo>
                  <a:lnTo>
                    <a:pt x="1901952" y="943483"/>
                  </a:lnTo>
                  <a:lnTo>
                    <a:pt x="1901952" y="16891"/>
                  </a:lnTo>
                  <a:lnTo>
                    <a:pt x="1918843" y="16891"/>
                  </a:lnTo>
                  <a:lnTo>
                    <a:pt x="1918843" y="33909"/>
                  </a:lnTo>
                  <a:lnTo>
                    <a:pt x="16891" y="33909"/>
                  </a:lnTo>
                  <a:close/>
                </a:path>
              </a:pathLst>
            </a:custGeom>
            <a:solidFill>
              <a:srgbClr val="CADCFC"/>
            </a:solidFill>
          </p:spPr>
        </p:sp>
      </p:grpSp>
      <p:grpSp>
        <p:nvGrpSpPr>
          <p:cNvPr name="Group 62" id="62"/>
          <p:cNvGrpSpPr/>
          <p:nvPr/>
        </p:nvGrpSpPr>
        <p:grpSpPr>
          <a:xfrm rot="0">
            <a:off x="11375136" y="6129858"/>
            <a:ext cx="2926080" cy="694944"/>
            <a:chOff x="0" y="0"/>
            <a:chExt cx="3901440" cy="926592"/>
          </a:xfrm>
        </p:grpSpPr>
        <p:sp>
          <p:nvSpPr>
            <p:cNvPr name="Freeform 63" id="63"/>
            <p:cNvSpPr/>
            <p:nvPr/>
          </p:nvSpPr>
          <p:spPr>
            <a:xfrm flipH="false" flipV="false" rot="0">
              <a:off x="0" y="0"/>
              <a:ext cx="3901440" cy="926592"/>
            </a:xfrm>
            <a:custGeom>
              <a:avLst/>
              <a:gdLst/>
              <a:ahLst/>
              <a:cxnLst/>
              <a:rect r="r" b="b" t="t" l="l"/>
              <a:pathLst>
                <a:path h="926592" w="3901440">
                  <a:moveTo>
                    <a:pt x="0" y="0"/>
                  </a:moveTo>
                  <a:lnTo>
                    <a:pt x="3901440" y="0"/>
                  </a:lnTo>
                  <a:lnTo>
                    <a:pt x="3901440" y="926592"/>
                  </a:lnTo>
                  <a:lnTo>
                    <a:pt x="0" y="926592"/>
                  </a:lnTo>
                  <a:close/>
                </a:path>
              </a:pathLst>
            </a:custGeom>
            <a:blipFill>
              <a:blip r:embed="rId3">
                <a:alphaModFix amt="0"/>
              </a:blip>
              <a:stretch>
                <a:fillRect l="0" t="-32042" r="0" b="-32042"/>
              </a:stretch>
            </a:blipFill>
          </p:spPr>
        </p:sp>
        <p:sp>
          <p:nvSpPr>
            <p:cNvPr name="TextBox 64" id="64"/>
            <p:cNvSpPr txBox="true"/>
            <p:nvPr/>
          </p:nvSpPr>
          <p:spPr>
            <a:xfrm>
              <a:off x="0" y="-38100"/>
              <a:ext cx="3901440" cy="964692"/>
            </a:xfrm>
            <a:prstGeom prst="rect">
              <a:avLst/>
            </a:prstGeom>
          </p:spPr>
          <p:txBody>
            <a:bodyPr anchor="ctr" rtlCol="false" tIns="0" lIns="0" bIns="0" rIns="0"/>
            <a:lstStyle/>
            <a:p>
              <a:pPr algn="l">
                <a:lnSpc>
                  <a:spcPts val="2280"/>
                </a:lnSpc>
              </a:pPr>
              <a:r>
                <a:rPr lang="en-US" sz="1900" b="true">
                  <a:solidFill>
                    <a:srgbClr val="1E2761"/>
                  </a:solidFill>
                  <a:latin typeface="Calibri (MS) Bold"/>
                  <a:ea typeface="Calibri (MS) Bold"/>
                  <a:cs typeface="Calibri (MS) Bold"/>
                  <a:sym typeface="Calibri (MS) Bold"/>
                </a:rPr>
                <a:t>beta₁ (GARCH)</a:t>
              </a:r>
            </a:p>
          </p:txBody>
        </p:sp>
      </p:grpSp>
      <p:grpSp>
        <p:nvGrpSpPr>
          <p:cNvPr name="Group 65" id="65"/>
          <p:cNvGrpSpPr/>
          <p:nvPr/>
        </p:nvGrpSpPr>
        <p:grpSpPr>
          <a:xfrm rot="0">
            <a:off x="14447520" y="6129858"/>
            <a:ext cx="1828800" cy="694944"/>
            <a:chOff x="0" y="0"/>
            <a:chExt cx="2438400" cy="926592"/>
          </a:xfrm>
        </p:grpSpPr>
        <p:sp>
          <p:nvSpPr>
            <p:cNvPr name="Freeform 66" id="66"/>
            <p:cNvSpPr/>
            <p:nvPr/>
          </p:nvSpPr>
          <p:spPr>
            <a:xfrm flipH="false" flipV="false" rot="0">
              <a:off x="0" y="0"/>
              <a:ext cx="2438400" cy="926592"/>
            </a:xfrm>
            <a:custGeom>
              <a:avLst/>
              <a:gdLst/>
              <a:ahLst/>
              <a:cxnLst/>
              <a:rect r="r" b="b" t="t" l="l"/>
              <a:pathLst>
                <a:path h="926592" w="2438400">
                  <a:moveTo>
                    <a:pt x="0" y="0"/>
                  </a:moveTo>
                  <a:lnTo>
                    <a:pt x="2438400" y="0"/>
                  </a:lnTo>
                  <a:lnTo>
                    <a:pt x="2438400" y="926592"/>
                  </a:lnTo>
                  <a:lnTo>
                    <a:pt x="0" y="926592"/>
                  </a:lnTo>
                  <a:close/>
                </a:path>
              </a:pathLst>
            </a:custGeom>
            <a:blipFill>
              <a:blip r:embed="rId3">
                <a:alphaModFix amt="0"/>
              </a:blip>
              <a:stretch>
                <a:fillRect l="0" t="-1276" r="0" b="-1276"/>
              </a:stretch>
            </a:blipFill>
          </p:spPr>
        </p:sp>
        <p:sp>
          <p:nvSpPr>
            <p:cNvPr name="TextBox 67" id="67"/>
            <p:cNvSpPr txBox="true"/>
            <p:nvPr/>
          </p:nvSpPr>
          <p:spPr>
            <a:xfrm>
              <a:off x="0" y="-38100"/>
              <a:ext cx="2438400" cy="964692"/>
            </a:xfrm>
            <a:prstGeom prst="rect">
              <a:avLst/>
            </a:prstGeom>
          </p:spPr>
          <p:txBody>
            <a:bodyPr anchor="ctr" rtlCol="false" tIns="0" lIns="0" bIns="0" rIns="0"/>
            <a:lstStyle/>
            <a:p>
              <a:pPr algn="ctr">
                <a:lnSpc>
                  <a:spcPts val="2400"/>
                </a:lnSpc>
              </a:pPr>
              <a:r>
                <a:rPr lang="en-US" sz="2000" b="true">
                  <a:solidFill>
                    <a:srgbClr val="1E2761"/>
                  </a:solidFill>
                  <a:latin typeface="Calibri (MS) Bold"/>
                  <a:ea typeface="Calibri (MS) Bold"/>
                  <a:cs typeface="Calibri (MS) Bold"/>
                  <a:sym typeface="Calibri (MS) Bold"/>
                </a:rPr>
                <a:t>0.9279</a:t>
              </a:r>
            </a:p>
          </p:txBody>
        </p:sp>
      </p:grpSp>
      <p:grpSp>
        <p:nvGrpSpPr>
          <p:cNvPr name="Group 68" id="68"/>
          <p:cNvGrpSpPr/>
          <p:nvPr/>
        </p:nvGrpSpPr>
        <p:grpSpPr>
          <a:xfrm rot="0">
            <a:off x="16367760" y="6129858"/>
            <a:ext cx="1426464" cy="694944"/>
            <a:chOff x="0" y="0"/>
            <a:chExt cx="1901952" cy="926592"/>
          </a:xfrm>
        </p:grpSpPr>
        <p:sp>
          <p:nvSpPr>
            <p:cNvPr name="Freeform 69" id="69"/>
            <p:cNvSpPr/>
            <p:nvPr/>
          </p:nvSpPr>
          <p:spPr>
            <a:xfrm flipH="false" flipV="false" rot="0">
              <a:off x="0" y="0"/>
              <a:ext cx="1901952" cy="926592"/>
            </a:xfrm>
            <a:custGeom>
              <a:avLst/>
              <a:gdLst/>
              <a:ahLst/>
              <a:cxnLst/>
              <a:rect r="r" b="b" t="t" l="l"/>
              <a:pathLst>
                <a:path h="926592" w="1901952">
                  <a:moveTo>
                    <a:pt x="0" y="0"/>
                  </a:moveTo>
                  <a:lnTo>
                    <a:pt x="1901952" y="0"/>
                  </a:lnTo>
                  <a:lnTo>
                    <a:pt x="1901952" y="926592"/>
                  </a:lnTo>
                  <a:lnTo>
                    <a:pt x="0" y="926592"/>
                  </a:lnTo>
                  <a:close/>
                </a:path>
              </a:pathLst>
            </a:custGeom>
            <a:blipFill>
              <a:blip r:embed="rId3">
                <a:alphaModFix amt="0"/>
              </a:blip>
              <a:stretch>
                <a:fillRect l="-12506" t="0" r="-12506" b="0"/>
              </a:stretch>
            </a:blipFill>
          </p:spPr>
        </p:sp>
        <p:sp>
          <p:nvSpPr>
            <p:cNvPr name="TextBox 70" id="70"/>
            <p:cNvSpPr txBox="true"/>
            <p:nvPr/>
          </p:nvSpPr>
          <p:spPr>
            <a:xfrm>
              <a:off x="0" y="-38100"/>
              <a:ext cx="1901952" cy="964692"/>
            </a:xfrm>
            <a:prstGeom prst="rect">
              <a:avLst/>
            </a:prstGeom>
          </p:spPr>
          <p:txBody>
            <a:bodyPr anchor="ctr" rtlCol="false" tIns="0" lIns="0" bIns="0" rIns="0"/>
            <a:lstStyle/>
            <a:p>
              <a:pPr algn="ctr">
                <a:lnSpc>
                  <a:spcPts val="2039"/>
                </a:lnSpc>
              </a:pPr>
              <a:r>
                <a:rPr lang="en-US" sz="1700">
                  <a:solidFill>
                    <a:srgbClr val="10B981"/>
                  </a:solidFill>
                  <a:latin typeface="Calibri (MS)"/>
                  <a:ea typeface="Calibri (MS)"/>
                  <a:cs typeface="Calibri (MS)"/>
                  <a:sym typeface="Calibri (MS)"/>
                </a:rPr>
                <a:t>p=0.000</a:t>
              </a:r>
            </a:p>
          </p:txBody>
        </p:sp>
      </p:grpSp>
      <p:grpSp>
        <p:nvGrpSpPr>
          <p:cNvPr name="Group 71" id="71"/>
          <p:cNvGrpSpPr/>
          <p:nvPr/>
        </p:nvGrpSpPr>
        <p:grpSpPr>
          <a:xfrm rot="0">
            <a:off x="11234423" y="6902654"/>
            <a:ext cx="6572507" cy="1086107"/>
            <a:chOff x="0" y="0"/>
            <a:chExt cx="8763343" cy="1448143"/>
          </a:xfrm>
        </p:grpSpPr>
        <p:sp>
          <p:nvSpPr>
            <p:cNvPr name="Freeform 72" id="72"/>
            <p:cNvSpPr/>
            <p:nvPr/>
          </p:nvSpPr>
          <p:spPr>
            <a:xfrm flipH="false" flipV="false" rot="0">
              <a:off x="16891" y="16891"/>
              <a:ext cx="8729472" cy="1414272"/>
            </a:xfrm>
            <a:custGeom>
              <a:avLst/>
              <a:gdLst/>
              <a:ahLst/>
              <a:cxnLst/>
              <a:rect r="r" b="b" t="t" l="l"/>
              <a:pathLst>
                <a:path h="1414272" w="8729472">
                  <a:moveTo>
                    <a:pt x="0" y="0"/>
                  </a:moveTo>
                  <a:lnTo>
                    <a:pt x="8729472" y="0"/>
                  </a:lnTo>
                  <a:lnTo>
                    <a:pt x="8729472" y="1414272"/>
                  </a:lnTo>
                  <a:lnTo>
                    <a:pt x="0" y="1414272"/>
                  </a:lnTo>
                  <a:close/>
                </a:path>
              </a:pathLst>
            </a:custGeom>
            <a:solidFill>
              <a:srgbClr val="1E2761"/>
            </a:solidFill>
          </p:spPr>
        </p:sp>
        <p:sp>
          <p:nvSpPr>
            <p:cNvPr name="Freeform 73" id="73"/>
            <p:cNvSpPr/>
            <p:nvPr/>
          </p:nvSpPr>
          <p:spPr>
            <a:xfrm flipH="false" flipV="false" rot="0">
              <a:off x="0" y="0"/>
              <a:ext cx="8763254" cy="1448054"/>
            </a:xfrm>
            <a:custGeom>
              <a:avLst/>
              <a:gdLst/>
              <a:ahLst/>
              <a:cxnLst/>
              <a:rect r="r" b="b" t="t" l="l"/>
              <a:pathLst>
                <a:path h="1448054" w="8763254">
                  <a:moveTo>
                    <a:pt x="16891" y="0"/>
                  </a:moveTo>
                  <a:lnTo>
                    <a:pt x="8746363" y="0"/>
                  </a:lnTo>
                  <a:cubicBezTo>
                    <a:pt x="8755761" y="0"/>
                    <a:pt x="8763254" y="7620"/>
                    <a:pt x="8763254" y="16891"/>
                  </a:cubicBezTo>
                  <a:lnTo>
                    <a:pt x="8763254" y="1431163"/>
                  </a:lnTo>
                  <a:cubicBezTo>
                    <a:pt x="8763254" y="1440561"/>
                    <a:pt x="8755634" y="1448054"/>
                    <a:pt x="8746363" y="1448054"/>
                  </a:cubicBezTo>
                  <a:lnTo>
                    <a:pt x="16891" y="1448054"/>
                  </a:lnTo>
                  <a:cubicBezTo>
                    <a:pt x="7493" y="1448054"/>
                    <a:pt x="0" y="1440434"/>
                    <a:pt x="0" y="1431163"/>
                  </a:cubicBezTo>
                  <a:lnTo>
                    <a:pt x="0" y="16891"/>
                  </a:lnTo>
                  <a:cubicBezTo>
                    <a:pt x="0" y="7620"/>
                    <a:pt x="7620" y="0"/>
                    <a:pt x="16891" y="0"/>
                  </a:cubicBezTo>
                  <a:moveTo>
                    <a:pt x="16891" y="33909"/>
                  </a:moveTo>
                  <a:lnTo>
                    <a:pt x="16891" y="16891"/>
                  </a:lnTo>
                  <a:lnTo>
                    <a:pt x="33909" y="16891"/>
                  </a:lnTo>
                  <a:lnTo>
                    <a:pt x="33909" y="1431163"/>
                  </a:lnTo>
                  <a:lnTo>
                    <a:pt x="16891" y="1431163"/>
                  </a:lnTo>
                  <a:lnTo>
                    <a:pt x="16891" y="1414272"/>
                  </a:lnTo>
                  <a:lnTo>
                    <a:pt x="8746363" y="1414272"/>
                  </a:lnTo>
                  <a:lnTo>
                    <a:pt x="8746363" y="1431163"/>
                  </a:lnTo>
                  <a:lnTo>
                    <a:pt x="8729472" y="1431163"/>
                  </a:lnTo>
                  <a:lnTo>
                    <a:pt x="8729472" y="16891"/>
                  </a:lnTo>
                  <a:lnTo>
                    <a:pt x="8746363" y="16891"/>
                  </a:lnTo>
                  <a:lnTo>
                    <a:pt x="8746363" y="33909"/>
                  </a:lnTo>
                  <a:lnTo>
                    <a:pt x="16891" y="33909"/>
                  </a:lnTo>
                  <a:close/>
                </a:path>
              </a:pathLst>
            </a:custGeom>
            <a:solidFill>
              <a:srgbClr val="1E2761"/>
            </a:solidFill>
          </p:spPr>
        </p:sp>
      </p:grpSp>
      <p:grpSp>
        <p:nvGrpSpPr>
          <p:cNvPr name="Group 74" id="74"/>
          <p:cNvGrpSpPr/>
          <p:nvPr/>
        </p:nvGrpSpPr>
        <p:grpSpPr>
          <a:xfrm rot="0">
            <a:off x="11247120" y="6951927"/>
            <a:ext cx="6547104" cy="493776"/>
            <a:chOff x="0" y="0"/>
            <a:chExt cx="8729472" cy="658368"/>
          </a:xfrm>
        </p:grpSpPr>
        <p:sp>
          <p:nvSpPr>
            <p:cNvPr name="Freeform 75" id="75"/>
            <p:cNvSpPr/>
            <p:nvPr/>
          </p:nvSpPr>
          <p:spPr>
            <a:xfrm flipH="false" flipV="false" rot="0">
              <a:off x="0" y="0"/>
              <a:ext cx="8729472" cy="658368"/>
            </a:xfrm>
            <a:custGeom>
              <a:avLst/>
              <a:gdLst/>
              <a:ahLst/>
              <a:cxnLst/>
              <a:rect r="r" b="b" t="t" l="l"/>
              <a:pathLst>
                <a:path h="658368" w="8729472">
                  <a:moveTo>
                    <a:pt x="0" y="0"/>
                  </a:moveTo>
                  <a:lnTo>
                    <a:pt x="8729472" y="0"/>
                  </a:lnTo>
                  <a:lnTo>
                    <a:pt x="8729472" y="658368"/>
                  </a:lnTo>
                  <a:lnTo>
                    <a:pt x="0" y="658368"/>
                  </a:lnTo>
                  <a:close/>
                </a:path>
              </a:pathLst>
            </a:custGeom>
            <a:blipFill>
              <a:blip r:embed="rId3">
                <a:alphaModFix amt="0"/>
              </a:blip>
              <a:stretch>
                <a:fillRect l="0" t="-208357" r="0" b="-208357"/>
              </a:stretch>
            </a:blipFill>
          </p:spPr>
        </p:sp>
        <p:sp>
          <p:nvSpPr>
            <p:cNvPr name="TextBox 76" id="76"/>
            <p:cNvSpPr txBox="true"/>
            <p:nvPr/>
          </p:nvSpPr>
          <p:spPr>
            <a:xfrm>
              <a:off x="0" y="-66675"/>
              <a:ext cx="8729472" cy="725043"/>
            </a:xfrm>
            <a:prstGeom prst="rect">
              <a:avLst/>
            </a:prstGeom>
          </p:spPr>
          <p:txBody>
            <a:bodyPr anchor="ctr" rtlCol="false" tIns="0" lIns="0" bIns="0" rIns="0"/>
            <a:lstStyle/>
            <a:p>
              <a:pPr algn="ctr">
                <a:lnSpc>
                  <a:spcPts val="3600"/>
                </a:lnSpc>
              </a:pPr>
              <a:r>
                <a:rPr lang="en-US" sz="3000" b="true">
                  <a:solidFill>
                    <a:srgbClr val="F59E0B"/>
                  </a:solidFill>
                  <a:latin typeface="Calibri (MS) Bold"/>
                  <a:ea typeface="Calibri (MS) Bold"/>
                  <a:cs typeface="Calibri (MS) Bold"/>
                  <a:sym typeface="Calibri (MS) Bold"/>
                </a:rPr>
                <a:t>α₁ + β₁  =  1.0000</a:t>
              </a:r>
            </a:p>
          </p:txBody>
        </p:sp>
      </p:grpSp>
      <p:grpSp>
        <p:nvGrpSpPr>
          <p:cNvPr name="Group 77" id="77"/>
          <p:cNvGrpSpPr/>
          <p:nvPr/>
        </p:nvGrpSpPr>
        <p:grpSpPr>
          <a:xfrm rot="0">
            <a:off x="11247120" y="7427415"/>
            <a:ext cx="6547104" cy="457200"/>
            <a:chOff x="0" y="0"/>
            <a:chExt cx="8729472" cy="609600"/>
          </a:xfrm>
        </p:grpSpPr>
        <p:sp>
          <p:nvSpPr>
            <p:cNvPr name="Freeform 78" id="78"/>
            <p:cNvSpPr/>
            <p:nvPr/>
          </p:nvSpPr>
          <p:spPr>
            <a:xfrm flipH="false" flipV="false" rot="0">
              <a:off x="0" y="0"/>
              <a:ext cx="8729472" cy="609600"/>
            </a:xfrm>
            <a:custGeom>
              <a:avLst/>
              <a:gdLst/>
              <a:ahLst/>
              <a:cxnLst/>
              <a:rect r="r" b="b" t="t" l="l"/>
              <a:pathLst>
                <a:path h="609600" w="8729472">
                  <a:moveTo>
                    <a:pt x="0" y="0"/>
                  </a:moveTo>
                  <a:lnTo>
                    <a:pt x="8729472" y="0"/>
                  </a:lnTo>
                  <a:lnTo>
                    <a:pt x="8729472" y="609600"/>
                  </a:lnTo>
                  <a:lnTo>
                    <a:pt x="0" y="609600"/>
                  </a:lnTo>
                  <a:close/>
                </a:path>
              </a:pathLst>
            </a:custGeom>
            <a:blipFill>
              <a:blip r:embed="rId3">
                <a:alphaModFix amt="0"/>
              </a:blip>
              <a:stretch>
                <a:fillRect l="0" t="-229025" r="0" b="-229025"/>
              </a:stretch>
            </a:blipFill>
          </p:spPr>
        </p:sp>
        <p:sp>
          <p:nvSpPr>
            <p:cNvPr name="TextBox 79" id="79"/>
            <p:cNvSpPr txBox="true"/>
            <p:nvPr/>
          </p:nvSpPr>
          <p:spPr>
            <a:xfrm>
              <a:off x="0" y="-38100"/>
              <a:ext cx="8729472" cy="647700"/>
            </a:xfrm>
            <a:prstGeom prst="rect">
              <a:avLst/>
            </a:prstGeom>
          </p:spPr>
          <p:txBody>
            <a:bodyPr anchor="ctr" rtlCol="false" tIns="0" lIns="0" bIns="0" rIns="0"/>
            <a:lstStyle/>
            <a:p>
              <a:pPr algn="ctr">
                <a:lnSpc>
                  <a:spcPts val="2039"/>
                </a:lnSpc>
              </a:pPr>
              <a:r>
                <a:rPr lang="en-US" sz="1700">
                  <a:solidFill>
                    <a:srgbClr val="CADCFC"/>
                  </a:solidFill>
                  <a:latin typeface="Calibri (MS)"/>
                  <a:ea typeface="Calibri (MS)"/>
                  <a:cs typeface="Calibri (MS)"/>
                  <a:sym typeface="Calibri (MS)"/>
                </a:rPr>
                <a:t>Volatility shocks are extremely persistent</a:t>
              </a:r>
            </a:p>
          </p:txBody>
        </p:sp>
      </p:grpSp>
      <p:grpSp>
        <p:nvGrpSpPr>
          <p:cNvPr name="Group 80" id="80"/>
          <p:cNvGrpSpPr/>
          <p:nvPr/>
        </p:nvGrpSpPr>
        <p:grpSpPr>
          <a:xfrm rot="0">
            <a:off x="901703" y="6482874"/>
            <a:ext cx="9968590" cy="3036407"/>
            <a:chOff x="0" y="0"/>
            <a:chExt cx="2625472" cy="799712"/>
          </a:xfrm>
        </p:grpSpPr>
        <p:sp>
          <p:nvSpPr>
            <p:cNvPr name="Freeform 81" id="81"/>
            <p:cNvSpPr/>
            <p:nvPr/>
          </p:nvSpPr>
          <p:spPr>
            <a:xfrm flipH="false" flipV="false" rot="0">
              <a:off x="0" y="0"/>
              <a:ext cx="2625472" cy="799712"/>
            </a:xfrm>
            <a:custGeom>
              <a:avLst/>
              <a:gdLst/>
              <a:ahLst/>
              <a:cxnLst/>
              <a:rect r="r" b="b" t="t" l="l"/>
              <a:pathLst>
                <a:path h="799712" w="2625472">
                  <a:moveTo>
                    <a:pt x="0" y="0"/>
                  </a:moveTo>
                  <a:lnTo>
                    <a:pt x="2625472" y="0"/>
                  </a:lnTo>
                  <a:lnTo>
                    <a:pt x="2625472" y="799712"/>
                  </a:lnTo>
                  <a:lnTo>
                    <a:pt x="0" y="799712"/>
                  </a:lnTo>
                  <a:close/>
                </a:path>
              </a:pathLst>
            </a:custGeom>
            <a:solidFill>
              <a:srgbClr val="FEF3C7"/>
            </a:solidFill>
          </p:spPr>
        </p:sp>
        <p:sp>
          <p:nvSpPr>
            <p:cNvPr name="TextBox 82" id="82"/>
            <p:cNvSpPr txBox="true"/>
            <p:nvPr/>
          </p:nvSpPr>
          <p:spPr>
            <a:xfrm>
              <a:off x="0" y="-38100"/>
              <a:ext cx="2625472" cy="837812"/>
            </a:xfrm>
            <a:prstGeom prst="rect">
              <a:avLst/>
            </a:prstGeom>
          </p:spPr>
          <p:txBody>
            <a:bodyPr anchor="ctr" rtlCol="false" tIns="50800" lIns="50800" bIns="50800" rIns="50800"/>
            <a:lstStyle/>
            <a:p>
              <a:pPr algn="ctr">
                <a:lnSpc>
                  <a:spcPts val="2400"/>
                </a:lnSpc>
              </a:pPr>
            </a:p>
          </p:txBody>
        </p:sp>
      </p:grpSp>
      <p:grpSp>
        <p:nvGrpSpPr>
          <p:cNvPr name="Group 83" id="83"/>
          <p:cNvGrpSpPr/>
          <p:nvPr/>
        </p:nvGrpSpPr>
        <p:grpSpPr>
          <a:xfrm rot="0">
            <a:off x="1061176" y="6580178"/>
            <a:ext cx="9579435" cy="2841799"/>
            <a:chOff x="0" y="0"/>
            <a:chExt cx="12772580" cy="3789065"/>
          </a:xfrm>
        </p:grpSpPr>
        <p:sp>
          <p:nvSpPr>
            <p:cNvPr name="Freeform 84" id="84"/>
            <p:cNvSpPr/>
            <p:nvPr/>
          </p:nvSpPr>
          <p:spPr>
            <a:xfrm flipH="false" flipV="false" rot="0">
              <a:off x="0" y="0"/>
              <a:ext cx="12772580" cy="3789065"/>
            </a:xfrm>
            <a:custGeom>
              <a:avLst/>
              <a:gdLst/>
              <a:ahLst/>
              <a:cxnLst/>
              <a:rect r="r" b="b" t="t" l="l"/>
              <a:pathLst>
                <a:path h="3789065" w="12772580">
                  <a:moveTo>
                    <a:pt x="0" y="0"/>
                  </a:moveTo>
                  <a:lnTo>
                    <a:pt x="12772580" y="0"/>
                  </a:lnTo>
                  <a:lnTo>
                    <a:pt x="12772580" y="3789065"/>
                  </a:lnTo>
                  <a:lnTo>
                    <a:pt x="0" y="3789065"/>
                  </a:lnTo>
                  <a:close/>
                </a:path>
              </a:pathLst>
            </a:custGeom>
            <a:blipFill>
              <a:blip r:embed="rId3">
                <a:alphaModFix amt="0"/>
              </a:blip>
              <a:stretch>
                <a:fillRect l="0" t="-86568" r="-66090" b="-31615"/>
              </a:stretch>
            </a:blipFill>
          </p:spPr>
        </p:sp>
        <p:sp>
          <p:nvSpPr>
            <p:cNvPr name="TextBox 85" id="85"/>
            <p:cNvSpPr txBox="true"/>
            <p:nvPr/>
          </p:nvSpPr>
          <p:spPr>
            <a:xfrm>
              <a:off x="0" y="-38100"/>
              <a:ext cx="12772580" cy="3827165"/>
            </a:xfrm>
            <a:prstGeom prst="rect">
              <a:avLst/>
            </a:prstGeom>
          </p:spPr>
          <p:txBody>
            <a:bodyPr anchor="ctr" rtlCol="false" tIns="0" lIns="0" bIns="0" rIns="0"/>
            <a:lstStyle/>
            <a:p>
              <a:pPr algn="l" marL="431801" indent="-215900" lvl="1">
                <a:lnSpc>
                  <a:spcPts val="2400"/>
                </a:lnSpc>
                <a:buFont typeface="Arial"/>
                <a:buChar char="•"/>
              </a:pPr>
              <a:r>
                <a:rPr lang="en-US" b="true" sz="2000">
                  <a:solidFill>
                    <a:srgbClr val="334155"/>
                  </a:solidFill>
                  <a:latin typeface="Calibri (MS) Bold"/>
                  <a:ea typeface="Calibri (MS) Bold"/>
                  <a:cs typeface="Calibri (MS) Bold"/>
                  <a:sym typeface="Calibri (MS) Bold"/>
                </a:rPr>
                <a:t>Lower </a:t>
              </a:r>
              <a:r>
                <a:rPr lang="en-US" b="true" sz="2000">
                  <a:solidFill>
                    <a:srgbClr val="334155"/>
                  </a:solidFill>
                  <a:latin typeface="Calibri (MS) Bold"/>
                  <a:ea typeface="Calibri (MS) Bold"/>
                  <a:cs typeface="Calibri (MS) Bold"/>
                  <a:sym typeface="Calibri (MS) Bold"/>
                </a:rPr>
                <a:t>alpha1 (0.072 vs 0.134): The VECM residuals react less sharply to new shocks, because SP500 and VIX in the VECM already absorb part of the contemporaneous market shock before it reaches the MSFT equation residual.</a:t>
              </a:r>
            </a:p>
            <a:p>
              <a:pPr algn="l" marL="431801" indent="-215900" lvl="1">
                <a:lnSpc>
                  <a:spcPts val="2400"/>
                </a:lnSpc>
                <a:buFont typeface="Arial"/>
                <a:buChar char="•"/>
              </a:pPr>
              <a:r>
                <a:rPr lang="en-US" b="true" sz="2000">
                  <a:solidFill>
                    <a:srgbClr val="334155"/>
                  </a:solidFill>
                  <a:latin typeface="Calibri (MS) Bold"/>
                  <a:ea typeface="Calibri (MS) Bold"/>
                  <a:cs typeface="Calibri (MS) Bold"/>
                  <a:sym typeface="Calibri (MS) Bold"/>
                </a:rPr>
                <a:t>Higher beta1 (0.928 vs 0.866): Volatility persistence is even stronger in the VECM residuals, meaning once volatility is elevated in the multivariate system, it takes longer to dissipate.</a:t>
              </a:r>
            </a:p>
            <a:p>
              <a:pPr algn="l" marL="431801" indent="-215900" lvl="1">
                <a:lnSpc>
                  <a:spcPts val="2400"/>
                </a:lnSpc>
                <a:buFont typeface="Arial"/>
                <a:buChar char="•"/>
              </a:pPr>
              <a:r>
                <a:rPr lang="en-US" b="true" sz="2000">
                  <a:solidFill>
                    <a:srgbClr val="334155"/>
                  </a:solidFill>
                  <a:latin typeface="Calibri (MS) Bold"/>
                  <a:ea typeface="Calibri (MS) Bold"/>
                  <a:cs typeface="Calibri (MS) Bold"/>
                  <a:sym typeface="Calibri (MS) Bold"/>
                </a:rPr>
                <a:t>omega not significant (p = 0.156): The long-run variance baseline is imprecisely estimated, which is common when persistence is very high (near-IGARCH behaviour).</a:t>
              </a:r>
            </a:p>
            <a:p>
              <a:pPr algn="l">
                <a:lnSpc>
                  <a:spcPts val="2400"/>
                </a:lnSpc>
              </a:pPr>
            </a:p>
          </p:txBody>
        </p:sp>
      </p:grpSp>
      <p:grpSp>
        <p:nvGrpSpPr>
          <p:cNvPr name="Group 86" id="86"/>
          <p:cNvGrpSpPr/>
          <p:nvPr/>
        </p:nvGrpSpPr>
        <p:grpSpPr>
          <a:xfrm rot="0">
            <a:off x="901703" y="279906"/>
            <a:ext cx="1031243" cy="1031243"/>
            <a:chOff x="0" y="0"/>
            <a:chExt cx="1374991" cy="1374991"/>
          </a:xfrm>
        </p:grpSpPr>
        <p:sp>
          <p:nvSpPr>
            <p:cNvPr name="Freeform 87" id="87"/>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88" id="88"/>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89" id="89"/>
          <p:cNvGrpSpPr/>
          <p:nvPr/>
        </p:nvGrpSpPr>
        <p:grpSpPr>
          <a:xfrm rot="0">
            <a:off x="914400" y="292603"/>
            <a:ext cx="1005840" cy="1005840"/>
            <a:chOff x="0" y="0"/>
            <a:chExt cx="1341120" cy="1341120"/>
          </a:xfrm>
        </p:grpSpPr>
        <p:sp>
          <p:nvSpPr>
            <p:cNvPr name="Freeform 90" id="90"/>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91" id="91"/>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04</a:t>
              </a:r>
            </a:p>
          </p:txBody>
        </p:sp>
      </p:grpSp>
      <p:sp>
        <p:nvSpPr>
          <p:cNvPr name="Freeform 92" id="92"/>
          <p:cNvSpPr/>
          <p:nvPr/>
        </p:nvSpPr>
        <p:spPr>
          <a:xfrm flipH="false" flipV="false" rot="0">
            <a:off x="914400" y="2640330"/>
            <a:ext cx="9955893" cy="3496928"/>
          </a:xfrm>
          <a:custGeom>
            <a:avLst/>
            <a:gdLst/>
            <a:ahLst/>
            <a:cxnLst/>
            <a:rect r="r" b="b" t="t" l="l"/>
            <a:pathLst>
              <a:path h="3496928" w="9955893">
                <a:moveTo>
                  <a:pt x="0" y="0"/>
                </a:moveTo>
                <a:lnTo>
                  <a:pt x="9955893" y="0"/>
                </a:lnTo>
                <a:lnTo>
                  <a:pt x="9955893" y="3496928"/>
                </a:lnTo>
                <a:lnTo>
                  <a:pt x="0" y="3496928"/>
                </a:lnTo>
                <a:lnTo>
                  <a:pt x="0" y="0"/>
                </a:lnTo>
                <a:close/>
              </a:path>
            </a:pathLst>
          </a:custGeom>
          <a:blipFill>
            <a:blip r:embed="rId4"/>
            <a:stretch>
              <a:fillRect l="0" t="0" r="0" b="0"/>
            </a:stretch>
          </a:blipFill>
          <a:ln w="38100" cap="sq">
            <a:solidFill>
              <a:srgbClr val="000000"/>
            </a:solidFill>
            <a:prstDash val="solid"/>
            <a:miter/>
          </a:ln>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CADCFC"/>
        </a:solidFill>
      </p:bgPr>
    </p:bg>
    <p:spTree>
      <p:nvGrpSpPr>
        <p:cNvPr id="1" name=""/>
        <p:cNvGrpSpPr/>
        <p:nvPr/>
      </p:nvGrpSpPr>
      <p:grpSpPr>
        <a:xfrm>
          <a:off x="0" y="0"/>
          <a:ext cx="0" cy="0"/>
          <a:chOff x="0" y="0"/>
          <a:chExt cx="0" cy="0"/>
        </a:xfrm>
      </p:grpSpPr>
      <p:grpSp>
        <p:nvGrpSpPr>
          <p:cNvPr name="Group 2" id="2"/>
          <p:cNvGrpSpPr/>
          <p:nvPr/>
        </p:nvGrpSpPr>
        <p:grpSpPr>
          <a:xfrm rot="0">
            <a:off x="2268217" y="499367"/>
            <a:ext cx="3500123" cy="610619"/>
            <a:chOff x="0" y="0"/>
            <a:chExt cx="4666831" cy="814159"/>
          </a:xfrm>
        </p:grpSpPr>
        <p:sp>
          <p:nvSpPr>
            <p:cNvPr name="Freeform 3" id="3"/>
            <p:cNvSpPr/>
            <p:nvPr/>
          </p:nvSpPr>
          <p:spPr>
            <a:xfrm flipH="false" flipV="false" rot="0">
              <a:off x="16891" y="16891"/>
              <a:ext cx="4632960" cy="780288"/>
            </a:xfrm>
            <a:custGeom>
              <a:avLst/>
              <a:gdLst/>
              <a:ahLst/>
              <a:cxnLst/>
              <a:rect r="r" b="b" t="t" l="l"/>
              <a:pathLst>
                <a:path h="780288" w="4632960">
                  <a:moveTo>
                    <a:pt x="0" y="121920"/>
                  </a:moveTo>
                  <a:cubicBezTo>
                    <a:pt x="0" y="54610"/>
                    <a:pt x="56515" y="0"/>
                    <a:pt x="126238" y="0"/>
                  </a:cubicBezTo>
                  <a:lnTo>
                    <a:pt x="4506722" y="0"/>
                  </a:lnTo>
                  <a:cubicBezTo>
                    <a:pt x="4576445" y="0"/>
                    <a:pt x="4632960" y="54610"/>
                    <a:pt x="4632960" y="121920"/>
                  </a:cubicBezTo>
                  <a:lnTo>
                    <a:pt x="4632960" y="658368"/>
                  </a:lnTo>
                  <a:cubicBezTo>
                    <a:pt x="4632960" y="725678"/>
                    <a:pt x="4576445" y="780288"/>
                    <a:pt x="4506722" y="780288"/>
                  </a:cubicBezTo>
                  <a:lnTo>
                    <a:pt x="126365" y="780288"/>
                  </a:lnTo>
                  <a:cubicBezTo>
                    <a:pt x="56642" y="780288"/>
                    <a:pt x="127" y="725678"/>
                    <a:pt x="127" y="658368"/>
                  </a:cubicBezTo>
                  <a:close/>
                </a:path>
              </a:pathLst>
            </a:custGeom>
            <a:solidFill>
              <a:srgbClr val="F59E0B"/>
            </a:solidFill>
          </p:spPr>
        </p:sp>
        <p:sp>
          <p:nvSpPr>
            <p:cNvPr name="Freeform 4" id="4"/>
            <p:cNvSpPr/>
            <p:nvPr/>
          </p:nvSpPr>
          <p:spPr>
            <a:xfrm flipH="false" flipV="false" rot="0">
              <a:off x="0" y="0"/>
              <a:ext cx="4666869" cy="814070"/>
            </a:xfrm>
            <a:custGeom>
              <a:avLst/>
              <a:gdLst/>
              <a:ahLst/>
              <a:cxnLst/>
              <a:rect r="r" b="b" t="t" l="l"/>
              <a:pathLst>
                <a:path h="814070" w="4666869">
                  <a:moveTo>
                    <a:pt x="0" y="138811"/>
                  </a:moveTo>
                  <a:cubicBezTo>
                    <a:pt x="0" y="61595"/>
                    <a:pt x="64643" y="0"/>
                    <a:pt x="143256" y="0"/>
                  </a:cubicBezTo>
                  <a:lnTo>
                    <a:pt x="4523613" y="0"/>
                  </a:lnTo>
                  <a:lnTo>
                    <a:pt x="4523613" y="16891"/>
                  </a:lnTo>
                  <a:lnTo>
                    <a:pt x="4523613" y="0"/>
                  </a:lnTo>
                  <a:cubicBezTo>
                    <a:pt x="4602099" y="0"/>
                    <a:pt x="4666869" y="61595"/>
                    <a:pt x="4666869" y="138811"/>
                  </a:cubicBezTo>
                  <a:lnTo>
                    <a:pt x="4649978" y="138811"/>
                  </a:lnTo>
                  <a:lnTo>
                    <a:pt x="4666869" y="138811"/>
                  </a:lnTo>
                  <a:lnTo>
                    <a:pt x="4666869" y="675259"/>
                  </a:lnTo>
                  <a:lnTo>
                    <a:pt x="4649978" y="675259"/>
                  </a:lnTo>
                  <a:lnTo>
                    <a:pt x="4666869" y="675259"/>
                  </a:lnTo>
                  <a:cubicBezTo>
                    <a:pt x="4666869" y="752475"/>
                    <a:pt x="4602226" y="814070"/>
                    <a:pt x="4523613" y="814070"/>
                  </a:cubicBezTo>
                  <a:lnTo>
                    <a:pt x="4523613" y="797179"/>
                  </a:lnTo>
                  <a:lnTo>
                    <a:pt x="4523613" y="814070"/>
                  </a:lnTo>
                  <a:lnTo>
                    <a:pt x="143256" y="814070"/>
                  </a:lnTo>
                  <a:lnTo>
                    <a:pt x="143256" y="797179"/>
                  </a:lnTo>
                  <a:lnTo>
                    <a:pt x="143256" y="814070"/>
                  </a:lnTo>
                  <a:cubicBezTo>
                    <a:pt x="64643" y="814197"/>
                    <a:pt x="0" y="752602"/>
                    <a:pt x="0" y="675259"/>
                  </a:cubicBezTo>
                  <a:lnTo>
                    <a:pt x="0" y="138811"/>
                  </a:lnTo>
                  <a:lnTo>
                    <a:pt x="16891" y="138811"/>
                  </a:lnTo>
                  <a:lnTo>
                    <a:pt x="0" y="138811"/>
                  </a:lnTo>
                  <a:moveTo>
                    <a:pt x="33909" y="138811"/>
                  </a:moveTo>
                  <a:lnTo>
                    <a:pt x="33909" y="675259"/>
                  </a:lnTo>
                  <a:lnTo>
                    <a:pt x="16891" y="675259"/>
                  </a:lnTo>
                  <a:lnTo>
                    <a:pt x="33909" y="675259"/>
                  </a:lnTo>
                  <a:cubicBezTo>
                    <a:pt x="33909" y="732663"/>
                    <a:pt x="82296" y="780288"/>
                    <a:pt x="143256" y="780288"/>
                  </a:cubicBezTo>
                  <a:lnTo>
                    <a:pt x="4523613" y="780288"/>
                  </a:lnTo>
                  <a:cubicBezTo>
                    <a:pt x="4584573" y="780288"/>
                    <a:pt x="4632960" y="732790"/>
                    <a:pt x="4632960" y="675259"/>
                  </a:cubicBezTo>
                  <a:lnTo>
                    <a:pt x="4632960" y="138811"/>
                  </a:lnTo>
                  <a:cubicBezTo>
                    <a:pt x="4632960" y="81407"/>
                    <a:pt x="4584573" y="33782"/>
                    <a:pt x="4523613" y="33782"/>
                  </a:cubicBezTo>
                  <a:lnTo>
                    <a:pt x="143256" y="33782"/>
                  </a:lnTo>
                  <a:lnTo>
                    <a:pt x="143256" y="16891"/>
                  </a:lnTo>
                  <a:lnTo>
                    <a:pt x="143256" y="33909"/>
                  </a:lnTo>
                  <a:cubicBezTo>
                    <a:pt x="82296" y="33909"/>
                    <a:pt x="33909" y="81407"/>
                    <a:pt x="33909" y="138938"/>
                  </a:cubicBezTo>
                  <a:close/>
                </a:path>
              </a:pathLst>
            </a:custGeom>
            <a:solidFill>
              <a:srgbClr val="F59E0B"/>
            </a:solidFill>
          </p:spPr>
        </p:sp>
      </p:grpSp>
      <p:grpSp>
        <p:nvGrpSpPr>
          <p:cNvPr name="Group 5" id="5"/>
          <p:cNvGrpSpPr/>
          <p:nvPr/>
        </p:nvGrpSpPr>
        <p:grpSpPr>
          <a:xfrm rot="0">
            <a:off x="2280914" y="475488"/>
            <a:ext cx="3474720" cy="640080"/>
            <a:chOff x="0" y="0"/>
            <a:chExt cx="4632960" cy="853440"/>
          </a:xfrm>
        </p:grpSpPr>
        <p:sp>
          <p:nvSpPr>
            <p:cNvPr name="Freeform 6" id="6"/>
            <p:cNvSpPr/>
            <p:nvPr/>
          </p:nvSpPr>
          <p:spPr>
            <a:xfrm flipH="false" flipV="false" rot="0">
              <a:off x="0" y="0"/>
              <a:ext cx="4632960" cy="853440"/>
            </a:xfrm>
            <a:custGeom>
              <a:avLst/>
              <a:gdLst/>
              <a:ahLst/>
              <a:cxnLst/>
              <a:rect r="r" b="b" t="t" l="l"/>
              <a:pathLst>
                <a:path h="853440" w="4632960">
                  <a:moveTo>
                    <a:pt x="0" y="0"/>
                  </a:moveTo>
                  <a:lnTo>
                    <a:pt x="4632960" y="0"/>
                  </a:lnTo>
                  <a:lnTo>
                    <a:pt x="4632960" y="853440"/>
                  </a:lnTo>
                  <a:lnTo>
                    <a:pt x="0" y="853440"/>
                  </a:lnTo>
                  <a:close/>
                </a:path>
              </a:pathLst>
            </a:custGeom>
            <a:blipFill>
              <a:blip r:embed="rId3">
                <a:alphaModFix amt="0"/>
              </a:blip>
              <a:stretch>
                <a:fillRect l="0" t="-55775" r="0" b="-55775"/>
              </a:stretch>
            </a:blipFill>
          </p:spPr>
        </p:sp>
        <p:sp>
          <p:nvSpPr>
            <p:cNvPr name="TextBox 7" id="7"/>
            <p:cNvSpPr txBox="true"/>
            <p:nvPr/>
          </p:nvSpPr>
          <p:spPr>
            <a:xfrm>
              <a:off x="0" y="-66675"/>
              <a:ext cx="4632960" cy="920115"/>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TASK 3 · GARCH</a:t>
              </a:r>
            </a:p>
          </p:txBody>
        </p:sp>
      </p:grpSp>
      <p:grpSp>
        <p:nvGrpSpPr>
          <p:cNvPr name="Group 8" id="8"/>
          <p:cNvGrpSpPr/>
          <p:nvPr/>
        </p:nvGrpSpPr>
        <p:grpSpPr>
          <a:xfrm rot="0">
            <a:off x="10596877" y="2895064"/>
            <a:ext cx="6700523" cy="3194837"/>
            <a:chOff x="0" y="0"/>
            <a:chExt cx="1764747" cy="841438"/>
          </a:xfrm>
        </p:grpSpPr>
        <p:sp>
          <p:nvSpPr>
            <p:cNvPr name="Freeform 9" id="9"/>
            <p:cNvSpPr/>
            <p:nvPr/>
          </p:nvSpPr>
          <p:spPr>
            <a:xfrm flipH="false" flipV="false" rot="0">
              <a:off x="0" y="0"/>
              <a:ext cx="1764747" cy="841438"/>
            </a:xfrm>
            <a:custGeom>
              <a:avLst/>
              <a:gdLst/>
              <a:ahLst/>
              <a:cxnLst/>
              <a:rect r="r" b="b" t="t" l="l"/>
              <a:pathLst>
                <a:path h="841438" w="1764747">
                  <a:moveTo>
                    <a:pt x="0" y="0"/>
                  </a:moveTo>
                  <a:lnTo>
                    <a:pt x="1764747" y="0"/>
                  </a:lnTo>
                  <a:lnTo>
                    <a:pt x="1764747" y="841438"/>
                  </a:lnTo>
                  <a:lnTo>
                    <a:pt x="0" y="841438"/>
                  </a:lnTo>
                  <a:close/>
                </a:path>
              </a:pathLst>
            </a:custGeom>
            <a:solidFill>
              <a:srgbClr val="FEE2E2"/>
            </a:solidFill>
          </p:spPr>
        </p:sp>
        <p:sp>
          <p:nvSpPr>
            <p:cNvPr name="TextBox 10" id="10"/>
            <p:cNvSpPr txBox="true"/>
            <p:nvPr/>
          </p:nvSpPr>
          <p:spPr>
            <a:xfrm>
              <a:off x="0" y="-38100"/>
              <a:ext cx="1764747" cy="879538"/>
            </a:xfrm>
            <a:prstGeom prst="rect">
              <a:avLst/>
            </a:prstGeom>
          </p:spPr>
          <p:txBody>
            <a:bodyPr anchor="ctr" rtlCol="false" tIns="50800" lIns="50800" bIns="50800" rIns="50800"/>
            <a:lstStyle/>
            <a:p>
              <a:pPr algn="ctr">
                <a:lnSpc>
                  <a:spcPts val="2400"/>
                </a:lnSpc>
              </a:pPr>
            </a:p>
          </p:txBody>
        </p:sp>
      </p:grpSp>
      <p:grpSp>
        <p:nvGrpSpPr>
          <p:cNvPr name="Group 11" id="11"/>
          <p:cNvGrpSpPr/>
          <p:nvPr/>
        </p:nvGrpSpPr>
        <p:grpSpPr>
          <a:xfrm rot="0">
            <a:off x="914400" y="1280160"/>
            <a:ext cx="16459200" cy="1188720"/>
            <a:chOff x="0" y="0"/>
            <a:chExt cx="21945600" cy="1584960"/>
          </a:xfrm>
        </p:grpSpPr>
        <p:sp>
          <p:nvSpPr>
            <p:cNvPr name="Freeform 12" id="12"/>
            <p:cNvSpPr/>
            <p:nvPr/>
          </p:nvSpPr>
          <p:spPr>
            <a:xfrm flipH="false" flipV="false" rot="0">
              <a:off x="0" y="0"/>
              <a:ext cx="21945600" cy="1584960"/>
            </a:xfrm>
            <a:custGeom>
              <a:avLst/>
              <a:gdLst/>
              <a:ahLst/>
              <a:cxnLst/>
              <a:rect r="r" b="b" t="t" l="l"/>
              <a:pathLst>
                <a:path h="1584960" w="21945600">
                  <a:moveTo>
                    <a:pt x="0" y="0"/>
                  </a:moveTo>
                  <a:lnTo>
                    <a:pt x="21945600" y="0"/>
                  </a:lnTo>
                  <a:lnTo>
                    <a:pt x="21945600" y="1584960"/>
                  </a:lnTo>
                  <a:lnTo>
                    <a:pt x="0" y="1584960"/>
                  </a:lnTo>
                  <a:close/>
                </a:path>
              </a:pathLst>
            </a:custGeom>
            <a:blipFill>
              <a:blip r:embed="rId3">
                <a:alphaModFix amt="0"/>
              </a:blip>
              <a:stretch>
                <a:fillRect l="0" t="-219792" r="0" b="-219792"/>
              </a:stretch>
            </a:blipFill>
          </p:spPr>
        </p:sp>
        <p:sp>
          <p:nvSpPr>
            <p:cNvPr name="TextBox 13" id="13"/>
            <p:cNvSpPr txBox="true"/>
            <p:nvPr/>
          </p:nvSpPr>
          <p:spPr>
            <a:xfrm>
              <a:off x="0" y="-104775"/>
              <a:ext cx="21945600" cy="1689735"/>
            </a:xfrm>
            <a:prstGeom prst="rect">
              <a:avLst/>
            </a:prstGeom>
          </p:spPr>
          <p:txBody>
            <a:bodyPr anchor="ctr" rtlCol="false" tIns="0" lIns="0" bIns="0" rIns="0"/>
            <a:lstStyle/>
            <a:p>
              <a:pPr algn="l">
                <a:lnSpc>
                  <a:spcPts val="6240"/>
                </a:lnSpc>
              </a:pPr>
              <a:r>
                <a:rPr lang="en-US" sz="5200" b="true">
                  <a:solidFill>
                    <a:srgbClr val="1E2761"/>
                  </a:solidFill>
                  <a:latin typeface="Calibri (MS) Bold"/>
                  <a:ea typeface="Calibri (MS) Bold"/>
                  <a:cs typeface="Calibri (MS) Bold"/>
                  <a:sym typeface="Calibri (MS) Bold"/>
                </a:rPr>
                <a:t>Volatility Forecast (30 Days)</a:t>
              </a:r>
            </a:p>
          </p:txBody>
        </p:sp>
      </p:grpSp>
      <p:grpSp>
        <p:nvGrpSpPr>
          <p:cNvPr name="Group 14" id="14"/>
          <p:cNvGrpSpPr/>
          <p:nvPr/>
        </p:nvGrpSpPr>
        <p:grpSpPr>
          <a:xfrm rot="0">
            <a:off x="10883894" y="3341751"/>
            <a:ext cx="6126480" cy="512064"/>
            <a:chOff x="0" y="0"/>
            <a:chExt cx="8168640" cy="682752"/>
          </a:xfrm>
        </p:grpSpPr>
        <p:sp>
          <p:nvSpPr>
            <p:cNvPr name="Freeform 15" id="15"/>
            <p:cNvSpPr/>
            <p:nvPr/>
          </p:nvSpPr>
          <p:spPr>
            <a:xfrm flipH="false" flipV="false" rot="0">
              <a:off x="0" y="0"/>
              <a:ext cx="8168640" cy="682752"/>
            </a:xfrm>
            <a:custGeom>
              <a:avLst/>
              <a:gdLst/>
              <a:ahLst/>
              <a:cxnLst/>
              <a:rect r="r" b="b" t="t" l="l"/>
              <a:pathLst>
                <a:path h="682752" w="8168640">
                  <a:moveTo>
                    <a:pt x="0" y="0"/>
                  </a:moveTo>
                  <a:lnTo>
                    <a:pt x="8168640" y="0"/>
                  </a:lnTo>
                  <a:lnTo>
                    <a:pt x="8168640" y="682752"/>
                  </a:lnTo>
                  <a:lnTo>
                    <a:pt x="0" y="682752"/>
                  </a:lnTo>
                  <a:close/>
                </a:path>
              </a:pathLst>
            </a:custGeom>
            <a:blipFill>
              <a:blip r:embed="rId3">
                <a:alphaModFix amt="0"/>
              </a:blip>
              <a:stretch>
                <a:fillRect l="0" t="-183124" r="0" b="-183124"/>
              </a:stretch>
            </a:blipFill>
          </p:spPr>
        </p:sp>
        <p:sp>
          <p:nvSpPr>
            <p:cNvPr name="TextBox 16" id="16"/>
            <p:cNvSpPr txBox="true"/>
            <p:nvPr/>
          </p:nvSpPr>
          <p:spPr>
            <a:xfrm>
              <a:off x="0" y="-47625"/>
              <a:ext cx="8168640" cy="730377"/>
            </a:xfrm>
            <a:prstGeom prst="rect">
              <a:avLst/>
            </a:prstGeom>
          </p:spPr>
          <p:txBody>
            <a:bodyPr anchor="ctr" rtlCol="false" tIns="0" lIns="0" bIns="0" rIns="0"/>
            <a:lstStyle/>
            <a:p>
              <a:pPr algn="ctr">
                <a:lnSpc>
                  <a:spcPts val="2999"/>
                </a:lnSpc>
              </a:pPr>
              <a:r>
                <a:rPr lang="en-US" sz="2499" b="true">
                  <a:solidFill>
                    <a:srgbClr val="1E2761"/>
                  </a:solidFill>
                  <a:latin typeface="Calibri (MS) Bold"/>
                  <a:ea typeface="Calibri (MS) Bold"/>
                  <a:cs typeface="Calibri (MS) Bold"/>
                  <a:sym typeface="Calibri (MS) Bold"/>
                </a:rPr>
                <a:t>30-Day Volatility Forecast (May–Jun 2026)</a:t>
              </a:r>
            </a:p>
          </p:txBody>
        </p:sp>
      </p:grpSp>
      <p:grpSp>
        <p:nvGrpSpPr>
          <p:cNvPr name="Group 17" id="17"/>
          <p:cNvGrpSpPr/>
          <p:nvPr/>
        </p:nvGrpSpPr>
        <p:grpSpPr>
          <a:xfrm rot="0">
            <a:off x="11008357" y="4062509"/>
            <a:ext cx="2801617" cy="1642769"/>
            <a:chOff x="0" y="0"/>
            <a:chExt cx="4216268" cy="2472271"/>
          </a:xfrm>
        </p:grpSpPr>
        <p:sp>
          <p:nvSpPr>
            <p:cNvPr name="Freeform 18" id="18"/>
            <p:cNvSpPr/>
            <p:nvPr/>
          </p:nvSpPr>
          <p:spPr>
            <a:xfrm flipH="false" flipV="false" rot="0">
              <a:off x="13816" y="16891"/>
              <a:ext cx="4188562" cy="2438400"/>
            </a:xfrm>
            <a:custGeom>
              <a:avLst/>
              <a:gdLst/>
              <a:ahLst/>
              <a:cxnLst/>
              <a:rect r="r" b="b" t="t" l="l"/>
              <a:pathLst>
                <a:path h="2438400" w="4188562">
                  <a:moveTo>
                    <a:pt x="0" y="0"/>
                  </a:moveTo>
                  <a:lnTo>
                    <a:pt x="4188562" y="0"/>
                  </a:lnTo>
                  <a:lnTo>
                    <a:pt x="4188562" y="2438400"/>
                  </a:lnTo>
                  <a:lnTo>
                    <a:pt x="0" y="2438400"/>
                  </a:lnTo>
                  <a:close/>
                </a:path>
              </a:pathLst>
            </a:custGeom>
            <a:solidFill>
              <a:srgbClr val="D1FAE5"/>
            </a:solidFill>
          </p:spPr>
        </p:sp>
        <p:sp>
          <p:nvSpPr>
            <p:cNvPr name="Freeform 19" id="19"/>
            <p:cNvSpPr/>
            <p:nvPr/>
          </p:nvSpPr>
          <p:spPr>
            <a:xfrm flipH="false" flipV="false" rot="0">
              <a:off x="0" y="0"/>
              <a:ext cx="4216195" cy="2472182"/>
            </a:xfrm>
            <a:custGeom>
              <a:avLst/>
              <a:gdLst/>
              <a:ahLst/>
              <a:cxnLst/>
              <a:rect r="r" b="b" t="t" l="l"/>
              <a:pathLst>
                <a:path h="2472182" w="4216195">
                  <a:moveTo>
                    <a:pt x="13816" y="0"/>
                  </a:moveTo>
                  <a:lnTo>
                    <a:pt x="4202378" y="0"/>
                  </a:lnTo>
                  <a:cubicBezTo>
                    <a:pt x="4210066" y="0"/>
                    <a:pt x="4216195" y="7620"/>
                    <a:pt x="4216195" y="16891"/>
                  </a:cubicBezTo>
                  <a:lnTo>
                    <a:pt x="4216195" y="2455291"/>
                  </a:lnTo>
                  <a:cubicBezTo>
                    <a:pt x="4216195" y="2464689"/>
                    <a:pt x="4209962" y="2472182"/>
                    <a:pt x="4202378" y="2472182"/>
                  </a:cubicBezTo>
                  <a:lnTo>
                    <a:pt x="13816" y="2472182"/>
                  </a:lnTo>
                  <a:cubicBezTo>
                    <a:pt x="6129" y="2472182"/>
                    <a:pt x="0" y="2464562"/>
                    <a:pt x="0" y="2455291"/>
                  </a:cubicBezTo>
                  <a:lnTo>
                    <a:pt x="0" y="16891"/>
                  </a:lnTo>
                  <a:cubicBezTo>
                    <a:pt x="0" y="7620"/>
                    <a:pt x="6233" y="0"/>
                    <a:pt x="13816" y="0"/>
                  </a:cubicBezTo>
                  <a:moveTo>
                    <a:pt x="13816" y="33909"/>
                  </a:moveTo>
                  <a:lnTo>
                    <a:pt x="13816" y="16891"/>
                  </a:lnTo>
                  <a:lnTo>
                    <a:pt x="27737" y="16891"/>
                  </a:lnTo>
                  <a:lnTo>
                    <a:pt x="27737" y="2455291"/>
                  </a:lnTo>
                  <a:lnTo>
                    <a:pt x="13816" y="2455291"/>
                  </a:lnTo>
                  <a:lnTo>
                    <a:pt x="13816" y="2438400"/>
                  </a:lnTo>
                  <a:lnTo>
                    <a:pt x="4202378" y="2438400"/>
                  </a:lnTo>
                  <a:lnTo>
                    <a:pt x="4202378" y="2455291"/>
                  </a:lnTo>
                  <a:lnTo>
                    <a:pt x="4188562" y="2455291"/>
                  </a:lnTo>
                  <a:lnTo>
                    <a:pt x="4188562" y="16891"/>
                  </a:lnTo>
                  <a:lnTo>
                    <a:pt x="4202378" y="16891"/>
                  </a:lnTo>
                  <a:lnTo>
                    <a:pt x="4202378" y="33909"/>
                  </a:lnTo>
                  <a:lnTo>
                    <a:pt x="13816" y="33909"/>
                  </a:lnTo>
                  <a:close/>
                </a:path>
              </a:pathLst>
            </a:custGeom>
            <a:solidFill>
              <a:srgbClr val="CADCFC"/>
            </a:solidFill>
          </p:spPr>
        </p:sp>
      </p:grpSp>
      <p:grpSp>
        <p:nvGrpSpPr>
          <p:cNvPr name="Group 20" id="20"/>
          <p:cNvGrpSpPr/>
          <p:nvPr/>
        </p:nvGrpSpPr>
        <p:grpSpPr>
          <a:xfrm rot="0">
            <a:off x="10883894" y="4146423"/>
            <a:ext cx="2926080" cy="905256"/>
            <a:chOff x="0" y="0"/>
            <a:chExt cx="3901440" cy="1207008"/>
          </a:xfrm>
        </p:grpSpPr>
        <p:sp>
          <p:nvSpPr>
            <p:cNvPr name="Freeform 21" id="21"/>
            <p:cNvSpPr/>
            <p:nvPr/>
          </p:nvSpPr>
          <p:spPr>
            <a:xfrm flipH="false" flipV="false" rot="0">
              <a:off x="0" y="0"/>
              <a:ext cx="3901440" cy="1207008"/>
            </a:xfrm>
            <a:custGeom>
              <a:avLst/>
              <a:gdLst/>
              <a:ahLst/>
              <a:cxnLst/>
              <a:rect r="r" b="b" t="t" l="l"/>
              <a:pathLst>
                <a:path h="1207008" w="3901440">
                  <a:moveTo>
                    <a:pt x="0" y="0"/>
                  </a:moveTo>
                  <a:lnTo>
                    <a:pt x="3901440" y="0"/>
                  </a:lnTo>
                  <a:lnTo>
                    <a:pt x="3901440" y="1207008"/>
                  </a:lnTo>
                  <a:lnTo>
                    <a:pt x="0" y="1207008"/>
                  </a:lnTo>
                  <a:close/>
                </a:path>
              </a:pathLst>
            </a:custGeom>
            <a:blipFill>
              <a:blip r:embed="rId3">
                <a:alphaModFix amt="0"/>
              </a:blip>
              <a:stretch>
                <a:fillRect l="0" t="-12981" r="0" b="-12981"/>
              </a:stretch>
            </a:blipFill>
          </p:spPr>
        </p:sp>
        <p:sp>
          <p:nvSpPr>
            <p:cNvPr name="TextBox 22" id="22"/>
            <p:cNvSpPr txBox="true"/>
            <p:nvPr/>
          </p:nvSpPr>
          <p:spPr>
            <a:xfrm>
              <a:off x="0" y="-104775"/>
              <a:ext cx="3901440" cy="1311783"/>
            </a:xfrm>
            <a:prstGeom prst="rect">
              <a:avLst/>
            </a:prstGeom>
          </p:spPr>
          <p:txBody>
            <a:bodyPr anchor="ctr" rtlCol="false" tIns="0" lIns="0" bIns="0" rIns="0"/>
            <a:lstStyle/>
            <a:p>
              <a:pPr algn="ctr">
                <a:lnSpc>
                  <a:spcPts val="6240"/>
                </a:lnSpc>
              </a:pPr>
              <a:r>
                <a:rPr lang="en-US" sz="5200" b="true">
                  <a:solidFill>
                    <a:srgbClr val="1E2761"/>
                  </a:solidFill>
                  <a:latin typeface="Calibri (MS) Bold"/>
                  <a:ea typeface="Calibri (MS) Bold"/>
                  <a:cs typeface="Calibri (MS) Bold"/>
                  <a:sym typeface="Calibri (MS) Bold"/>
                </a:rPr>
                <a:t>$9.59</a:t>
              </a:r>
            </a:p>
          </p:txBody>
        </p:sp>
      </p:grpSp>
      <p:grpSp>
        <p:nvGrpSpPr>
          <p:cNvPr name="Group 23" id="23"/>
          <p:cNvGrpSpPr/>
          <p:nvPr/>
        </p:nvGrpSpPr>
        <p:grpSpPr>
          <a:xfrm rot="0">
            <a:off x="10883894" y="4905375"/>
            <a:ext cx="2926080" cy="658368"/>
            <a:chOff x="0" y="0"/>
            <a:chExt cx="3901440" cy="877824"/>
          </a:xfrm>
        </p:grpSpPr>
        <p:sp>
          <p:nvSpPr>
            <p:cNvPr name="Freeform 24" id="24"/>
            <p:cNvSpPr/>
            <p:nvPr/>
          </p:nvSpPr>
          <p:spPr>
            <a:xfrm flipH="false" flipV="false" rot="0">
              <a:off x="0" y="0"/>
              <a:ext cx="3901440" cy="877824"/>
            </a:xfrm>
            <a:custGeom>
              <a:avLst/>
              <a:gdLst/>
              <a:ahLst/>
              <a:cxnLst/>
              <a:rect r="r" b="b" t="t" l="l"/>
              <a:pathLst>
                <a:path h="877824" w="3901440">
                  <a:moveTo>
                    <a:pt x="0" y="0"/>
                  </a:moveTo>
                  <a:lnTo>
                    <a:pt x="3901440" y="0"/>
                  </a:lnTo>
                  <a:lnTo>
                    <a:pt x="3901440" y="877824"/>
                  </a:lnTo>
                  <a:lnTo>
                    <a:pt x="0" y="877824"/>
                  </a:lnTo>
                  <a:close/>
                </a:path>
              </a:pathLst>
            </a:custGeom>
            <a:blipFill>
              <a:blip r:embed="rId3">
                <a:alphaModFix amt="0"/>
              </a:blip>
              <a:stretch>
                <a:fillRect l="0" t="-36600" r="0" b="-36600"/>
              </a:stretch>
            </a:blipFill>
          </p:spPr>
        </p:sp>
        <p:sp>
          <p:nvSpPr>
            <p:cNvPr name="TextBox 25" id="25"/>
            <p:cNvSpPr txBox="true"/>
            <p:nvPr/>
          </p:nvSpPr>
          <p:spPr>
            <a:xfrm>
              <a:off x="0" y="-47625"/>
              <a:ext cx="3901440" cy="925449"/>
            </a:xfrm>
            <a:prstGeom prst="rect">
              <a:avLst/>
            </a:prstGeom>
          </p:spPr>
          <p:txBody>
            <a:bodyPr anchor="ctr" rtlCol="false" tIns="0" lIns="0" bIns="0" rIns="0"/>
            <a:lstStyle/>
            <a:p>
              <a:pPr algn="ctr">
                <a:lnSpc>
                  <a:spcPts val="2399"/>
                </a:lnSpc>
              </a:pPr>
              <a:r>
                <a:rPr lang="en-US" sz="1999">
                  <a:solidFill>
                    <a:srgbClr val="334155"/>
                  </a:solidFill>
                  <a:latin typeface="Calibri (MS)"/>
                  <a:ea typeface="Calibri (MS)"/>
                  <a:cs typeface="Calibri (MS)"/>
                  <a:sym typeface="Calibri (MS)"/>
                </a:rPr>
                <a:t>Day-1 Forecast σ</a:t>
              </a:r>
            </a:p>
          </p:txBody>
        </p:sp>
      </p:grpSp>
      <p:grpSp>
        <p:nvGrpSpPr>
          <p:cNvPr name="Group 26" id="26"/>
          <p:cNvGrpSpPr/>
          <p:nvPr/>
        </p:nvGrpSpPr>
        <p:grpSpPr>
          <a:xfrm rot="0">
            <a:off x="14146525" y="4062509"/>
            <a:ext cx="2801617" cy="1642769"/>
            <a:chOff x="0" y="0"/>
            <a:chExt cx="4216268" cy="2472271"/>
          </a:xfrm>
        </p:grpSpPr>
        <p:sp>
          <p:nvSpPr>
            <p:cNvPr name="Freeform 27" id="27"/>
            <p:cNvSpPr/>
            <p:nvPr/>
          </p:nvSpPr>
          <p:spPr>
            <a:xfrm flipH="false" flipV="false" rot="0">
              <a:off x="13816" y="16891"/>
              <a:ext cx="4188562" cy="2438400"/>
            </a:xfrm>
            <a:custGeom>
              <a:avLst/>
              <a:gdLst/>
              <a:ahLst/>
              <a:cxnLst/>
              <a:rect r="r" b="b" t="t" l="l"/>
              <a:pathLst>
                <a:path h="2438400" w="4188562">
                  <a:moveTo>
                    <a:pt x="0" y="0"/>
                  </a:moveTo>
                  <a:lnTo>
                    <a:pt x="4188562" y="0"/>
                  </a:lnTo>
                  <a:lnTo>
                    <a:pt x="4188562" y="2438400"/>
                  </a:lnTo>
                  <a:lnTo>
                    <a:pt x="0" y="2438400"/>
                  </a:lnTo>
                  <a:close/>
                </a:path>
              </a:pathLst>
            </a:custGeom>
            <a:solidFill>
              <a:srgbClr val="D1FAE5"/>
            </a:solidFill>
          </p:spPr>
        </p:sp>
        <p:sp>
          <p:nvSpPr>
            <p:cNvPr name="Freeform 28" id="28"/>
            <p:cNvSpPr/>
            <p:nvPr/>
          </p:nvSpPr>
          <p:spPr>
            <a:xfrm flipH="false" flipV="false" rot="0">
              <a:off x="0" y="0"/>
              <a:ext cx="4216195" cy="2472182"/>
            </a:xfrm>
            <a:custGeom>
              <a:avLst/>
              <a:gdLst/>
              <a:ahLst/>
              <a:cxnLst/>
              <a:rect r="r" b="b" t="t" l="l"/>
              <a:pathLst>
                <a:path h="2472182" w="4216195">
                  <a:moveTo>
                    <a:pt x="13816" y="0"/>
                  </a:moveTo>
                  <a:lnTo>
                    <a:pt x="4202378" y="0"/>
                  </a:lnTo>
                  <a:cubicBezTo>
                    <a:pt x="4210066" y="0"/>
                    <a:pt x="4216195" y="7620"/>
                    <a:pt x="4216195" y="16891"/>
                  </a:cubicBezTo>
                  <a:lnTo>
                    <a:pt x="4216195" y="2455291"/>
                  </a:lnTo>
                  <a:cubicBezTo>
                    <a:pt x="4216195" y="2464689"/>
                    <a:pt x="4209962" y="2472182"/>
                    <a:pt x="4202378" y="2472182"/>
                  </a:cubicBezTo>
                  <a:lnTo>
                    <a:pt x="13816" y="2472182"/>
                  </a:lnTo>
                  <a:cubicBezTo>
                    <a:pt x="6129" y="2472182"/>
                    <a:pt x="0" y="2464562"/>
                    <a:pt x="0" y="2455291"/>
                  </a:cubicBezTo>
                  <a:lnTo>
                    <a:pt x="0" y="16891"/>
                  </a:lnTo>
                  <a:cubicBezTo>
                    <a:pt x="0" y="7620"/>
                    <a:pt x="6233" y="0"/>
                    <a:pt x="13816" y="0"/>
                  </a:cubicBezTo>
                  <a:moveTo>
                    <a:pt x="13816" y="33909"/>
                  </a:moveTo>
                  <a:lnTo>
                    <a:pt x="13816" y="16891"/>
                  </a:lnTo>
                  <a:lnTo>
                    <a:pt x="27737" y="16891"/>
                  </a:lnTo>
                  <a:lnTo>
                    <a:pt x="27737" y="2455291"/>
                  </a:lnTo>
                  <a:lnTo>
                    <a:pt x="13816" y="2455291"/>
                  </a:lnTo>
                  <a:lnTo>
                    <a:pt x="13816" y="2438400"/>
                  </a:lnTo>
                  <a:lnTo>
                    <a:pt x="4202378" y="2438400"/>
                  </a:lnTo>
                  <a:lnTo>
                    <a:pt x="4202378" y="2455291"/>
                  </a:lnTo>
                  <a:lnTo>
                    <a:pt x="4188562" y="2455291"/>
                  </a:lnTo>
                  <a:lnTo>
                    <a:pt x="4188562" y="16891"/>
                  </a:lnTo>
                  <a:lnTo>
                    <a:pt x="4202378" y="16891"/>
                  </a:lnTo>
                  <a:lnTo>
                    <a:pt x="4202378" y="33909"/>
                  </a:lnTo>
                  <a:lnTo>
                    <a:pt x="13816" y="33909"/>
                  </a:lnTo>
                  <a:close/>
                </a:path>
              </a:pathLst>
            </a:custGeom>
            <a:solidFill>
              <a:srgbClr val="CADCFC"/>
            </a:solidFill>
          </p:spPr>
        </p:sp>
      </p:grpSp>
      <p:grpSp>
        <p:nvGrpSpPr>
          <p:cNvPr name="Group 29" id="29"/>
          <p:cNvGrpSpPr/>
          <p:nvPr/>
        </p:nvGrpSpPr>
        <p:grpSpPr>
          <a:xfrm rot="0">
            <a:off x="14084294" y="4146423"/>
            <a:ext cx="2926080" cy="905256"/>
            <a:chOff x="0" y="0"/>
            <a:chExt cx="3901440" cy="1207008"/>
          </a:xfrm>
        </p:grpSpPr>
        <p:sp>
          <p:nvSpPr>
            <p:cNvPr name="Freeform 30" id="30"/>
            <p:cNvSpPr/>
            <p:nvPr/>
          </p:nvSpPr>
          <p:spPr>
            <a:xfrm flipH="false" flipV="false" rot="0">
              <a:off x="0" y="0"/>
              <a:ext cx="3901440" cy="1207008"/>
            </a:xfrm>
            <a:custGeom>
              <a:avLst/>
              <a:gdLst/>
              <a:ahLst/>
              <a:cxnLst/>
              <a:rect r="r" b="b" t="t" l="l"/>
              <a:pathLst>
                <a:path h="1207008" w="3901440">
                  <a:moveTo>
                    <a:pt x="0" y="0"/>
                  </a:moveTo>
                  <a:lnTo>
                    <a:pt x="3901440" y="0"/>
                  </a:lnTo>
                  <a:lnTo>
                    <a:pt x="3901440" y="1207008"/>
                  </a:lnTo>
                  <a:lnTo>
                    <a:pt x="0" y="1207008"/>
                  </a:lnTo>
                  <a:close/>
                </a:path>
              </a:pathLst>
            </a:custGeom>
            <a:blipFill>
              <a:blip r:embed="rId3">
                <a:alphaModFix amt="0"/>
              </a:blip>
              <a:stretch>
                <a:fillRect l="0" t="-12981" r="0" b="-12981"/>
              </a:stretch>
            </a:blipFill>
          </p:spPr>
        </p:sp>
        <p:sp>
          <p:nvSpPr>
            <p:cNvPr name="TextBox 31" id="31"/>
            <p:cNvSpPr txBox="true"/>
            <p:nvPr/>
          </p:nvSpPr>
          <p:spPr>
            <a:xfrm>
              <a:off x="0" y="-104775"/>
              <a:ext cx="3901440" cy="1311783"/>
            </a:xfrm>
            <a:prstGeom prst="rect">
              <a:avLst/>
            </a:prstGeom>
          </p:spPr>
          <p:txBody>
            <a:bodyPr anchor="ctr" rtlCol="false" tIns="0" lIns="0" bIns="0" rIns="0"/>
            <a:lstStyle/>
            <a:p>
              <a:pPr algn="ctr">
                <a:lnSpc>
                  <a:spcPts val="6240"/>
                </a:lnSpc>
              </a:pPr>
              <a:r>
                <a:rPr lang="en-US" sz="5200" b="true">
                  <a:solidFill>
                    <a:srgbClr val="1E2761"/>
                  </a:solidFill>
                  <a:latin typeface="Calibri (MS) Bold"/>
                  <a:ea typeface="Calibri (MS) Bold"/>
                  <a:cs typeface="Calibri (MS) Bold"/>
                  <a:sym typeface="Calibri (MS) Bold"/>
                </a:rPr>
                <a:t>~2.3%</a:t>
              </a:r>
            </a:p>
          </p:txBody>
        </p:sp>
      </p:grpSp>
      <p:grpSp>
        <p:nvGrpSpPr>
          <p:cNvPr name="Group 32" id="32"/>
          <p:cNvGrpSpPr/>
          <p:nvPr/>
        </p:nvGrpSpPr>
        <p:grpSpPr>
          <a:xfrm rot="0">
            <a:off x="14084294" y="4905375"/>
            <a:ext cx="2926080" cy="658368"/>
            <a:chOff x="0" y="0"/>
            <a:chExt cx="3901440" cy="877824"/>
          </a:xfrm>
        </p:grpSpPr>
        <p:sp>
          <p:nvSpPr>
            <p:cNvPr name="Freeform 33" id="33"/>
            <p:cNvSpPr/>
            <p:nvPr/>
          </p:nvSpPr>
          <p:spPr>
            <a:xfrm flipH="false" flipV="false" rot="0">
              <a:off x="0" y="0"/>
              <a:ext cx="3901440" cy="877824"/>
            </a:xfrm>
            <a:custGeom>
              <a:avLst/>
              <a:gdLst/>
              <a:ahLst/>
              <a:cxnLst/>
              <a:rect r="r" b="b" t="t" l="l"/>
              <a:pathLst>
                <a:path h="877824" w="3901440">
                  <a:moveTo>
                    <a:pt x="0" y="0"/>
                  </a:moveTo>
                  <a:lnTo>
                    <a:pt x="3901440" y="0"/>
                  </a:lnTo>
                  <a:lnTo>
                    <a:pt x="3901440" y="877824"/>
                  </a:lnTo>
                  <a:lnTo>
                    <a:pt x="0" y="877824"/>
                  </a:lnTo>
                  <a:close/>
                </a:path>
              </a:pathLst>
            </a:custGeom>
            <a:blipFill>
              <a:blip r:embed="rId3">
                <a:alphaModFix amt="0"/>
              </a:blip>
              <a:stretch>
                <a:fillRect l="0" t="-36600" r="0" b="-36600"/>
              </a:stretch>
            </a:blipFill>
          </p:spPr>
        </p:sp>
        <p:sp>
          <p:nvSpPr>
            <p:cNvPr name="TextBox 34" id="34"/>
            <p:cNvSpPr txBox="true"/>
            <p:nvPr/>
          </p:nvSpPr>
          <p:spPr>
            <a:xfrm>
              <a:off x="0" y="-47625"/>
              <a:ext cx="3901440" cy="925449"/>
            </a:xfrm>
            <a:prstGeom prst="rect">
              <a:avLst/>
            </a:prstGeom>
          </p:spPr>
          <p:txBody>
            <a:bodyPr anchor="ctr" rtlCol="false" tIns="0" lIns="0" bIns="0" rIns="0"/>
            <a:lstStyle/>
            <a:p>
              <a:pPr algn="ctr">
                <a:lnSpc>
                  <a:spcPts val="2399"/>
                </a:lnSpc>
              </a:pPr>
              <a:r>
                <a:rPr lang="en-US" sz="1999">
                  <a:solidFill>
                    <a:srgbClr val="334155"/>
                  </a:solidFill>
                  <a:latin typeface="Calibri (MS)"/>
                  <a:ea typeface="Calibri (MS)"/>
                  <a:cs typeface="Calibri (MS)"/>
                  <a:sym typeface="Calibri (MS)"/>
                </a:rPr>
                <a:t>Daily Volatility %</a:t>
              </a:r>
            </a:p>
          </p:txBody>
        </p:sp>
      </p:grpSp>
      <p:grpSp>
        <p:nvGrpSpPr>
          <p:cNvPr name="Group 35" id="35"/>
          <p:cNvGrpSpPr/>
          <p:nvPr/>
        </p:nvGrpSpPr>
        <p:grpSpPr>
          <a:xfrm rot="0">
            <a:off x="10596877" y="6404225"/>
            <a:ext cx="6700523" cy="2349690"/>
            <a:chOff x="0" y="0"/>
            <a:chExt cx="1764747" cy="618848"/>
          </a:xfrm>
        </p:grpSpPr>
        <p:sp>
          <p:nvSpPr>
            <p:cNvPr name="Freeform 36" id="36"/>
            <p:cNvSpPr/>
            <p:nvPr/>
          </p:nvSpPr>
          <p:spPr>
            <a:xfrm flipH="false" flipV="false" rot="0">
              <a:off x="0" y="0"/>
              <a:ext cx="1764747" cy="618848"/>
            </a:xfrm>
            <a:custGeom>
              <a:avLst/>
              <a:gdLst/>
              <a:ahLst/>
              <a:cxnLst/>
              <a:rect r="r" b="b" t="t" l="l"/>
              <a:pathLst>
                <a:path h="618848" w="1764747">
                  <a:moveTo>
                    <a:pt x="0" y="0"/>
                  </a:moveTo>
                  <a:lnTo>
                    <a:pt x="1764747" y="0"/>
                  </a:lnTo>
                  <a:lnTo>
                    <a:pt x="1764747" y="618848"/>
                  </a:lnTo>
                  <a:lnTo>
                    <a:pt x="0" y="618848"/>
                  </a:lnTo>
                  <a:close/>
                </a:path>
              </a:pathLst>
            </a:custGeom>
            <a:solidFill>
              <a:srgbClr val="FEF3C7"/>
            </a:solidFill>
          </p:spPr>
        </p:sp>
        <p:sp>
          <p:nvSpPr>
            <p:cNvPr name="TextBox 37" id="37"/>
            <p:cNvSpPr txBox="true"/>
            <p:nvPr/>
          </p:nvSpPr>
          <p:spPr>
            <a:xfrm>
              <a:off x="0" y="-38100"/>
              <a:ext cx="1764747" cy="656948"/>
            </a:xfrm>
            <a:prstGeom prst="rect">
              <a:avLst/>
            </a:prstGeom>
          </p:spPr>
          <p:txBody>
            <a:bodyPr anchor="ctr" rtlCol="false" tIns="50800" lIns="50800" bIns="50800" rIns="50800"/>
            <a:lstStyle/>
            <a:p>
              <a:pPr algn="ctr">
                <a:lnSpc>
                  <a:spcPts val="2400"/>
                </a:lnSpc>
              </a:pPr>
            </a:p>
          </p:txBody>
        </p:sp>
      </p:grpSp>
      <p:grpSp>
        <p:nvGrpSpPr>
          <p:cNvPr name="Group 38" id="38"/>
          <p:cNvGrpSpPr/>
          <p:nvPr/>
        </p:nvGrpSpPr>
        <p:grpSpPr>
          <a:xfrm rot="0">
            <a:off x="11008357" y="6893270"/>
            <a:ext cx="6126480" cy="1371600"/>
            <a:chOff x="0" y="0"/>
            <a:chExt cx="8168640" cy="1828800"/>
          </a:xfrm>
        </p:grpSpPr>
        <p:sp>
          <p:nvSpPr>
            <p:cNvPr name="Freeform 39" id="39"/>
            <p:cNvSpPr/>
            <p:nvPr/>
          </p:nvSpPr>
          <p:spPr>
            <a:xfrm flipH="false" flipV="false" rot="0">
              <a:off x="0" y="0"/>
              <a:ext cx="8168640" cy="1828800"/>
            </a:xfrm>
            <a:custGeom>
              <a:avLst/>
              <a:gdLst/>
              <a:ahLst/>
              <a:cxnLst/>
              <a:rect r="r" b="b" t="t" l="l"/>
              <a:pathLst>
                <a:path h="1828800" w="8168640">
                  <a:moveTo>
                    <a:pt x="0" y="0"/>
                  </a:moveTo>
                  <a:lnTo>
                    <a:pt x="8168640" y="0"/>
                  </a:lnTo>
                  <a:lnTo>
                    <a:pt x="8168640" y="1828800"/>
                  </a:lnTo>
                  <a:lnTo>
                    <a:pt x="0" y="1828800"/>
                  </a:lnTo>
                  <a:close/>
                </a:path>
              </a:pathLst>
            </a:custGeom>
            <a:blipFill>
              <a:blip r:embed="rId3">
                <a:alphaModFix amt="0"/>
              </a:blip>
              <a:stretch>
                <a:fillRect l="0" t="-37033" r="0" b="-37033"/>
              </a:stretch>
            </a:blipFill>
          </p:spPr>
        </p:sp>
        <p:sp>
          <p:nvSpPr>
            <p:cNvPr name="TextBox 40" id="40"/>
            <p:cNvSpPr txBox="true"/>
            <p:nvPr/>
          </p:nvSpPr>
          <p:spPr>
            <a:xfrm>
              <a:off x="0" y="-47625"/>
              <a:ext cx="8168640" cy="1876425"/>
            </a:xfrm>
            <a:prstGeom prst="rect">
              <a:avLst/>
            </a:prstGeom>
          </p:spPr>
          <p:txBody>
            <a:bodyPr anchor="ctr" rtlCol="false" tIns="0" lIns="0" bIns="0" rIns="0"/>
            <a:lstStyle/>
            <a:p>
              <a:pPr algn="l">
                <a:lnSpc>
                  <a:spcPts val="2399"/>
                </a:lnSpc>
              </a:pPr>
              <a:r>
                <a:rPr lang="en-US" sz="1999">
                  <a:solidFill>
                    <a:srgbClr val="334155"/>
                  </a:solidFill>
                  <a:latin typeface="Calibri (MS)"/>
                  <a:ea typeface="Calibri (MS)"/>
                  <a:cs typeface="Calibri (MS)"/>
                  <a:sym typeface="Calibri (MS)"/>
                </a:rPr>
                <a:t>Forecast rises very slowly from 9.586 to 9.605 over 30 days — near-flat trajectory reflects near-IGARCH persistence. Variance: 91.90 → 92.26.</a:t>
              </a:r>
            </a:p>
          </p:txBody>
        </p:sp>
      </p:grpSp>
      <p:grpSp>
        <p:nvGrpSpPr>
          <p:cNvPr name="Group 41" id="41"/>
          <p:cNvGrpSpPr/>
          <p:nvPr/>
        </p:nvGrpSpPr>
        <p:grpSpPr>
          <a:xfrm rot="0">
            <a:off x="914400" y="289055"/>
            <a:ext cx="1031243" cy="1031243"/>
            <a:chOff x="0" y="0"/>
            <a:chExt cx="1374991" cy="1374991"/>
          </a:xfrm>
        </p:grpSpPr>
        <p:sp>
          <p:nvSpPr>
            <p:cNvPr name="Freeform 42" id="42"/>
            <p:cNvSpPr/>
            <p:nvPr/>
          </p:nvSpPr>
          <p:spPr>
            <a:xfrm flipH="false" flipV="false" rot="0">
              <a:off x="16891" y="16891"/>
              <a:ext cx="1341120" cy="1341120"/>
            </a:xfrm>
            <a:custGeom>
              <a:avLst/>
              <a:gdLst/>
              <a:ahLst/>
              <a:cxnLst/>
              <a:rect r="r" b="b" t="t" l="l"/>
              <a:pathLst>
                <a:path h="1341120" w="1341120">
                  <a:moveTo>
                    <a:pt x="0" y="0"/>
                  </a:moveTo>
                  <a:lnTo>
                    <a:pt x="1341120" y="0"/>
                  </a:lnTo>
                  <a:lnTo>
                    <a:pt x="1341120" y="1341120"/>
                  </a:lnTo>
                  <a:lnTo>
                    <a:pt x="0" y="1341120"/>
                  </a:lnTo>
                  <a:close/>
                </a:path>
              </a:pathLst>
            </a:custGeom>
            <a:solidFill>
              <a:srgbClr val="1E2761"/>
            </a:solidFill>
          </p:spPr>
        </p:sp>
        <p:sp>
          <p:nvSpPr>
            <p:cNvPr name="Freeform 43" id="43"/>
            <p:cNvSpPr/>
            <p:nvPr/>
          </p:nvSpPr>
          <p:spPr>
            <a:xfrm flipH="false" flipV="false" rot="0">
              <a:off x="0" y="0"/>
              <a:ext cx="1374902" cy="1374902"/>
            </a:xfrm>
            <a:custGeom>
              <a:avLst/>
              <a:gdLst/>
              <a:ahLst/>
              <a:cxnLst/>
              <a:rect r="r" b="b" t="t" l="l"/>
              <a:pathLst>
                <a:path h="1374902" w="1374902">
                  <a:moveTo>
                    <a:pt x="16891" y="0"/>
                  </a:moveTo>
                  <a:lnTo>
                    <a:pt x="1358011" y="0"/>
                  </a:lnTo>
                  <a:cubicBezTo>
                    <a:pt x="1367409" y="0"/>
                    <a:pt x="1374902" y="7620"/>
                    <a:pt x="1374902" y="16891"/>
                  </a:cubicBezTo>
                  <a:lnTo>
                    <a:pt x="1374902" y="1358011"/>
                  </a:lnTo>
                  <a:cubicBezTo>
                    <a:pt x="1374902" y="1367409"/>
                    <a:pt x="1367282" y="1374902"/>
                    <a:pt x="1358011" y="1374902"/>
                  </a:cubicBezTo>
                  <a:lnTo>
                    <a:pt x="16891" y="1374902"/>
                  </a:lnTo>
                  <a:cubicBezTo>
                    <a:pt x="7493" y="1374902"/>
                    <a:pt x="0" y="1367282"/>
                    <a:pt x="0" y="1358011"/>
                  </a:cubicBezTo>
                  <a:lnTo>
                    <a:pt x="0" y="16891"/>
                  </a:lnTo>
                  <a:cubicBezTo>
                    <a:pt x="0" y="7620"/>
                    <a:pt x="7620" y="0"/>
                    <a:pt x="16891" y="0"/>
                  </a:cubicBezTo>
                  <a:moveTo>
                    <a:pt x="16891" y="33909"/>
                  </a:moveTo>
                  <a:lnTo>
                    <a:pt x="16891" y="16891"/>
                  </a:lnTo>
                  <a:lnTo>
                    <a:pt x="33909" y="16891"/>
                  </a:lnTo>
                  <a:lnTo>
                    <a:pt x="33909" y="1358011"/>
                  </a:lnTo>
                  <a:lnTo>
                    <a:pt x="16891" y="1358011"/>
                  </a:lnTo>
                  <a:lnTo>
                    <a:pt x="16891" y="1341120"/>
                  </a:lnTo>
                  <a:lnTo>
                    <a:pt x="1358011" y="1341120"/>
                  </a:lnTo>
                  <a:lnTo>
                    <a:pt x="1358011" y="1358011"/>
                  </a:lnTo>
                  <a:lnTo>
                    <a:pt x="1341120" y="1358011"/>
                  </a:lnTo>
                  <a:lnTo>
                    <a:pt x="1341120" y="16891"/>
                  </a:lnTo>
                  <a:lnTo>
                    <a:pt x="1358011" y="16891"/>
                  </a:lnTo>
                  <a:lnTo>
                    <a:pt x="1358011" y="33909"/>
                  </a:lnTo>
                  <a:lnTo>
                    <a:pt x="16891" y="33909"/>
                  </a:lnTo>
                  <a:close/>
                </a:path>
              </a:pathLst>
            </a:custGeom>
            <a:solidFill>
              <a:srgbClr val="1E2761"/>
            </a:solidFill>
          </p:spPr>
        </p:sp>
      </p:grpSp>
      <p:grpSp>
        <p:nvGrpSpPr>
          <p:cNvPr name="Group 44" id="44"/>
          <p:cNvGrpSpPr/>
          <p:nvPr/>
        </p:nvGrpSpPr>
        <p:grpSpPr>
          <a:xfrm rot="0">
            <a:off x="927097" y="301752"/>
            <a:ext cx="1005840" cy="1005840"/>
            <a:chOff x="0" y="0"/>
            <a:chExt cx="1341120" cy="1341120"/>
          </a:xfrm>
        </p:grpSpPr>
        <p:sp>
          <p:nvSpPr>
            <p:cNvPr name="Freeform 45" id="45"/>
            <p:cNvSpPr/>
            <p:nvPr/>
          </p:nvSpPr>
          <p:spPr>
            <a:xfrm flipH="false" flipV="false" rot="0">
              <a:off x="0" y="0"/>
              <a:ext cx="1341120" cy="1341120"/>
            </a:xfrm>
            <a:custGeom>
              <a:avLst/>
              <a:gdLst/>
              <a:ahLst/>
              <a:cxnLst/>
              <a:rect r="r" b="b" t="t" l="l"/>
              <a:pathLst>
                <a:path h="1341120" w="1341120">
                  <a:moveTo>
                    <a:pt x="0" y="0"/>
                  </a:moveTo>
                  <a:lnTo>
                    <a:pt x="1341120" y="0"/>
                  </a:lnTo>
                  <a:lnTo>
                    <a:pt x="1341120" y="1341120"/>
                  </a:lnTo>
                  <a:lnTo>
                    <a:pt x="0" y="1341120"/>
                  </a:lnTo>
                  <a:close/>
                </a:path>
              </a:pathLst>
            </a:custGeom>
            <a:blipFill>
              <a:blip r:embed="rId3">
                <a:alphaModFix amt="0"/>
              </a:blip>
              <a:stretch>
                <a:fillRect l="-78303" t="0" r="-78303" b="0"/>
              </a:stretch>
            </a:blipFill>
          </p:spPr>
        </p:sp>
        <p:sp>
          <p:nvSpPr>
            <p:cNvPr name="TextBox 46" id="46"/>
            <p:cNvSpPr txBox="true"/>
            <p:nvPr/>
          </p:nvSpPr>
          <p:spPr>
            <a:xfrm>
              <a:off x="0" y="-66675"/>
              <a:ext cx="1341120" cy="1407795"/>
            </a:xfrm>
            <a:prstGeom prst="rect">
              <a:avLst/>
            </a:prstGeom>
          </p:spPr>
          <p:txBody>
            <a:bodyPr anchor="ctr" rtlCol="false" tIns="0" lIns="0" bIns="0" rIns="0"/>
            <a:lstStyle/>
            <a:p>
              <a:pPr algn="ctr">
                <a:lnSpc>
                  <a:spcPts val="4320"/>
                </a:lnSpc>
              </a:pPr>
              <a:r>
                <a:rPr lang="en-US" sz="3600" b="true">
                  <a:solidFill>
                    <a:srgbClr val="FFFFFF"/>
                  </a:solidFill>
                  <a:latin typeface="Calibri (MS) Bold"/>
                  <a:ea typeface="Calibri (MS) Bold"/>
                  <a:cs typeface="Calibri (MS) Bold"/>
                  <a:sym typeface="Calibri (MS) Bold"/>
                </a:rPr>
                <a:t>04</a:t>
              </a:r>
            </a:p>
          </p:txBody>
        </p:sp>
      </p:grpSp>
      <p:sp>
        <p:nvSpPr>
          <p:cNvPr name="Freeform 47" id="47"/>
          <p:cNvSpPr/>
          <p:nvPr/>
        </p:nvSpPr>
        <p:spPr>
          <a:xfrm flipH="false" flipV="false" rot="0">
            <a:off x="771234" y="4085612"/>
            <a:ext cx="9492268" cy="4008578"/>
          </a:xfrm>
          <a:custGeom>
            <a:avLst/>
            <a:gdLst/>
            <a:ahLst/>
            <a:cxnLst/>
            <a:rect r="r" b="b" t="t" l="l"/>
            <a:pathLst>
              <a:path h="4008578" w="9492268">
                <a:moveTo>
                  <a:pt x="0" y="0"/>
                </a:moveTo>
                <a:lnTo>
                  <a:pt x="9492268" y="0"/>
                </a:lnTo>
                <a:lnTo>
                  <a:pt x="9492268" y="4008577"/>
                </a:lnTo>
                <a:lnTo>
                  <a:pt x="0" y="4008577"/>
                </a:lnTo>
                <a:lnTo>
                  <a:pt x="0" y="0"/>
                </a:lnTo>
                <a:close/>
              </a:path>
            </a:pathLst>
          </a:custGeom>
          <a:blipFill>
            <a:blip r:embed="rId4"/>
            <a:stretch>
              <a:fillRect l="0" t="0" r="0" b="0"/>
            </a:stretch>
          </a:blipFill>
          <a:ln w="38100" cap="sq">
            <a:solidFill>
              <a:srgbClr val="000000"/>
            </a:solidFill>
            <a:prstDash val="solid"/>
            <a:miter/>
          </a:ln>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41C47"/>
        </a:solidFill>
      </p:bgPr>
    </p:bg>
    <p:spTree>
      <p:nvGrpSpPr>
        <p:cNvPr id="1" name=""/>
        <p:cNvGrpSpPr/>
        <p:nvPr/>
      </p:nvGrpSpPr>
      <p:grpSpPr>
        <a:xfrm>
          <a:off x="0" y="0"/>
          <a:ext cx="0" cy="0"/>
          <a:chOff x="0" y="0"/>
          <a:chExt cx="0" cy="0"/>
        </a:xfrm>
      </p:grpSpPr>
      <p:grpSp>
        <p:nvGrpSpPr>
          <p:cNvPr name="Group 2" id="2"/>
          <p:cNvGrpSpPr/>
          <p:nvPr/>
        </p:nvGrpSpPr>
        <p:grpSpPr>
          <a:xfrm rot="0">
            <a:off x="-12697" y="-12697"/>
            <a:ext cx="244859" cy="10312403"/>
            <a:chOff x="0" y="0"/>
            <a:chExt cx="326479" cy="13749871"/>
          </a:xfrm>
        </p:grpSpPr>
        <p:sp>
          <p:nvSpPr>
            <p:cNvPr name="Freeform 3" id="3"/>
            <p:cNvSpPr/>
            <p:nvPr/>
          </p:nvSpPr>
          <p:spPr>
            <a:xfrm flipH="false" flipV="false" rot="0">
              <a:off x="16891" y="16891"/>
              <a:ext cx="292608" cy="13715999"/>
            </a:xfrm>
            <a:custGeom>
              <a:avLst/>
              <a:gdLst/>
              <a:ahLst/>
              <a:cxnLst/>
              <a:rect r="r" b="b" t="t" l="l"/>
              <a:pathLst>
                <a:path h="13715999" w="292608">
                  <a:moveTo>
                    <a:pt x="0" y="0"/>
                  </a:moveTo>
                  <a:lnTo>
                    <a:pt x="292608" y="0"/>
                  </a:lnTo>
                  <a:lnTo>
                    <a:pt x="292608" y="13715999"/>
                  </a:lnTo>
                  <a:lnTo>
                    <a:pt x="0" y="13715999"/>
                  </a:lnTo>
                  <a:close/>
                </a:path>
              </a:pathLst>
            </a:custGeom>
            <a:solidFill>
              <a:srgbClr val="F59E0B"/>
            </a:solidFill>
          </p:spPr>
        </p:sp>
        <p:sp>
          <p:nvSpPr>
            <p:cNvPr name="Freeform 4" id="4"/>
            <p:cNvSpPr/>
            <p:nvPr/>
          </p:nvSpPr>
          <p:spPr>
            <a:xfrm flipH="false" flipV="false" rot="0">
              <a:off x="0" y="0"/>
              <a:ext cx="326390" cy="13749782"/>
            </a:xfrm>
            <a:custGeom>
              <a:avLst/>
              <a:gdLst/>
              <a:ahLst/>
              <a:cxnLst/>
              <a:rect r="r" b="b" t="t" l="l"/>
              <a:pathLst>
                <a:path h="13749782" w="326390">
                  <a:moveTo>
                    <a:pt x="16891" y="0"/>
                  </a:moveTo>
                  <a:lnTo>
                    <a:pt x="309499" y="0"/>
                  </a:lnTo>
                  <a:cubicBezTo>
                    <a:pt x="318897" y="0"/>
                    <a:pt x="326390" y="7620"/>
                    <a:pt x="326390" y="16891"/>
                  </a:cubicBezTo>
                  <a:lnTo>
                    <a:pt x="326390" y="13732890"/>
                  </a:lnTo>
                  <a:cubicBezTo>
                    <a:pt x="326390" y="13742290"/>
                    <a:pt x="318770" y="13749782"/>
                    <a:pt x="309499" y="13749782"/>
                  </a:cubicBezTo>
                  <a:lnTo>
                    <a:pt x="16891" y="13749782"/>
                  </a:lnTo>
                  <a:cubicBezTo>
                    <a:pt x="7493" y="13749782"/>
                    <a:pt x="0" y="13742163"/>
                    <a:pt x="0" y="13732890"/>
                  </a:cubicBezTo>
                  <a:lnTo>
                    <a:pt x="0" y="16891"/>
                  </a:lnTo>
                  <a:cubicBezTo>
                    <a:pt x="0" y="7620"/>
                    <a:pt x="7620" y="0"/>
                    <a:pt x="16891" y="0"/>
                  </a:cubicBezTo>
                  <a:moveTo>
                    <a:pt x="16891" y="33909"/>
                  </a:moveTo>
                  <a:lnTo>
                    <a:pt x="16891" y="16891"/>
                  </a:lnTo>
                  <a:lnTo>
                    <a:pt x="33909" y="16891"/>
                  </a:lnTo>
                  <a:lnTo>
                    <a:pt x="33909" y="13732890"/>
                  </a:lnTo>
                  <a:lnTo>
                    <a:pt x="16891" y="13732890"/>
                  </a:lnTo>
                  <a:lnTo>
                    <a:pt x="16891" y="13716000"/>
                  </a:lnTo>
                  <a:lnTo>
                    <a:pt x="309499" y="13716000"/>
                  </a:lnTo>
                  <a:lnTo>
                    <a:pt x="309499" y="13732890"/>
                  </a:lnTo>
                  <a:lnTo>
                    <a:pt x="292608" y="13732890"/>
                  </a:lnTo>
                  <a:lnTo>
                    <a:pt x="292608" y="16891"/>
                  </a:lnTo>
                  <a:lnTo>
                    <a:pt x="309499" y="16891"/>
                  </a:lnTo>
                  <a:lnTo>
                    <a:pt x="309499" y="33909"/>
                  </a:lnTo>
                  <a:lnTo>
                    <a:pt x="16891" y="33909"/>
                  </a:lnTo>
                  <a:close/>
                </a:path>
              </a:pathLst>
            </a:custGeom>
            <a:solidFill>
              <a:srgbClr val="F59E0B"/>
            </a:solidFill>
          </p:spPr>
        </p:sp>
      </p:grpSp>
      <p:grpSp>
        <p:nvGrpSpPr>
          <p:cNvPr name="Group 5" id="5"/>
          <p:cNvGrpSpPr/>
          <p:nvPr/>
        </p:nvGrpSpPr>
        <p:grpSpPr>
          <a:xfrm rot="0">
            <a:off x="731520" y="548640"/>
            <a:ext cx="16459200" cy="1097280"/>
            <a:chOff x="0" y="0"/>
            <a:chExt cx="21945600" cy="1463040"/>
          </a:xfrm>
        </p:grpSpPr>
        <p:sp>
          <p:nvSpPr>
            <p:cNvPr name="Freeform 6" id="6"/>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7" id="7"/>
            <p:cNvSpPr txBox="true"/>
            <p:nvPr/>
          </p:nvSpPr>
          <p:spPr>
            <a:xfrm>
              <a:off x="0" y="-114300"/>
              <a:ext cx="21945600" cy="1577340"/>
            </a:xfrm>
            <a:prstGeom prst="rect">
              <a:avLst/>
            </a:prstGeom>
          </p:spPr>
          <p:txBody>
            <a:bodyPr anchor="ctr" rtlCol="false" tIns="0" lIns="0" bIns="0" rIns="0"/>
            <a:lstStyle/>
            <a:p>
              <a:pPr algn="l">
                <a:lnSpc>
                  <a:spcPts val="6719"/>
                </a:lnSpc>
              </a:pPr>
              <a:r>
                <a:rPr lang="en-US" sz="5599" b="true">
                  <a:solidFill>
                    <a:srgbClr val="FFFFFF"/>
                  </a:solidFill>
                  <a:latin typeface="Calibri (MS) Bold"/>
                  <a:ea typeface="Calibri (MS) Bold"/>
                  <a:cs typeface="Calibri (MS) Bold"/>
                  <a:sym typeface="Calibri (MS) Bold"/>
                </a:rPr>
                <a:t>Conclusions &amp; Key Findings</a:t>
              </a:r>
            </a:p>
          </p:txBody>
        </p:sp>
      </p:grpSp>
      <p:grpSp>
        <p:nvGrpSpPr>
          <p:cNvPr name="Group 8" id="8"/>
          <p:cNvGrpSpPr/>
          <p:nvPr/>
        </p:nvGrpSpPr>
        <p:grpSpPr>
          <a:xfrm rot="0">
            <a:off x="718823" y="1962407"/>
            <a:ext cx="976379" cy="976379"/>
            <a:chOff x="0" y="0"/>
            <a:chExt cx="1301839" cy="1301839"/>
          </a:xfrm>
        </p:grpSpPr>
        <p:sp>
          <p:nvSpPr>
            <p:cNvPr name="Freeform 9" id="9"/>
            <p:cNvSpPr/>
            <p:nvPr/>
          </p:nvSpPr>
          <p:spPr>
            <a:xfrm flipH="false" flipV="false" rot="0">
              <a:off x="16891" y="16891"/>
              <a:ext cx="1267968" cy="1267968"/>
            </a:xfrm>
            <a:custGeom>
              <a:avLst/>
              <a:gdLst/>
              <a:ahLst/>
              <a:cxnLst/>
              <a:rect r="r" b="b" t="t" l="l"/>
              <a:pathLst>
                <a:path h="1267968" w="1267968">
                  <a:moveTo>
                    <a:pt x="0" y="0"/>
                  </a:moveTo>
                  <a:lnTo>
                    <a:pt x="1267968" y="0"/>
                  </a:lnTo>
                  <a:lnTo>
                    <a:pt x="1267968" y="1267968"/>
                  </a:lnTo>
                  <a:lnTo>
                    <a:pt x="0" y="1267968"/>
                  </a:lnTo>
                  <a:close/>
                </a:path>
              </a:pathLst>
            </a:custGeom>
            <a:solidFill>
              <a:srgbClr val="F59E0B"/>
            </a:solidFill>
          </p:spPr>
        </p:sp>
        <p:sp>
          <p:nvSpPr>
            <p:cNvPr name="Freeform 10" id="10"/>
            <p:cNvSpPr/>
            <p:nvPr/>
          </p:nvSpPr>
          <p:spPr>
            <a:xfrm flipH="false" flipV="false" rot="0">
              <a:off x="0" y="0"/>
              <a:ext cx="1301750" cy="1301750"/>
            </a:xfrm>
            <a:custGeom>
              <a:avLst/>
              <a:gdLst/>
              <a:ahLst/>
              <a:cxnLst/>
              <a:rect r="r" b="b" t="t" l="l"/>
              <a:pathLst>
                <a:path h="1301750" w="1301750">
                  <a:moveTo>
                    <a:pt x="16891" y="0"/>
                  </a:moveTo>
                  <a:lnTo>
                    <a:pt x="1284859" y="0"/>
                  </a:lnTo>
                  <a:cubicBezTo>
                    <a:pt x="1294257" y="0"/>
                    <a:pt x="1301750" y="7620"/>
                    <a:pt x="1301750" y="16891"/>
                  </a:cubicBezTo>
                  <a:lnTo>
                    <a:pt x="1301750" y="1284859"/>
                  </a:lnTo>
                  <a:cubicBezTo>
                    <a:pt x="1301750" y="1294257"/>
                    <a:pt x="1294130" y="1301750"/>
                    <a:pt x="12848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284859" y="1267968"/>
                  </a:lnTo>
                  <a:lnTo>
                    <a:pt x="1284859" y="1284859"/>
                  </a:lnTo>
                  <a:lnTo>
                    <a:pt x="1267968" y="1284859"/>
                  </a:lnTo>
                  <a:lnTo>
                    <a:pt x="1267968" y="16891"/>
                  </a:lnTo>
                  <a:lnTo>
                    <a:pt x="1284859" y="16891"/>
                  </a:lnTo>
                  <a:lnTo>
                    <a:pt x="1284859" y="33909"/>
                  </a:lnTo>
                  <a:lnTo>
                    <a:pt x="16891" y="33909"/>
                  </a:lnTo>
                  <a:close/>
                </a:path>
              </a:pathLst>
            </a:custGeom>
            <a:solidFill>
              <a:srgbClr val="F59E0B"/>
            </a:solidFill>
          </p:spPr>
        </p:sp>
      </p:grpSp>
      <p:grpSp>
        <p:nvGrpSpPr>
          <p:cNvPr name="Group 11" id="11"/>
          <p:cNvGrpSpPr/>
          <p:nvPr/>
        </p:nvGrpSpPr>
        <p:grpSpPr>
          <a:xfrm rot="0">
            <a:off x="731520" y="1975104"/>
            <a:ext cx="950976" cy="950976"/>
            <a:chOff x="0" y="0"/>
            <a:chExt cx="1267968" cy="1267968"/>
          </a:xfrm>
        </p:grpSpPr>
        <p:sp>
          <p:nvSpPr>
            <p:cNvPr name="Freeform 12" id="12"/>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13" id="13"/>
            <p:cNvSpPr txBox="true"/>
            <p:nvPr/>
          </p:nvSpPr>
          <p:spPr>
            <a:xfrm>
              <a:off x="0" y="-66675"/>
              <a:ext cx="1267968" cy="1334643"/>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01</a:t>
              </a:r>
            </a:p>
          </p:txBody>
        </p:sp>
      </p:grpSp>
      <p:grpSp>
        <p:nvGrpSpPr>
          <p:cNvPr name="Group 14" id="14"/>
          <p:cNvGrpSpPr/>
          <p:nvPr/>
        </p:nvGrpSpPr>
        <p:grpSpPr>
          <a:xfrm rot="0">
            <a:off x="1920240" y="2011680"/>
            <a:ext cx="15544800" cy="512064"/>
            <a:chOff x="0" y="0"/>
            <a:chExt cx="20726400" cy="682752"/>
          </a:xfrm>
        </p:grpSpPr>
        <p:sp>
          <p:nvSpPr>
            <p:cNvPr name="Freeform 15" id="15"/>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3">
                <a:alphaModFix amt="0"/>
              </a:blip>
              <a:stretch>
                <a:fillRect l="0" t="-541510" r="0" b="-541510"/>
              </a:stretch>
            </a:blipFill>
          </p:spPr>
        </p:sp>
        <p:sp>
          <p:nvSpPr>
            <p:cNvPr name="TextBox 16" id="16"/>
            <p:cNvSpPr txBox="true"/>
            <p:nvPr/>
          </p:nvSpPr>
          <p:spPr>
            <a:xfrm>
              <a:off x="0" y="-38100"/>
              <a:ext cx="20726400" cy="72085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MSFT prices are I(1)</a:t>
              </a:r>
            </a:p>
          </p:txBody>
        </p:sp>
      </p:grpSp>
      <p:grpSp>
        <p:nvGrpSpPr>
          <p:cNvPr name="Group 17" id="17"/>
          <p:cNvGrpSpPr/>
          <p:nvPr/>
        </p:nvGrpSpPr>
        <p:grpSpPr>
          <a:xfrm rot="0">
            <a:off x="1920240" y="2523744"/>
            <a:ext cx="15544800" cy="457200"/>
            <a:chOff x="0" y="0"/>
            <a:chExt cx="20726400" cy="609600"/>
          </a:xfrm>
        </p:grpSpPr>
        <p:sp>
          <p:nvSpPr>
            <p:cNvPr name="Freeform 18" id="18"/>
            <p:cNvSpPr/>
            <p:nvPr/>
          </p:nvSpPr>
          <p:spPr>
            <a:xfrm flipH="false" flipV="false" rot="0">
              <a:off x="0" y="0"/>
              <a:ext cx="20726400" cy="609600"/>
            </a:xfrm>
            <a:custGeom>
              <a:avLst/>
              <a:gdLst/>
              <a:ahLst/>
              <a:cxnLst/>
              <a:rect r="r" b="b" t="t" l="l"/>
              <a:pathLst>
                <a:path h="609600" w="20726400">
                  <a:moveTo>
                    <a:pt x="0" y="0"/>
                  </a:moveTo>
                  <a:lnTo>
                    <a:pt x="20726400" y="0"/>
                  </a:lnTo>
                  <a:lnTo>
                    <a:pt x="20726400" y="609600"/>
                  </a:lnTo>
                  <a:lnTo>
                    <a:pt x="0" y="609600"/>
                  </a:lnTo>
                  <a:close/>
                </a:path>
              </a:pathLst>
            </a:custGeom>
            <a:blipFill>
              <a:blip r:embed="rId3">
                <a:alphaModFix amt="0"/>
              </a:blip>
              <a:stretch>
                <a:fillRect l="0" t="-612491" r="0" b="-612491"/>
              </a:stretch>
            </a:blipFill>
          </p:spPr>
        </p:sp>
        <p:sp>
          <p:nvSpPr>
            <p:cNvPr name="TextBox 19" id="19"/>
            <p:cNvSpPr txBox="true"/>
            <p:nvPr/>
          </p:nvSpPr>
          <p:spPr>
            <a:xfrm>
              <a:off x="0" y="-38100"/>
              <a:ext cx="20726400" cy="647700"/>
            </a:xfrm>
            <a:prstGeom prst="rect">
              <a:avLst/>
            </a:prstGeom>
          </p:spPr>
          <p:txBody>
            <a:bodyPr anchor="ctr" rtlCol="false" tIns="0" lIns="0" bIns="0" rIns="0"/>
            <a:lstStyle/>
            <a:p>
              <a:pPr algn="l">
                <a:lnSpc>
                  <a:spcPts val="2280"/>
                </a:lnSpc>
              </a:pPr>
              <a:r>
                <a:rPr lang="en-US" sz="1900">
                  <a:solidFill>
                    <a:srgbClr val="CADCFC"/>
                  </a:solidFill>
                  <a:latin typeface="Calibri (MS)"/>
                  <a:ea typeface="Calibri (MS)"/>
                  <a:cs typeface="Calibri (MS)"/>
                  <a:sym typeface="Calibri (MS)"/>
                </a:rPr>
                <a:t>Both ADF and KPSS confirm unit root in levels; first-differenced series is stationary → d = 1.</a:t>
              </a:r>
            </a:p>
          </p:txBody>
        </p:sp>
      </p:grpSp>
      <p:grpSp>
        <p:nvGrpSpPr>
          <p:cNvPr name="Group 20" id="20"/>
          <p:cNvGrpSpPr/>
          <p:nvPr/>
        </p:nvGrpSpPr>
        <p:grpSpPr>
          <a:xfrm rot="0">
            <a:off x="718823" y="3553463"/>
            <a:ext cx="976379" cy="976379"/>
            <a:chOff x="0" y="0"/>
            <a:chExt cx="1301839" cy="1301839"/>
          </a:xfrm>
        </p:grpSpPr>
        <p:sp>
          <p:nvSpPr>
            <p:cNvPr name="Freeform 21" id="21"/>
            <p:cNvSpPr/>
            <p:nvPr/>
          </p:nvSpPr>
          <p:spPr>
            <a:xfrm flipH="false" flipV="false" rot="0">
              <a:off x="16891" y="16891"/>
              <a:ext cx="1267968" cy="1267968"/>
            </a:xfrm>
            <a:custGeom>
              <a:avLst/>
              <a:gdLst/>
              <a:ahLst/>
              <a:cxnLst/>
              <a:rect r="r" b="b" t="t" l="l"/>
              <a:pathLst>
                <a:path h="1267968" w="1267968">
                  <a:moveTo>
                    <a:pt x="0" y="0"/>
                  </a:moveTo>
                  <a:lnTo>
                    <a:pt x="1267968" y="0"/>
                  </a:lnTo>
                  <a:lnTo>
                    <a:pt x="1267968" y="1267968"/>
                  </a:lnTo>
                  <a:lnTo>
                    <a:pt x="0" y="1267968"/>
                  </a:lnTo>
                  <a:close/>
                </a:path>
              </a:pathLst>
            </a:custGeom>
            <a:solidFill>
              <a:srgbClr val="60A5FA"/>
            </a:solidFill>
          </p:spPr>
        </p:sp>
        <p:sp>
          <p:nvSpPr>
            <p:cNvPr name="Freeform 22" id="22"/>
            <p:cNvSpPr/>
            <p:nvPr/>
          </p:nvSpPr>
          <p:spPr>
            <a:xfrm flipH="false" flipV="false" rot="0">
              <a:off x="0" y="0"/>
              <a:ext cx="1301750" cy="1301750"/>
            </a:xfrm>
            <a:custGeom>
              <a:avLst/>
              <a:gdLst/>
              <a:ahLst/>
              <a:cxnLst/>
              <a:rect r="r" b="b" t="t" l="l"/>
              <a:pathLst>
                <a:path h="1301750" w="1301750">
                  <a:moveTo>
                    <a:pt x="16891" y="0"/>
                  </a:moveTo>
                  <a:lnTo>
                    <a:pt x="1284859" y="0"/>
                  </a:lnTo>
                  <a:cubicBezTo>
                    <a:pt x="1294257" y="0"/>
                    <a:pt x="1301750" y="7620"/>
                    <a:pt x="1301750" y="16891"/>
                  </a:cubicBezTo>
                  <a:lnTo>
                    <a:pt x="1301750" y="1284859"/>
                  </a:lnTo>
                  <a:cubicBezTo>
                    <a:pt x="1301750" y="1294257"/>
                    <a:pt x="1294130" y="1301750"/>
                    <a:pt x="12848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284859" y="1267968"/>
                  </a:lnTo>
                  <a:lnTo>
                    <a:pt x="1284859" y="1284859"/>
                  </a:lnTo>
                  <a:lnTo>
                    <a:pt x="1267968" y="1284859"/>
                  </a:lnTo>
                  <a:lnTo>
                    <a:pt x="1267968" y="16891"/>
                  </a:lnTo>
                  <a:lnTo>
                    <a:pt x="1284859" y="16891"/>
                  </a:lnTo>
                  <a:lnTo>
                    <a:pt x="1284859" y="33909"/>
                  </a:lnTo>
                  <a:lnTo>
                    <a:pt x="16891" y="33909"/>
                  </a:lnTo>
                  <a:close/>
                </a:path>
              </a:pathLst>
            </a:custGeom>
            <a:solidFill>
              <a:srgbClr val="60A5FA"/>
            </a:solidFill>
          </p:spPr>
        </p:sp>
      </p:grpSp>
      <p:grpSp>
        <p:nvGrpSpPr>
          <p:cNvPr name="Group 23" id="23"/>
          <p:cNvGrpSpPr/>
          <p:nvPr/>
        </p:nvGrpSpPr>
        <p:grpSpPr>
          <a:xfrm rot="0">
            <a:off x="731520" y="3566160"/>
            <a:ext cx="950976" cy="950976"/>
            <a:chOff x="0" y="0"/>
            <a:chExt cx="1267968" cy="1267968"/>
          </a:xfrm>
        </p:grpSpPr>
        <p:sp>
          <p:nvSpPr>
            <p:cNvPr name="Freeform 24" id="24"/>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25" id="25"/>
            <p:cNvSpPr txBox="true"/>
            <p:nvPr/>
          </p:nvSpPr>
          <p:spPr>
            <a:xfrm>
              <a:off x="0" y="-66675"/>
              <a:ext cx="1267968" cy="1334643"/>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02</a:t>
              </a:r>
            </a:p>
          </p:txBody>
        </p:sp>
      </p:grpSp>
      <p:grpSp>
        <p:nvGrpSpPr>
          <p:cNvPr name="Group 26" id="26"/>
          <p:cNvGrpSpPr/>
          <p:nvPr/>
        </p:nvGrpSpPr>
        <p:grpSpPr>
          <a:xfrm rot="0">
            <a:off x="1920240" y="3602736"/>
            <a:ext cx="15544800" cy="512064"/>
            <a:chOff x="0" y="0"/>
            <a:chExt cx="20726400" cy="682752"/>
          </a:xfrm>
        </p:grpSpPr>
        <p:sp>
          <p:nvSpPr>
            <p:cNvPr name="Freeform 27" id="27"/>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3">
                <a:alphaModFix amt="0"/>
              </a:blip>
              <a:stretch>
                <a:fillRect l="0" t="-541510" r="0" b="-541510"/>
              </a:stretch>
            </a:blipFill>
          </p:spPr>
        </p:sp>
        <p:sp>
          <p:nvSpPr>
            <p:cNvPr name="TextBox 28" id="28"/>
            <p:cNvSpPr txBox="true"/>
            <p:nvPr/>
          </p:nvSpPr>
          <p:spPr>
            <a:xfrm>
              <a:off x="0" y="-38100"/>
              <a:ext cx="20726400" cy="72085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SARIMA(1,1,1)(0,0,1)₅ captures conditional mean</a:t>
              </a:r>
            </a:p>
          </p:txBody>
        </p:sp>
      </p:grpSp>
      <p:grpSp>
        <p:nvGrpSpPr>
          <p:cNvPr name="Group 29" id="29"/>
          <p:cNvGrpSpPr/>
          <p:nvPr/>
        </p:nvGrpSpPr>
        <p:grpSpPr>
          <a:xfrm rot="0">
            <a:off x="1920240" y="4114800"/>
            <a:ext cx="15544800" cy="457200"/>
            <a:chOff x="0" y="0"/>
            <a:chExt cx="20726400" cy="609600"/>
          </a:xfrm>
        </p:grpSpPr>
        <p:sp>
          <p:nvSpPr>
            <p:cNvPr name="Freeform 30" id="30"/>
            <p:cNvSpPr/>
            <p:nvPr/>
          </p:nvSpPr>
          <p:spPr>
            <a:xfrm flipH="false" flipV="false" rot="0">
              <a:off x="0" y="0"/>
              <a:ext cx="20726400" cy="609600"/>
            </a:xfrm>
            <a:custGeom>
              <a:avLst/>
              <a:gdLst/>
              <a:ahLst/>
              <a:cxnLst/>
              <a:rect r="r" b="b" t="t" l="l"/>
              <a:pathLst>
                <a:path h="609600" w="20726400">
                  <a:moveTo>
                    <a:pt x="0" y="0"/>
                  </a:moveTo>
                  <a:lnTo>
                    <a:pt x="20726400" y="0"/>
                  </a:lnTo>
                  <a:lnTo>
                    <a:pt x="20726400" y="609600"/>
                  </a:lnTo>
                  <a:lnTo>
                    <a:pt x="0" y="609600"/>
                  </a:lnTo>
                  <a:close/>
                </a:path>
              </a:pathLst>
            </a:custGeom>
            <a:blipFill>
              <a:blip r:embed="rId3">
                <a:alphaModFix amt="0"/>
              </a:blip>
              <a:stretch>
                <a:fillRect l="0" t="-612491" r="0" b="-612491"/>
              </a:stretch>
            </a:blipFill>
          </p:spPr>
        </p:sp>
        <p:sp>
          <p:nvSpPr>
            <p:cNvPr name="TextBox 31" id="31"/>
            <p:cNvSpPr txBox="true"/>
            <p:nvPr/>
          </p:nvSpPr>
          <p:spPr>
            <a:xfrm>
              <a:off x="0" y="-38100"/>
              <a:ext cx="20726400" cy="647700"/>
            </a:xfrm>
            <a:prstGeom prst="rect">
              <a:avLst/>
            </a:prstGeom>
          </p:spPr>
          <p:txBody>
            <a:bodyPr anchor="ctr" rtlCol="false" tIns="0" lIns="0" bIns="0" rIns="0"/>
            <a:lstStyle/>
            <a:p>
              <a:pPr algn="l">
                <a:lnSpc>
                  <a:spcPts val="2280"/>
                </a:lnSpc>
              </a:pPr>
              <a:r>
                <a:rPr lang="en-US" sz="1900">
                  <a:solidFill>
                    <a:srgbClr val="CADCFC"/>
                  </a:solidFill>
                  <a:latin typeface="Calibri (MS)"/>
                  <a:ea typeface="Calibri (MS)"/>
                  <a:cs typeface="Calibri (MS)"/>
                  <a:sym typeface="Calibri (MS)"/>
                </a:rPr>
                <a:t>Lowest AIC among candidates; white-noise residuals (LB p &gt; 0.05); RMSE $24.57 on 30-day holdout.</a:t>
              </a:r>
            </a:p>
          </p:txBody>
        </p:sp>
      </p:grpSp>
      <p:grpSp>
        <p:nvGrpSpPr>
          <p:cNvPr name="Group 32" id="32"/>
          <p:cNvGrpSpPr/>
          <p:nvPr/>
        </p:nvGrpSpPr>
        <p:grpSpPr>
          <a:xfrm rot="0">
            <a:off x="718823" y="5144519"/>
            <a:ext cx="976379" cy="976379"/>
            <a:chOff x="0" y="0"/>
            <a:chExt cx="1301839" cy="1301839"/>
          </a:xfrm>
        </p:grpSpPr>
        <p:sp>
          <p:nvSpPr>
            <p:cNvPr name="Freeform 33" id="33"/>
            <p:cNvSpPr/>
            <p:nvPr/>
          </p:nvSpPr>
          <p:spPr>
            <a:xfrm flipH="false" flipV="false" rot="0">
              <a:off x="16891" y="16891"/>
              <a:ext cx="1267968" cy="1267968"/>
            </a:xfrm>
            <a:custGeom>
              <a:avLst/>
              <a:gdLst/>
              <a:ahLst/>
              <a:cxnLst/>
              <a:rect r="r" b="b" t="t" l="l"/>
              <a:pathLst>
                <a:path h="1267968" w="1267968">
                  <a:moveTo>
                    <a:pt x="0" y="0"/>
                  </a:moveTo>
                  <a:lnTo>
                    <a:pt x="1267968" y="0"/>
                  </a:lnTo>
                  <a:lnTo>
                    <a:pt x="1267968" y="1267968"/>
                  </a:lnTo>
                  <a:lnTo>
                    <a:pt x="0" y="1267968"/>
                  </a:lnTo>
                  <a:close/>
                </a:path>
              </a:pathLst>
            </a:custGeom>
            <a:solidFill>
              <a:srgbClr val="A78BFA"/>
            </a:solidFill>
          </p:spPr>
        </p:sp>
        <p:sp>
          <p:nvSpPr>
            <p:cNvPr name="Freeform 34" id="34"/>
            <p:cNvSpPr/>
            <p:nvPr/>
          </p:nvSpPr>
          <p:spPr>
            <a:xfrm flipH="false" flipV="false" rot="0">
              <a:off x="0" y="0"/>
              <a:ext cx="1301750" cy="1301750"/>
            </a:xfrm>
            <a:custGeom>
              <a:avLst/>
              <a:gdLst/>
              <a:ahLst/>
              <a:cxnLst/>
              <a:rect r="r" b="b" t="t" l="l"/>
              <a:pathLst>
                <a:path h="1301750" w="1301750">
                  <a:moveTo>
                    <a:pt x="16891" y="0"/>
                  </a:moveTo>
                  <a:lnTo>
                    <a:pt x="1284859" y="0"/>
                  </a:lnTo>
                  <a:cubicBezTo>
                    <a:pt x="1294257" y="0"/>
                    <a:pt x="1301750" y="7620"/>
                    <a:pt x="1301750" y="16891"/>
                  </a:cubicBezTo>
                  <a:lnTo>
                    <a:pt x="1301750" y="1284859"/>
                  </a:lnTo>
                  <a:cubicBezTo>
                    <a:pt x="1301750" y="1294257"/>
                    <a:pt x="1294130" y="1301750"/>
                    <a:pt x="12848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284859" y="1267968"/>
                  </a:lnTo>
                  <a:lnTo>
                    <a:pt x="1284859" y="1284859"/>
                  </a:lnTo>
                  <a:lnTo>
                    <a:pt x="1267968" y="1284859"/>
                  </a:lnTo>
                  <a:lnTo>
                    <a:pt x="1267968" y="16891"/>
                  </a:lnTo>
                  <a:lnTo>
                    <a:pt x="1284859" y="16891"/>
                  </a:lnTo>
                  <a:lnTo>
                    <a:pt x="1284859" y="33909"/>
                  </a:lnTo>
                  <a:lnTo>
                    <a:pt x="16891" y="33909"/>
                  </a:lnTo>
                  <a:close/>
                </a:path>
              </a:pathLst>
            </a:custGeom>
            <a:solidFill>
              <a:srgbClr val="A78BFA"/>
            </a:solidFill>
          </p:spPr>
        </p:sp>
      </p:grpSp>
      <p:grpSp>
        <p:nvGrpSpPr>
          <p:cNvPr name="Group 35" id="35"/>
          <p:cNvGrpSpPr/>
          <p:nvPr/>
        </p:nvGrpSpPr>
        <p:grpSpPr>
          <a:xfrm rot="0">
            <a:off x="731520" y="5157216"/>
            <a:ext cx="950976" cy="950976"/>
            <a:chOff x="0" y="0"/>
            <a:chExt cx="1267968" cy="1267968"/>
          </a:xfrm>
        </p:grpSpPr>
        <p:sp>
          <p:nvSpPr>
            <p:cNvPr name="Freeform 36" id="36"/>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37" id="37"/>
            <p:cNvSpPr txBox="true"/>
            <p:nvPr/>
          </p:nvSpPr>
          <p:spPr>
            <a:xfrm>
              <a:off x="0" y="-66675"/>
              <a:ext cx="1267968" cy="1334643"/>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03</a:t>
              </a:r>
            </a:p>
          </p:txBody>
        </p:sp>
      </p:grpSp>
      <p:grpSp>
        <p:nvGrpSpPr>
          <p:cNvPr name="Group 38" id="38"/>
          <p:cNvGrpSpPr/>
          <p:nvPr/>
        </p:nvGrpSpPr>
        <p:grpSpPr>
          <a:xfrm rot="0">
            <a:off x="1920240" y="5193792"/>
            <a:ext cx="15544800" cy="512064"/>
            <a:chOff x="0" y="0"/>
            <a:chExt cx="20726400" cy="682752"/>
          </a:xfrm>
        </p:grpSpPr>
        <p:sp>
          <p:nvSpPr>
            <p:cNvPr name="Freeform 39" id="39"/>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3">
                <a:alphaModFix amt="0"/>
              </a:blip>
              <a:stretch>
                <a:fillRect l="0" t="-541510" r="0" b="-541510"/>
              </a:stretch>
            </a:blipFill>
          </p:spPr>
        </p:sp>
        <p:sp>
          <p:nvSpPr>
            <p:cNvPr name="TextBox 40" id="40"/>
            <p:cNvSpPr txBox="true"/>
            <p:nvPr/>
          </p:nvSpPr>
          <p:spPr>
            <a:xfrm>
              <a:off x="0" y="-38100"/>
              <a:ext cx="20726400" cy="72085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One cointegrating vector justifies VECM</a:t>
              </a:r>
            </a:p>
          </p:txBody>
        </p:sp>
      </p:grpSp>
      <p:grpSp>
        <p:nvGrpSpPr>
          <p:cNvPr name="Group 41" id="41"/>
          <p:cNvGrpSpPr/>
          <p:nvPr/>
        </p:nvGrpSpPr>
        <p:grpSpPr>
          <a:xfrm rot="0">
            <a:off x="1920240" y="5705856"/>
            <a:ext cx="15544800" cy="457200"/>
            <a:chOff x="0" y="0"/>
            <a:chExt cx="20726400" cy="609600"/>
          </a:xfrm>
        </p:grpSpPr>
        <p:sp>
          <p:nvSpPr>
            <p:cNvPr name="Freeform 42" id="42"/>
            <p:cNvSpPr/>
            <p:nvPr/>
          </p:nvSpPr>
          <p:spPr>
            <a:xfrm flipH="false" flipV="false" rot="0">
              <a:off x="0" y="0"/>
              <a:ext cx="20726400" cy="609600"/>
            </a:xfrm>
            <a:custGeom>
              <a:avLst/>
              <a:gdLst/>
              <a:ahLst/>
              <a:cxnLst/>
              <a:rect r="r" b="b" t="t" l="l"/>
              <a:pathLst>
                <a:path h="609600" w="20726400">
                  <a:moveTo>
                    <a:pt x="0" y="0"/>
                  </a:moveTo>
                  <a:lnTo>
                    <a:pt x="20726400" y="0"/>
                  </a:lnTo>
                  <a:lnTo>
                    <a:pt x="20726400" y="609600"/>
                  </a:lnTo>
                  <a:lnTo>
                    <a:pt x="0" y="609600"/>
                  </a:lnTo>
                  <a:close/>
                </a:path>
              </a:pathLst>
            </a:custGeom>
            <a:blipFill>
              <a:blip r:embed="rId3">
                <a:alphaModFix amt="0"/>
              </a:blip>
              <a:stretch>
                <a:fillRect l="0" t="-612491" r="0" b="-612491"/>
              </a:stretch>
            </a:blipFill>
          </p:spPr>
        </p:sp>
        <p:sp>
          <p:nvSpPr>
            <p:cNvPr name="TextBox 43" id="43"/>
            <p:cNvSpPr txBox="true"/>
            <p:nvPr/>
          </p:nvSpPr>
          <p:spPr>
            <a:xfrm>
              <a:off x="0" y="-38100"/>
              <a:ext cx="20726400" cy="647700"/>
            </a:xfrm>
            <a:prstGeom prst="rect">
              <a:avLst/>
            </a:prstGeom>
          </p:spPr>
          <p:txBody>
            <a:bodyPr anchor="ctr" rtlCol="false" tIns="0" lIns="0" bIns="0" rIns="0"/>
            <a:lstStyle/>
            <a:p>
              <a:pPr algn="l">
                <a:lnSpc>
                  <a:spcPts val="2280"/>
                </a:lnSpc>
              </a:pPr>
              <a:r>
                <a:rPr lang="en-US" sz="1900">
                  <a:solidFill>
                    <a:srgbClr val="CADCFC"/>
                  </a:solidFill>
                  <a:latin typeface="Calibri (MS)"/>
                  <a:ea typeface="Calibri (MS)"/>
                  <a:cs typeface="Calibri (MS)"/>
                  <a:sym typeface="Calibri (MS)"/>
                </a:rPr>
                <a:t>Johansen trace &amp; max-eigen tests agree r = 1. VECM (k=8) achieves identical MSFT RMSE to SARIMA with added structural insight.</a:t>
              </a:r>
            </a:p>
          </p:txBody>
        </p:sp>
      </p:grpSp>
      <p:grpSp>
        <p:nvGrpSpPr>
          <p:cNvPr name="Group 44" id="44"/>
          <p:cNvGrpSpPr/>
          <p:nvPr/>
        </p:nvGrpSpPr>
        <p:grpSpPr>
          <a:xfrm rot="0">
            <a:off x="718823" y="6735575"/>
            <a:ext cx="976379" cy="976379"/>
            <a:chOff x="0" y="0"/>
            <a:chExt cx="1301839" cy="1301839"/>
          </a:xfrm>
        </p:grpSpPr>
        <p:sp>
          <p:nvSpPr>
            <p:cNvPr name="Freeform 45" id="45"/>
            <p:cNvSpPr/>
            <p:nvPr/>
          </p:nvSpPr>
          <p:spPr>
            <a:xfrm flipH="false" flipV="false" rot="0">
              <a:off x="16891" y="16891"/>
              <a:ext cx="1267968" cy="1267968"/>
            </a:xfrm>
            <a:custGeom>
              <a:avLst/>
              <a:gdLst/>
              <a:ahLst/>
              <a:cxnLst/>
              <a:rect r="r" b="b" t="t" l="l"/>
              <a:pathLst>
                <a:path h="1267968" w="1267968">
                  <a:moveTo>
                    <a:pt x="0" y="0"/>
                  </a:moveTo>
                  <a:lnTo>
                    <a:pt x="1267968" y="0"/>
                  </a:lnTo>
                  <a:lnTo>
                    <a:pt x="1267968" y="1267968"/>
                  </a:lnTo>
                  <a:lnTo>
                    <a:pt x="0" y="1267968"/>
                  </a:lnTo>
                  <a:close/>
                </a:path>
              </a:pathLst>
            </a:custGeom>
            <a:solidFill>
              <a:srgbClr val="F97316"/>
            </a:solidFill>
          </p:spPr>
        </p:sp>
        <p:sp>
          <p:nvSpPr>
            <p:cNvPr name="Freeform 46" id="46"/>
            <p:cNvSpPr/>
            <p:nvPr/>
          </p:nvSpPr>
          <p:spPr>
            <a:xfrm flipH="false" flipV="false" rot="0">
              <a:off x="0" y="0"/>
              <a:ext cx="1301750" cy="1301750"/>
            </a:xfrm>
            <a:custGeom>
              <a:avLst/>
              <a:gdLst/>
              <a:ahLst/>
              <a:cxnLst/>
              <a:rect r="r" b="b" t="t" l="l"/>
              <a:pathLst>
                <a:path h="1301750" w="1301750">
                  <a:moveTo>
                    <a:pt x="16891" y="0"/>
                  </a:moveTo>
                  <a:lnTo>
                    <a:pt x="1284859" y="0"/>
                  </a:lnTo>
                  <a:cubicBezTo>
                    <a:pt x="1294257" y="0"/>
                    <a:pt x="1301750" y="7620"/>
                    <a:pt x="1301750" y="16891"/>
                  </a:cubicBezTo>
                  <a:lnTo>
                    <a:pt x="1301750" y="1284859"/>
                  </a:lnTo>
                  <a:cubicBezTo>
                    <a:pt x="1301750" y="1294257"/>
                    <a:pt x="1294130" y="1301750"/>
                    <a:pt x="12848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284859" y="1267968"/>
                  </a:lnTo>
                  <a:lnTo>
                    <a:pt x="1284859" y="1284859"/>
                  </a:lnTo>
                  <a:lnTo>
                    <a:pt x="1267968" y="1284859"/>
                  </a:lnTo>
                  <a:lnTo>
                    <a:pt x="1267968" y="16891"/>
                  </a:lnTo>
                  <a:lnTo>
                    <a:pt x="1284859" y="16891"/>
                  </a:lnTo>
                  <a:lnTo>
                    <a:pt x="1284859" y="33909"/>
                  </a:lnTo>
                  <a:lnTo>
                    <a:pt x="16891" y="33909"/>
                  </a:lnTo>
                  <a:close/>
                </a:path>
              </a:pathLst>
            </a:custGeom>
            <a:solidFill>
              <a:srgbClr val="F97316"/>
            </a:solidFill>
          </p:spPr>
        </p:sp>
      </p:grpSp>
      <p:grpSp>
        <p:nvGrpSpPr>
          <p:cNvPr name="Group 47" id="47"/>
          <p:cNvGrpSpPr/>
          <p:nvPr/>
        </p:nvGrpSpPr>
        <p:grpSpPr>
          <a:xfrm rot="0">
            <a:off x="731520" y="6748272"/>
            <a:ext cx="950976" cy="950976"/>
            <a:chOff x="0" y="0"/>
            <a:chExt cx="1267968" cy="1267968"/>
          </a:xfrm>
        </p:grpSpPr>
        <p:sp>
          <p:nvSpPr>
            <p:cNvPr name="Freeform 48" id="48"/>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49" id="49"/>
            <p:cNvSpPr txBox="true"/>
            <p:nvPr/>
          </p:nvSpPr>
          <p:spPr>
            <a:xfrm>
              <a:off x="0" y="-66675"/>
              <a:ext cx="1267968" cy="1334643"/>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04</a:t>
              </a:r>
            </a:p>
          </p:txBody>
        </p:sp>
      </p:grpSp>
      <p:grpSp>
        <p:nvGrpSpPr>
          <p:cNvPr name="Group 50" id="50"/>
          <p:cNvGrpSpPr/>
          <p:nvPr/>
        </p:nvGrpSpPr>
        <p:grpSpPr>
          <a:xfrm rot="0">
            <a:off x="1920240" y="6784848"/>
            <a:ext cx="15544800" cy="512064"/>
            <a:chOff x="0" y="0"/>
            <a:chExt cx="20726400" cy="682752"/>
          </a:xfrm>
        </p:grpSpPr>
        <p:sp>
          <p:nvSpPr>
            <p:cNvPr name="Freeform 51" id="51"/>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3">
                <a:alphaModFix amt="0"/>
              </a:blip>
              <a:stretch>
                <a:fillRect l="0" t="-541510" r="0" b="-541510"/>
              </a:stretch>
            </a:blipFill>
          </p:spPr>
        </p:sp>
        <p:sp>
          <p:nvSpPr>
            <p:cNvPr name="TextBox 52" id="52"/>
            <p:cNvSpPr txBox="true"/>
            <p:nvPr/>
          </p:nvSpPr>
          <p:spPr>
            <a:xfrm>
              <a:off x="0" y="-38100"/>
              <a:ext cx="20726400" cy="72085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Strong ARCH effects in both models</a:t>
              </a:r>
            </a:p>
          </p:txBody>
        </p:sp>
      </p:grpSp>
      <p:grpSp>
        <p:nvGrpSpPr>
          <p:cNvPr name="Group 53" id="53"/>
          <p:cNvGrpSpPr/>
          <p:nvPr/>
        </p:nvGrpSpPr>
        <p:grpSpPr>
          <a:xfrm rot="0">
            <a:off x="1920240" y="7296912"/>
            <a:ext cx="15544800" cy="457200"/>
            <a:chOff x="0" y="0"/>
            <a:chExt cx="20726400" cy="609600"/>
          </a:xfrm>
        </p:grpSpPr>
        <p:sp>
          <p:nvSpPr>
            <p:cNvPr name="Freeform 54" id="54"/>
            <p:cNvSpPr/>
            <p:nvPr/>
          </p:nvSpPr>
          <p:spPr>
            <a:xfrm flipH="false" flipV="false" rot="0">
              <a:off x="0" y="0"/>
              <a:ext cx="20726400" cy="609600"/>
            </a:xfrm>
            <a:custGeom>
              <a:avLst/>
              <a:gdLst/>
              <a:ahLst/>
              <a:cxnLst/>
              <a:rect r="r" b="b" t="t" l="l"/>
              <a:pathLst>
                <a:path h="609600" w="20726400">
                  <a:moveTo>
                    <a:pt x="0" y="0"/>
                  </a:moveTo>
                  <a:lnTo>
                    <a:pt x="20726400" y="0"/>
                  </a:lnTo>
                  <a:lnTo>
                    <a:pt x="20726400" y="609600"/>
                  </a:lnTo>
                  <a:lnTo>
                    <a:pt x="0" y="609600"/>
                  </a:lnTo>
                  <a:close/>
                </a:path>
              </a:pathLst>
            </a:custGeom>
            <a:blipFill>
              <a:blip r:embed="rId3">
                <a:alphaModFix amt="0"/>
              </a:blip>
              <a:stretch>
                <a:fillRect l="0" t="-612491" r="0" b="-612491"/>
              </a:stretch>
            </a:blipFill>
          </p:spPr>
        </p:sp>
        <p:sp>
          <p:nvSpPr>
            <p:cNvPr name="TextBox 55" id="55"/>
            <p:cNvSpPr txBox="true"/>
            <p:nvPr/>
          </p:nvSpPr>
          <p:spPr>
            <a:xfrm>
              <a:off x="0" y="-38100"/>
              <a:ext cx="20726400" cy="647700"/>
            </a:xfrm>
            <a:prstGeom prst="rect">
              <a:avLst/>
            </a:prstGeom>
          </p:spPr>
          <p:txBody>
            <a:bodyPr anchor="ctr" rtlCol="false" tIns="0" lIns="0" bIns="0" rIns="0"/>
            <a:lstStyle/>
            <a:p>
              <a:pPr algn="l">
                <a:lnSpc>
                  <a:spcPts val="2280"/>
                </a:lnSpc>
              </a:pPr>
              <a:r>
                <a:rPr lang="en-US" sz="1900">
                  <a:solidFill>
                    <a:srgbClr val="CADCFC"/>
                  </a:solidFill>
                  <a:latin typeface="Calibri (MS)"/>
                  <a:ea typeface="Calibri (MS)"/>
                  <a:cs typeface="Calibri (MS)"/>
                  <a:sym typeface="Calibri (MS)"/>
                </a:rPr>
                <a:t>ARCH-LM rejects homoscedasticity at p ≈ 0.000 for ARIMA and VECM residuals — volatility clustering is pervasive.</a:t>
              </a:r>
            </a:p>
          </p:txBody>
        </p:sp>
      </p:grpSp>
      <p:grpSp>
        <p:nvGrpSpPr>
          <p:cNvPr name="Group 56" id="56"/>
          <p:cNvGrpSpPr/>
          <p:nvPr/>
        </p:nvGrpSpPr>
        <p:grpSpPr>
          <a:xfrm rot="0">
            <a:off x="718823" y="8326631"/>
            <a:ext cx="976379" cy="976379"/>
            <a:chOff x="0" y="0"/>
            <a:chExt cx="1301839" cy="1301839"/>
          </a:xfrm>
        </p:grpSpPr>
        <p:sp>
          <p:nvSpPr>
            <p:cNvPr name="Freeform 57" id="57"/>
            <p:cNvSpPr/>
            <p:nvPr/>
          </p:nvSpPr>
          <p:spPr>
            <a:xfrm flipH="false" flipV="false" rot="0">
              <a:off x="16891" y="16891"/>
              <a:ext cx="1267968" cy="1267968"/>
            </a:xfrm>
            <a:custGeom>
              <a:avLst/>
              <a:gdLst/>
              <a:ahLst/>
              <a:cxnLst/>
              <a:rect r="r" b="b" t="t" l="l"/>
              <a:pathLst>
                <a:path h="1267968" w="1267968">
                  <a:moveTo>
                    <a:pt x="0" y="0"/>
                  </a:moveTo>
                  <a:lnTo>
                    <a:pt x="1267968" y="0"/>
                  </a:lnTo>
                  <a:lnTo>
                    <a:pt x="1267968" y="1267968"/>
                  </a:lnTo>
                  <a:lnTo>
                    <a:pt x="0" y="1267968"/>
                  </a:lnTo>
                  <a:close/>
                </a:path>
              </a:pathLst>
            </a:custGeom>
            <a:solidFill>
              <a:srgbClr val="10B981"/>
            </a:solidFill>
          </p:spPr>
        </p:sp>
        <p:sp>
          <p:nvSpPr>
            <p:cNvPr name="Freeform 58" id="58"/>
            <p:cNvSpPr/>
            <p:nvPr/>
          </p:nvSpPr>
          <p:spPr>
            <a:xfrm flipH="false" flipV="false" rot="0">
              <a:off x="0" y="0"/>
              <a:ext cx="1301750" cy="1301750"/>
            </a:xfrm>
            <a:custGeom>
              <a:avLst/>
              <a:gdLst/>
              <a:ahLst/>
              <a:cxnLst/>
              <a:rect r="r" b="b" t="t" l="l"/>
              <a:pathLst>
                <a:path h="1301750" w="1301750">
                  <a:moveTo>
                    <a:pt x="16891" y="0"/>
                  </a:moveTo>
                  <a:lnTo>
                    <a:pt x="1284859" y="0"/>
                  </a:lnTo>
                  <a:cubicBezTo>
                    <a:pt x="1294257" y="0"/>
                    <a:pt x="1301750" y="7620"/>
                    <a:pt x="1301750" y="16891"/>
                  </a:cubicBezTo>
                  <a:lnTo>
                    <a:pt x="1301750" y="1284859"/>
                  </a:lnTo>
                  <a:cubicBezTo>
                    <a:pt x="1301750" y="1294257"/>
                    <a:pt x="1294130" y="1301750"/>
                    <a:pt x="1284859" y="1301750"/>
                  </a:cubicBezTo>
                  <a:lnTo>
                    <a:pt x="16891" y="1301750"/>
                  </a:lnTo>
                  <a:cubicBezTo>
                    <a:pt x="7493" y="1301750"/>
                    <a:pt x="0" y="1294130"/>
                    <a:pt x="0" y="1284859"/>
                  </a:cubicBezTo>
                  <a:lnTo>
                    <a:pt x="0" y="16891"/>
                  </a:lnTo>
                  <a:cubicBezTo>
                    <a:pt x="0" y="7620"/>
                    <a:pt x="7620" y="0"/>
                    <a:pt x="16891" y="0"/>
                  </a:cubicBezTo>
                  <a:moveTo>
                    <a:pt x="16891" y="33909"/>
                  </a:moveTo>
                  <a:lnTo>
                    <a:pt x="16891" y="16891"/>
                  </a:lnTo>
                  <a:lnTo>
                    <a:pt x="33909" y="16891"/>
                  </a:lnTo>
                  <a:lnTo>
                    <a:pt x="33909" y="1284859"/>
                  </a:lnTo>
                  <a:lnTo>
                    <a:pt x="16891" y="1284859"/>
                  </a:lnTo>
                  <a:lnTo>
                    <a:pt x="16891" y="1267968"/>
                  </a:lnTo>
                  <a:lnTo>
                    <a:pt x="1284859" y="1267968"/>
                  </a:lnTo>
                  <a:lnTo>
                    <a:pt x="1284859" y="1284859"/>
                  </a:lnTo>
                  <a:lnTo>
                    <a:pt x="1267968" y="1284859"/>
                  </a:lnTo>
                  <a:lnTo>
                    <a:pt x="1267968" y="16891"/>
                  </a:lnTo>
                  <a:lnTo>
                    <a:pt x="1284859" y="16891"/>
                  </a:lnTo>
                  <a:lnTo>
                    <a:pt x="1284859" y="33909"/>
                  </a:lnTo>
                  <a:lnTo>
                    <a:pt x="16891" y="33909"/>
                  </a:lnTo>
                  <a:close/>
                </a:path>
              </a:pathLst>
            </a:custGeom>
            <a:solidFill>
              <a:srgbClr val="10B981"/>
            </a:solidFill>
          </p:spPr>
        </p:sp>
      </p:grpSp>
      <p:grpSp>
        <p:nvGrpSpPr>
          <p:cNvPr name="Group 59" id="59"/>
          <p:cNvGrpSpPr/>
          <p:nvPr/>
        </p:nvGrpSpPr>
        <p:grpSpPr>
          <a:xfrm rot="0">
            <a:off x="731520" y="8339328"/>
            <a:ext cx="950976" cy="950976"/>
            <a:chOff x="0" y="0"/>
            <a:chExt cx="1267968" cy="1267968"/>
          </a:xfrm>
        </p:grpSpPr>
        <p:sp>
          <p:nvSpPr>
            <p:cNvPr name="Freeform 60" id="60"/>
            <p:cNvSpPr/>
            <p:nvPr/>
          </p:nvSpPr>
          <p:spPr>
            <a:xfrm flipH="false" flipV="false" rot="0">
              <a:off x="0" y="0"/>
              <a:ext cx="1267968" cy="1267968"/>
            </a:xfrm>
            <a:custGeom>
              <a:avLst/>
              <a:gdLst/>
              <a:ahLst/>
              <a:cxnLst/>
              <a:rect r="r" b="b" t="t" l="l"/>
              <a:pathLst>
                <a:path h="1267968" w="1267968">
                  <a:moveTo>
                    <a:pt x="0" y="0"/>
                  </a:moveTo>
                  <a:lnTo>
                    <a:pt x="1267968" y="0"/>
                  </a:lnTo>
                  <a:lnTo>
                    <a:pt x="1267968" y="1267968"/>
                  </a:lnTo>
                  <a:lnTo>
                    <a:pt x="0" y="1267968"/>
                  </a:lnTo>
                  <a:close/>
                </a:path>
              </a:pathLst>
            </a:custGeom>
            <a:blipFill>
              <a:blip r:embed="rId3">
                <a:alphaModFix amt="0"/>
              </a:blip>
              <a:stretch>
                <a:fillRect l="-78303" t="0" r="-78303" b="0"/>
              </a:stretch>
            </a:blipFill>
          </p:spPr>
        </p:sp>
        <p:sp>
          <p:nvSpPr>
            <p:cNvPr name="TextBox 61" id="61"/>
            <p:cNvSpPr txBox="true"/>
            <p:nvPr/>
          </p:nvSpPr>
          <p:spPr>
            <a:xfrm>
              <a:off x="0" y="-66675"/>
              <a:ext cx="1267968" cy="1334643"/>
            </a:xfrm>
            <a:prstGeom prst="rect">
              <a:avLst/>
            </a:prstGeom>
          </p:spPr>
          <p:txBody>
            <a:bodyPr anchor="ctr" rtlCol="false" tIns="0" lIns="0" bIns="0" rIns="0"/>
            <a:lstStyle/>
            <a:p>
              <a:pPr algn="ctr">
                <a:lnSpc>
                  <a:spcPts val="3600"/>
                </a:lnSpc>
              </a:pPr>
              <a:r>
                <a:rPr lang="en-US" sz="3000" b="true">
                  <a:solidFill>
                    <a:srgbClr val="141C47"/>
                  </a:solidFill>
                  <a:latin typeface="Calibri (MS) Bold"/>
                  <a:ea typeface="Calibri (MS) Bold"/>
                  <a:cs typeface="Calibri (MS) Bold"/>
                  <a:sym typeface="Calibri (MS) Bold"/>
                </a:rPr>
                <a:t>05</a:t>
              </a:r>
            </a:p>
          </p:txBody>
        </p:sp>
      </p:grpSp>
      <p:grpSp>
        <p:nvGrpSpPr>
          <p:cNvPr name="Group 62" id="62"/>
          <p:cNvGrpSpPr/>
          <p:nvPr/>
        </p:nvGrpSpPr>
        <p:grpSpPr>
          <a:xfrm rot="0">
            <a:off x="1920240" y="8375904"/>
            <a:ext cx="15544800" cy="512064"/>
            <a:chOff x="0" y="0"/>
            <a:chExt cx="20726400" cy="682752"/>
          </a:xfrm>
        </p:grpSpPr>
        <p:sp>
          <p:nvSpPr>
            <p:cNvPr name="Freeform 63" id="63"/>
            <p:cNvSpPr/>
            <p:nvPr/>
          </p:nvSpPr>
          <p:spPr>
            <a:xfrm flipH="false" flipV="false" rot="0">
              <a:off x="0" y="0"/>
              <a:ext cx="20726400" cy="682752"/>
            </a:xfrm>
            <a:custGeom>
              <a:avLst/>
              <a:gdLst/>
              <a:ahLst/>
              <a:cxnLst/>
              <a:rect r="r" b="b" t="t" l="l"/>
              <a:pathLst>
                <a:path h="682752" w="20726400">
                  <a:moveTo>
                    <a:pt x="0" y="0"/>
                  </a:moveTo>
                  <a:lnTo>
                    <a:pt x="20726400" y="0"/>
                  </a:lnTo>
                  <a:lnTo>
                    <a:pt x="20726400" y="682752"/>
                  </a:lnTo>
                  <a:lnTo>
                    <a:pt x="0" y="682752"/>
                  </a:lnTo>
                  <a:close/>
                </a:path>
              </a:pathLst>
            </a:custGeom>
            <a:blipFill>
              <a:blip r:embed="rId3">
                <a:alphaModFix amt="0"/>
              </a:blip>
              <a:stretch>
                <a:fillRect l="0" t="-541510" r="0" b="-541510"/>
              </a:stretch>
            </a:blipFill>
          </p:spPr>
        </p:sp>
        <p:sp>
          <p:nvSpPr>
            <p:cNvPr name="TextBox 64" id="64"/>
            <p:cNvSpPr txBox="true"/>
            <p:nvPr/>
          </p:nvSpPr>
          <p:spPr>
            <a:xfrm>
              <a:off x="0" y="-38100"/>
              <a:ext cx="20726400" cy="720852"/>
            </a:xfrm>
            <a:prstGeom prst="rect">
              <a:avLst/>
            </a:prstGeom>
          </p:spPr>
          <p:txBody>
            <a:bodyPr anchor="ctr" rtlCol="false" tIns="0" lIns="0" bIns="0" rIns="0"/>
            <a:lstStyle/>
            <a:p>
              <a:pPr algn="l">
                <a:lnSpc>
                  <a:spcPts val="2879"/>
                </a:lnSpc>
              </a:pPr>
              <a:r>
                <a:rPr lang="en-US" sz="2400" b="true">
                  <a:solidFill>
                    <a:srgbClr val="FFFFFF"/>
                  </a:solidFill>
                  <a:latin typeface="Calibri (MS) Bold"/>
                  <a:ea typeface="Calibri (MS) Bold"/>
                  <a:cs typeface="Calibri (MS) Bold"/>
                  <a:sym typeface="Calibri (MS) Bold"/>
                </a:rPr>
                <a:t>GARCH(1,1)-t is the best volatility model</a:t>
              </a:r>
            </a:p>
          </p:txBody>
        </p:sp>
      </p:grpSp>
      <p:grpSp>
        <p:nvGrpSpPr>
          <p:cNvPr name="Group 65" id="65"/>
          <p:cNvGrpSpPr/>
          <p:nvPr/>
        </p:nvGrpSpPr>
        <p:grpSpPr>
          <a:xfrm rot="0">
            <a:off x="1920240" y="8887968"/>
            <a:ext cx="15544800" cy="457200"/>
            <a:chOff x="0" y="0"/>
            <a:chExt cx="20726400" cy="609600"/>
          </a:xfrm>
        </p:grpSpPr>
        <p:sp>
          <p:nvSpPr>
            <p:cNvPr name="Freeform 66" id="66"/>
            <p:cNvSpPr/>
            <p:nvPr/>
          </p:nvSpPr>
          <p:spPr>
            <a:xfrm flipH="false" flipV="false" rot="0">
              <a:off x="0" y="0"/>
              <a:ext cx="20726400" cy="609600"/>
            </a:xfrm>
            <a:custGeom>
              <a:avLst/>
              <a:gdLst/>
              <a:ahLst/>
              <a:cxnLst/>
              <a:rect r="r" b="b" t="t" l="l"/>
              <a:pathLst>
                <a:path h="609600" w="20726400">
                  <a:moveTo>
                    <a:pt x="0" y="0"/>
                  </a:moveTo>
                  <a:lnTo>
                    <a:pt x="20726400" y="0"/>
                  </a:lnTo>
                  <a:lnTo>
                    <a:pt x="20726400" y="609600"/>
                  </a:lnTo>
                  <a:lnTo>
                    <a:pt x="0" y="609600"/>
                  </a:lnTo>
                  <a:close/>
                </a:path>
              </a:pathLst>
            </a:custGeom>
            <a:blipFill>
              <a:blip r:embed="rId3">
                <a:alphaModFix amt="0"/>
              </a:blip>
              <a:stretch>
                <a:fillRect l="0" t="-612491" r="0" b="-612491"/>
              </a:stretch>
            </a:blipFill>
          </p:spPr>
        </p:sp>
        <p:sp>
          <p:nvSpPr>
            <p:cNvPr name="TextBox 67" id="67"/>
            <p:cNvSpPr txBox="true"/>
            <p:nvPr/>
          </p:nvSpPr>
          <p:spPr>
            <a:xfrm>
              <a:off x="0" y="-38100"/>
              <a:ext cx="20726400" cy="647700"/>
            </a:xfrm>
            <a:prstGeom prst="rect">
              <a:avLst/>
            </a:prstGeom>
          </p:spPr>
          <p:txBody>
            <a:bodyPr anchor="ctr" rtlCol="false" tIns="0" lIns="0" bIns="0" rIns="0"/>
            <a:lstStyle/>
            <a:p>
              <a:pPr algn="l">
                <a:lnSpc>
                  <a:spcPts val="2280"/>
                </a:lnSpc>
              </a:pPr>
              <a:r>
                <a:rPr lang="en-US" sz="1900">
                  <a:solidFill>
                    <a:srgbClr val="CADCFC"/>
                  </a:solidFill>
                  <a:latin typeface="Calibri (MS)"/>
                  <a:ea typeface="Calibri (MS)"/>
                  <a:cs typeface="Calibri (MS)"/>
                  <a:sym typeface="Calibri (MS)"/>
                </a:rPr>
                <a:t>390-point AIC advantage over Normal GARCH. ν = 5.07 confirms fat tails. Persistence α+β = 1.00 indicates near-IGARCH behaviour.</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DAHIrnCSP2g</dc:identifier>
  <dcterms:modified xsi:type="dcterms:W3CDTF">2011-08-01T06:04:30Z</dcterms:modified>
  <cp:revision>1</cp:revision>
  <dc:title>DA4421_Presentation.pptx</dc:title>
</cp:coreProperties>
</file>